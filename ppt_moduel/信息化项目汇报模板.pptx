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257" r:id="rId3"/>
    <p:sldId id="258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6" r:id="rId20"/>
    <p:sldId id="297" r:id="rId21"/>
    <p:sldId id="273" r:id="rId2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2" userDrawn="1">
          <p15:clr>
            <a:srgbClr val="A4A3A4"/>
          </p15:clr>
        </p15:guide>
        <p15:guide id="2" pos="378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聪" initials="cc" lastIdx="1" clrIdx="0"/>
  <p:cmAuthor id="2" name="李华山" initials="lihs" lastIdx="1" clrIdx="0"/>
  <p:cmAuthor id="3" name="作者" initials="A" lastIdx="0" clrIdx="1"/>
  <p:cmAuthor id="4" name="成平 曾" initials="成平" lastIdx="4" clrIdx="2"/>
  <p:cmAuthor id="5" name="Thomas Zeng" initials="TZ" lastIdx="1" clrIdx="3"/>
  <p:cmAuthor id="6" name="kun yang" initials="" lastIdx="19" clrIdx="4"/>
  <p:cmAuthor id="7" name="ming qiu" initials="m" lastIdx="17" clrIdx="1"/>
  <p:cmAuthor id="8" name="1206988966@qq.com" initials="1" lastIdx="1" clrIdx="2"/>
  <p:cmAuthor id="9" name="姜伟光" initials="姜" lastIdx="1" clrIdx="0"/>
  <p:cmAuthor id="10" name="fun4ken" initials="f" lastIdx="0" clrIdx="1"/>
  <p:cmAuthor id="11" name="hanqingchun" initials="h" lastIdx="1" clrIdx="4"/>
  <p:cmAuthor id="12" name="Ge" initials="G" lastIdx="5" clrIdx="9"/>
  <p:cmAuthor id="13" name="yxw" initials="y" lastIdx="1" clrIdx="10"/>
  <p:cmAuthor id="14" name="cec-zhengsp" initials="c" lastIdx="1" clrIdx="11"/>
  <p:cmAuthor id="15" name="wangwei" initials="w" lastIdx="2" clrIdx="0"/>
  <p:cmAuthor id="16" name="greatwall" initials="g" lastIdx="1" clrIdx="12"/>
  <p:cmAuthor id="17" name="马云飞10014438" initials="马" lastIdx="4" clrIdx="0"/>
  <p:cmAuthor id="18" name="John" initials="J" lastIdx="36" clrIdx="13"/>
  <p:cmAuthor id="19" name="00035181" initials="0" lastIdx="1" clrIdx="16"/>
  <p:cmAuthor id="20" name="张燕" initials="张" lastIdx="1" clrIdx="17"/>
  <p:cmAuthor id="21" name="Saku Uchikawa" initials="S" lastIdx="11" clrIdx="0"/>
  <p:cmAuthor id="22" name="ThinkPad" initials="T" lastIdx="2" clrIdx="22"/>
  <p:cmAuthor id="23" name="李璇" initials="李" lastIdx="1" clrIdx="24"/>
  <p:cmAuthor id="24" name="Nar.soul" initials="N" lastIdx="4" clrIdx="0"/>
  <p:cmAuthor id="25" name="粤" initials="粤" lastIdx="1" clrIdx="2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020"/>
    <a:srgbClr val="E60013"/>
    <a:srgbClr val="F4AD7D"/>
    <a:srgbClr val="E2772E"/>
    <a:srgbClr val="EF8A45"/>
    <a:srgbClr val="F6BE98"/>
    <a:srgbClr val="CC0000"/>
    <a:srgbClr val="E50011"/>
    <a:srgbClr val="F7CFCF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 autoAdjust="0"/>
    <p:restoredTop sz="93345" autoAdjust="0"/>
  </p:normalViewPr>
  <p:slideViewPr>
    <p:cSldViewPr snapToGrid="0" showGuides="1">
      <p:cViewPr varScale="1">
        <p:scale>
          <a:sx n="69" d="100"/>
          <a:sy n="69" d="100"/>
        </p:scale>
        <p:origin x="840" y="96"/>
      </p:cViewPr>
      <p:guideLst>
        <p:guide orient="horz" pos="2242"/>
        <p:guide pos="37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系统数量</c:f>
              <c:strCache>
                <c:ptCount val="1"/>
                <c:pt idx="0">
                  <c:v>系统数量</c:v>
                </c:pt>
              </c:strCache>
            </c:strRef>
          </c:tx>
          <c:spPr>
            <a:solidFill>
              <a:srgbClr val="1783FF"/>
            </a:solidFill>
          </c:spPr>
          <c:explosion val="0"/>
          <c:dPt>
            <c:idx val="0"/>
            <c:bubble3D val="0"/>
            <c:spPr>
              <a:solidFill>
                <a:srgbClr val="E7211A"/>
              </a:solidFill>
              <a:ln>
                <a:noFill/>
              </a:ln>
            </c:spPr>
          </c:dPt>
          <c:dPt>
            <c:idx val="1"/>
            <c:bubble3D val="0"/>
            <c:spPr>
              <a:solidFill>
                <a:srgbClr val="F83529"/>
              </a:solidFill>
              <a:ln>
                <a:noFill/>
              </a:ln>
            </c:spPr>
          </c:dPt>
          <c:dPt>
            <c:idx val="2"/>
            <c:bubble3D val="0"/>
            <c:spPr>
              <a:solidFill>
                <a:srgbClr val="C3050F"/>
              </a:solidFill>
              <a:ln>
                <a:noFill/>
              </a:ln>
            </c:spPr>
          </c:dPt>
          <c:dPt>
            <c:idx val="3"/>
            <c:bubble3D val="0"/>
            <c:spPr>
              <a:solidFill>
                <a:srgbClr val="C9A869"/>
              </a:solidFill>
              <a:ln>
                <a:noFill/>
              </a:ln>
            </c:spPr>
          </c:dPt>
          <c:dPt>
            <c:idx val="4"/>
            <c:bubble3D val="0"/>
            <c:spPr>
              <a:solidFill>
                <a:srgbClr val="8C98A8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 noProof="1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{"Oracle","SQL Server","达梦","MySQL","物理隔离"}</c:f>
              <c:strCache>
                <c:ptCount val="5"/>
                <c:pt idx="0">
                  <c:v>Oracle</c:v>
                </c:pt>
                <c:pt idx="1">
                  <c:v>SQL Server</c:v>
                </c:pt>
                <c:pt idx="2">
                  <c:v>达梦</c:v>
                </c:pt>
                <c:pt idx="3">
                  <c:v>MySQL</c:v>
                </c:pt>
                <c:pt idx="4">
                  <c:v>物理隔离</c:v>
                </c:pt>
              </c:strCache>
            </c:strRef>
          </c:cat>
          <c:val>
            <c:numRef>
              <c:f>{2,1,2,1,1}</c:f>
              <c:numCache>
                <c:formatCode>General</c:formatCode>
                <c:ptCount val="5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  <c:holeSize val="55"/>
      </c:doughnutChart>
      <c:spPr>
        <a:noFill/>
        <a:ln>
          <a:noFill/>
        </a:ln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 noProof="1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a447dd6-8630-4e3a-9678-06400582abad}"/>
      </c:ext>
    </c:extLst>
  </c:chart>
  <c:spPr>
    <a:noFill/>
    <a:ln>
      <a:noFill/>
    </a:ln>
  </c:spPr>
  <c:txPr>
    <a:bodyPr/>
    <a:lstStyle/>
    <a:p>
      <a:pPr>
        <a:defRPr lang="zh-CN" b="0" i="0" u="none" strike="noStrike" noProof="1">
          <a:latin typeface="微软雅黑" panose="020B0503020204020204" charset="-122"/>
        </a:defRPr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1048701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02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1048703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95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96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697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98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99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04858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0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1048603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以上，就是我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2025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年度的述职汇报，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谢谢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！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图片 4" descr="PPT内页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270" y="6985"/>
            <a:ext cx="12192000" cy="6856730"/>
          </a:xfrm>
          <a:prstGeom prst="rect">
            <a:avLst/>
          </a:prstGeom>
        </p:spPr>
      </p:pic>
      <p:sp>
        <p:nvSpPr>
          <p:cNvPr id="1048579" name="矩形 8"/>
          <p:cNvSpPr/>
          <p:nvPr userDrawn="1"/>
        </p:nvSpPr>
        <p:spPr>
          <a:xfrm>
            <a:off x="-3175" y="632460"/>
            <a:ext cx="403225" cy="276225"/>
          </a:xfrm>
          <a:prstGeom prst="rect">
            <a:avLst/>
          </a:prstGeom>
          <a:solidFill>
            <a:srgbClr val="E5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8580" name="文本框 9"/>
          <p:cNvSpPr txBox="1"/>
          <p:nvPr userDrawn="1"/>
        </p:nvSpPr>
        <p:spPr>
          <a:xfrm>
            <a:off x="9544607" y="6537348"/>
            <a:ext cx="2570480" cy="2311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  <a:latin typeface="思源黑体 CN ExtraLight" panose="020B0500000000000000" pitchFamily="34" charset="-122"/>
                <a:ea typeface="思源黑体 CN ExtraLight" panose="020B0500000000000000" pitchFamily="34" charset="-122"/>
              </a:rPr>
              <a:t>©</a:t>
            </a:r>
            <a:r>
              <a:rPr lang="zh-CN" altLang="en-US" sz="1000" dirty="0">
                <a:solidFill>
                  <a:schemeClr val="bg1"/>
                </a:solidFill>
                <a:latin typeface="思源黑体 CN ExtraLight" panose="020B0500000000000000" pitchFamily="34" charset="-122"/>
                <a:ea typeface="思源黑体 CN ExtraLight" panose="020B0500000000000000" pitchFamily="34" charset="-122"/>
              </a:rPr>
              <a:t>中国长城科技集团股份有限公司版权所有</a:t>
            </a:r>
            <a:endParaRPr lang="zh-CN" altLang="en-US" sz="1000" dirty="0">
              <a:solidFill>
                <a:schemeClr val="bg1"/>
              </a:solidFill>
              <a:latin typeface="思源黑体 CN ExtraLight" panose="020B0500000000000000" pitchFamily="34" charset="-122"/>
              <a:ea typeface="思源黑体 CN ExtraLight" panose="020B0500000000000000" pitchFamily="34" charset="-122"/>
            </a:endParaRPr>
          </a:p>
        </p:txBody>
      </p:sp>
      <p:pic>
        <p:nvPicPr>
          <p:cNvPr id="2097154" name="图片 3" descr="联合标识（银色）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625965" y="-284480"/>
            <a:ext cx="2668270" cy="16471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4869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9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4" name="图片 6" descr="背景图案  描述已自动生成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97195" name="图片 2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359154" y="174914"/>
            <a:ext cx="2190252" cy="115186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4857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7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2097152" name="图片 6" descr="联合标识（银色）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625965" y="-284480"/>
            <a:ext cx="2668270" cy="16471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2.png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chart" Target="../charts/chart1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图片 4" descr="背景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5715"/>
            <a:ext cx="12199620" cy="6856730"/>
          </a:xfrm>
          <a:prstGeom prst="rect">
            <a:avLst/>
          </a:prstGeom>
        </p:spPr>
      </p:pic>
      <p:pic>
        <p:nvPicPr>
          <p:cNvPr id="2097156" name="图片 1" descr="联合标识（反白）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72040" y="5715"/>
            <a:ext cx="1941830" cy="1021715"/>
          </a:xfrm>
          <a:prstGeom prst="rect">
            <a:avLst/>
          </a:prstGeom>
        </p:spPr>
      </p:pic>
      <p:sp>
        <p:nvSpPr>
          <p:cNvPr id="1048581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0" y="5714"/>
            <a:ext cx="12199619" cy="685228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等线 Light" panose="02010600030101010101" charset="-122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defRPr>
            </a:lvl9pPr>
          </a:lstStyle>
          <a:p>
            <a:pPr algn="ctr">
              <a:lnSpc>
                <a:spcPct val="120000"/>
              </a:lnSpc>
            </a:pPr>
            <a:r>
              <a:rPr kumimoji="1" lang="zh-CN" altLang="en-US" sz="6600" b="1" i="0" u="none" strike="noStrike" kern="0" cap="none" spc="40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  <a:sym typeface="+mn-ea"/>
              </a:rPr>
              <a:t>关于</a:t>
            </a:r>
            <a:r>
              <a:rPr kumimoji="1" lang="en-US" altLang="zh-CN" sz="6600" b="1" i="0" u="none" strike="noStrike" kern="0" cap="none" spc="40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  <a:sym typeface="+mn-ea"/>
              </a:rPr>
              <a:t>AI</a:t>
            </a:r>
            <a:r>
              <a:rPr kumimoji="1" lang="zh-CN" altLang="en-US" sz="6600" b="1" i="0" u="none" strike="noStrike" kern="0" cap="none" spc="40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  <a:sym typeface="+mn-ea"/>
              </a:rPr>
              <a:t>服务器的申购汇报</a:t>
            </a:r>
            <a:endParaRPr kumimoji="1" lang="zh-CN" altLang="en-US" sz="6600" b="1" i="0" u="none" strike="noStrike" kern="0" cap="none" spc="40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  <a:sym typeface="+mn-ea"/>
            </a:endParaRPr>
          </a:p>
          <a:p>
            <a:pPr algn="ctr">
              <a:lnSpc>
                <a:spcPct val="120000"/>
              </a:lnSpc>
            </a:pPr>
            <a:endParaRPr kumimoji="1" lang="en-US" altLang="zh-CN" sz="6600" b="1" i="0" u="none" strike="noStrike" kern="0" cap="none" spc="40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  <a:sym typeface="+mn-ea"/>
            </a:endParaRPr>
          </a:p>
          <a:p>
            <a:pPr algn="ctr">
              <a:lnSpc>
                <a:spcPct val="120000"/>
              </a:lnSpc>
            </a:pPr>
            <a:endParaRPr kumimoji="1" lang="en-US" altLang="zh-CN" sz="6600" b="1" i="0" u="none" strike="noStrike" kern="0" cap="none" spc="40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3100000"/>
            <a:ext cx="12192000" cy="4603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2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项目组软件</a:t>
            </a:r>
            <a:r>
              <a:rPr lang="zh-CN" sz="2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endParaRPr lang="zh-CN" sz="2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" y="4079325"/>
            <a:ext cx="12192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2026.7</a:t>
            </a:r>
            <a:endParaRPr sz="2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图片 5" descr="23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1270"/>
            <a:ext cx="12204700" cy="6856730"/>
          </a:xfrm>
          <a:prstGeom prst="rect">
            <a:avLst/>
          </a:prstGeom>
        </p:spPr>
      </p:pic>
      <p:sp>
        <p:nvSpPr>
          <p:cNvPr id="1048585" name="文本框 8"/>
          <p:cNvSpPr txBox="1"/>
          <p:nvPr/>
        </p:nvSpPr>
        <p:spPr>
          <a:xfrm>
            <a:off x="5441632" y="1119823"/>
            <a:ext cx="156400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rgbClr val="E50011"/>
                </a:solidFill>
                <a:latin typeface="思源黑体" panose="020B0600000000000000" charset="-122"/>
                <a:ea typeface="思源黑体" panose="020B0600000000000000" charset="-122"/>
              </a:rPr>
              <a:t>目</a:t>
            </a:r>
            <a:r>
              <a:rPr lang="en-US" altLang="zh-CN" sz="4000" b="1" dirty="0">
                <a:solidFill>
                  <a:srgbClr val="E50011"/>
                </a:solidFill>
                <a:latin typeface="思源黑体" panose="020B0600000000000000" charset="-122"/>
                <a:ea typeface="思源黑体" panose="020B0600000000000000" charset="-122"/>
              </a:rPr>
              <a:t> </a:t>
            </a:r>
            <a:r>
              <a:rPr lang="zh-CN" altLang="en-US" sz="4000" b="1" dirty="0">
                <a:solidFill>
                  <a:srgbClr val="E50011"/>
                </a:solidFill>
                <a:latin typeface="思源黑体" panose="020B0600000000000000" charset="-122"/>
                <a:ea typeface="思源黑体" panose="020B0600000000000000" charset="-122"/>
              </a:rPr>
              <a:t>录</a:t>
            </a:r>
            <a:endParaRPr lang="zh-CN" altLang="en-US" sz="4000" b="1" dirty="0">
              <a:solidFill>
                <a:srgbClr val="E50011"/>
              </a:solidFill>
              <a:latin typeface="Arial Bold" panose="020B0604020202020204" charset="0"/>
              <a:ea typeface="思源黑体" panose="020B0600000000000000" charset="-122"/>
              <a:cs typeface="Arial Bold" panose="020B0604020202020204" charset="0"/>
            </a:endParaRPr>
          </a:p>
        </p:txBody>
      </p:sp>
      <p:pic>
        <p:nvPicPr>
          <p:cNvPr id="2097158" name="图片 3" descr="联合标识（银色）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625965" y="-284480"/>
            <a:ext cx="2668270" cy="1647190"/>
          </a:xfrm>
          <a:prstGeom prst="rect">
            <a:avLst/>
          </a:prstGeom>
        </p:spPr>
      </p:pic>
      <p:sp>
        <p:nvSpPr>
          <p:cNvPr id="1048586" name="圆角矩形 42"/>
          <p:cNvSpPr/>
          <p:nvPr>
            <p:custDataLst>
              <p:tags r:id="rId3"/>
            </p:custDataLst>
          </p:nvPr>
        </p:nvSpPr>
        <p:spPr>
          <a:xfrm>
            <a:off x="3656330" y="2041530"/>
            <a:ext cx="784225" cy="429260"/>
          </a:xfrm>
          <a:prstGeom prst="roundRect">
            <a:avLst>
              <a:gd name="adj" fmla="val 0"/>
            </a:avLst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01</a:t>
            </a:r>
            <a:endParaRPr lang="en-US" altLang="zh-CN" sz="26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048587" name="圆角矩形 43"/>
          <p:cNvSpPr/>
          <p:nvPr>
            <p:custDataLst>
              <p:tags r:id="rId4"/>
            </p:custDataLst>
          </p:nvPr>
        </p:nvSpPr>
        <p:spPr>
          <a:xfrm>
            <a:off x="4467860" y="2044070"/>
            <a:ext cx="4135120" cy="42862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588" name="文本框 44"/>
          <p:cNvSpPr txBox="1"/>
          <p:nvPr>
            <p:custDataLst>
              <p:tags r:id="rId5"/>
            </p:custDataLst>
          </p:nvPr>
        </p:nvSpPr>
        <p:spPr>
          <a:xfrm>
            <a:off x="4491355" y="2082805"/>
            <a:ext cx="1325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必要性分析</a:t>
            </a:r>
            <a:endParaRPr lang="zh-CN" altLang="en-US" b="1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6"/>
            </p:custDataLst>
          </p:nvPr>
        </p:nvGrpSpPr>
        <p:grpSpPr>
          <a:xfrm>
            <a:off x="3656330" y="2600960"/>
            <a:ext cx="4946650" cy="431165"/>
            <a:chOff x="5758" y="4096"/>
            <a:chExt cx="7790" cy="679"/>
          </a:xfrm>
        </p:grpSpPr>
        <p:sp>
          <p:nvSpPr>
            <p:cNvPr id="1048589" name="圆角矩形 58"/>
            <p:cNvSpPr/>
            <p:nvPr>
              <p:custDataLst>
                <p:tags r:id="rId7"/>
              </p:custDataLst>
            </p:nvPr>
          </p:nvSpPr>
          <p:spPr>
            <a:xfrm>
              <a:off x="5758" y="4096"/>
              <a:ext cx="1235" cy="676"/>
            </a:xfrm>
            <a:prstGeom prst="roundRect">
              <a:avLst>
                <a:gd name="adj" fmla="val 0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02</a:t>
              </a:r>
              <a:endParaRPr lang="en-US" altLang="zh-CN" sz="2600">
                <a:latin typeface="Arial" panose="020B0604020202020204" pitchFamily="34" charset="0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048590" name="圆角矩形 59"/>
            <p:cNvSpPr/>
            <p:nvPr>
              <p:custDataLst>
                <p:tags r:id="rId8"/>
              </p:custDataLst>
            </p:nvPr>
          </p:nvSpPr>
          <p:spPr>
            <a:xfrm>
              <a:off x="7036" y="4100"/>
              <a:ext cx="6512" cy="67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591" name="文本框 60"/>
            <p:cNvSpPr txBox="1"/>
            <p:nvPr>
              <p:custDataLst>
                <p:tags r:id="rId9"/>
              </p:custDataLst>
            </p:nvPr>
          </p:nvSpPr>
          <p:spPr>
            <a:xfrm>
              <a:off x="7137" y="4144"/>
              <a:ext cx="1728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b="1" dirty="0" smtClean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技术</a:t>
              </a:r>
              <a:r>
                <a:rPr lang="zh-CN" altLang="en-US" b="1" dirty="0" smtClean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要求</a:t>
              </a:r>
              <a:endParaRPr lang="zh-CN" altLang="en-US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1048595" name="圆角矩形 13"/>
          <p:cNvSpPr/>
          <p:nvPr>
            <p:custDataLst>
              <p:tags r:id="rId10"/>
            </p:custDataLst>
          </p:nvPr>
        </p:nvSpPr>
        <p:spPr>
          <a:xfrm>
            <a:off x="3656330" y="3160396"/>
            <a:ext cx="784225" cy="429260"/>
          </a:xfrm>
          <a:prstGeom prst="roundRect">
            <a:avLst>
              <a:gd name="adj" fmla="val 0"/>
            </a:avLst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60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03</a:t>
            </a:r>
            <a:endParaRPr lang="en-US" altLang="zh-CN" sz="26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048596" name="圆角矩形 14"/>
          <p:cNvSpPr/>
          <p:nvPr>
            <p:custDataLst>
              <p:tags r:id="rId11"/>
            </p:custDataLst>
          </p:nvPr>
        </p:nvSpPr>
        <p:spPr>
          <a:xfrm>
            <a:off x="4467860" y="3162940"/>
            <a:ext cx="4135120" cy="42862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597" name="文本框 15"/>
          <p:cNvSpPr txBox="1"/>
          <p:nvPr>
            <p:custDataLst>
              <p:tags r:id="rId12"/>
            </p:custDataLst>
          </p:nvPr>
        </p:nvSpPr>
        <p:spPr>
          <a:xfrm>
            <a:off x="4531995" y="3176506"/>
            <a:ext cx="34163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价格</a:t>
            </a: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评估</a:t>
            </a:r>
            <a:endParaRPr lang="zh-CN" altLang="en-US" b="1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5" name="组合 4"/>
          <p:cNvGrpSpPr/>
          <p:nvPr>
            <p:custDataLst>
              <p:tags r:id="rId13"/>
            </p:custDataLst>
          </p:nvPr>
        </p:nvGrpSpPr>
        <p:grpSpPr>
          <a:xfrm>
            <a:off x="3656330" y="3719830"/>
            <a:ext cx="4946650" cy="431165"/>
            <a:chOff x="5758" y="5858"/>
            <a:chExt cx="7790" cy="679"/>
          </a:xfrm>
        </p:grpSpPr>
        <p:sp>
          <p:nvSpPr>
            <p:cNvPr id="2" name="圆角矩形 58"/>
            <p:cNvSpPr/>
            <p:nvPr>
              <p:custDataLst>
                <p:tags r:id="rId14"/>
              </p:custDataLst>
            </p:nvPr>
          </p:nvSpPr>
          <p:spPr>
            <a:xfrm>
              <a:off x="5758" y="5858"/>
              <a:ext cx="1235" cy="676"/>
            </a:xfrm>
            <a:prstGeom prst="roundRect">
              <a:avLst>
                <a:gd name="adj" fmla="val 0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04</a:t>
              </a:r>
              <a:endParaRPr lang="en-US" altLang="zh-CN" sz="2600">
                <a:latin typeface="Arial" panose="020B0604020202020204" pitchFamily="34" charset="0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3" name="圆角矩形 59"/>
            <p:cNvSpPr/>
            <p:nvPr>
              <p:custDataLst>
                <p:tags r:id="rId15"/>
              </p:custDataLst>
            </p:nvPr>
          </p:nvSpPr>
          <p:spPr>
            <a:xfrm>
              <a:off x="7036" y="5862"/>
              <a:ext cx="6512" cy="67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60"/>
            <p:cNvSpPr txBox="1"/>
            <p:nvPr>
              <p:custDataLst>
                <p:tags r:id="rId16"/>
              </p:custDataLst>
            </p:nvPr>
          </p:nvSpPr>
          <p:spPr>
            <a:xfrm>
              <a:off x="7137" y="5906"/>
              <a:ext cx="1728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b="1" dirty="0" smtClean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决策</a:t>
              </a:r>
              <a:r>
                <a:rPr lang="zh-CN" altLang="en-US" b="1" dirty="0" smtClean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事项</a:t>
              </a:r>
              <a:endParaRPr lang="zh-CN" altLang="en-US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1270" y="7620"/>
            <a:ext cx="12192000" cy="685673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9626600" y="-284480"/>
            <a:ext cx="2668270" cy="1647190"/>
          </a:xfrm>
          <a:prstGeom prst="rect">
            <a:avLst/>
          </a:prstGeom>
          <a:ln>
            <a:noFill/>
          </a:ln>
        </p:spPr>
      </p:pic>
      <p:sp>
        <p:nvSpPr>
          <p:cNvPr id="4" name="red-block"/>
          <p:cNvSpPr/>
          <p:nvPr/>
        </p:nvSpPr>
        <p:spPr>
          <a:xfrm>
            <a:off x="-3810" y="632460"/>
            <a:ext cx="403860" cy="276860"/>
          </a:xfrm>
          <a:prstGeom prst="rect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6" name="page-title"/>
          <p:cNvSpPr txBox="1"/>
          <p:nvPr/>
        </p:nvSpPr>
        <p:spPr>
          <a:xfrm>
            <a:off x="821690" y="285750"/>
            <a:ext cx="7874000" cy="461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E50011"/>
                </a:solidFill>
                <a:latin typeface="Noto Sans SC" panose="020B0200000000000000" charset="-122"/>
                <a:ea typeface="Noto Sans SC" panose="020B0200000000000000" charset="-122"/>
              </a:rPr>
              <a:t>方向一：公司内部全面AI化建设</a:t>
            </a:r>
            <a:endParaRPr lang="en-US" sz="3000" noProof="1"/>
          </a:p>
        </p:txBody>
      </p:sp>
      <p:sp>
        <p:nvSpPr>
          <p:cNvPr id="7" name="lead"/>
          <p:cNvSpPr txBox="1"/>
          <p:nvPr/>
        </p:nvSpPr>
        <p:spPr>
          <a:xfrm>
            <a:off x="821690" y="1041400"/>
            <a:ext cx="10795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目标：以AI大模型赋能研发、科技管理、市场、行政办公、财务全流程，实现降本增效</a:t>
            </a:r>
            <a:endParaRPr lang="en-US" sz="1900" noProof="1"/>
          </a:p>
        </p:txBody>
      </p:sp>
      <p:sp>
        <p:nvSpPr>
          <p:cNvPr id="8" name="card1"/>
          <p:cNvSpPr/>
          <p:nvPr/>
        </p:nvSpPr>
        <p:spPr>
          <a:xfrm>
            <a:off x="508000" y="1778000"/>
            <a:ext cx="20701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9" name="card1-icon-bg"/>
          <p:cNvSpPr/>
          <p:nvPr/>
        </p:nvSpPr>
        <p:spPr>
          <a:xfrm>
            <a:off x="1162050" y="2057400"/>
            <a:ext cx="762000" cy="762000"/>
          </a:xfrm>
          <a:prstGeom prst="ellipse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10" name="card1-icon"/>
          <p:cNvSpPr/>
          <p:nvPr/>
        </p:nvSpPr>
        <p:spPr>
          <a:xfrm>
            <a:off x="1365250" y="2260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61" y="1"/>
                </a:moveTo>
                <a:cubicBezTo>
                  <a:pt x="344" y="-4"/>
                  <a:pt x="326" y="6"/>
                  <a:pt x="321" y="23"/>
                </a:cubicBezTo>
                <a:lnTo>
                  <a:pt x="193" y="471"/>
                </a:lnTo>
                <a:cubicBezTo>
                  <a:pt x="188" y="488"/>
                  <a:pt x="198" y="506"/>
                  <a:pt x="215" y="511"/>
                </a:cubicBezTo>
                <a:cubicBezTo>
                  <a:pt x="232" y="516"/>
                  <a:pt x="250" y="506"/>
                  <a:pt x="255" y="489"/>
                </a:cubicBezTo>
                <a:lnTo>
                  <a:pt x="383" y="41"/>
                </a:lnTo>
                <a:cubicBezTo>
                  <a:pt x="388" y="24"/>
                  <a:pt x="378" y="6"/>
                  <a:pt x="361" y="1"/>
                </a:cubicBezTo>
                <a:close/>
              </a:path>
              <a:path w="576" h="512">
                <a:moveTo>
                  <a:pt x="425" y="137"/>
                </a:moveTo>
                <a:cubicBezTo>
                  <a:pt x="413" y="150"/>
                  <a:pt x="413" y="170"/>
                  <a:pt x="425" y="183"/>
                </a:cubicBezTo>
                <a:lnTo>
                  <a:pt x="499" y="256"/>
                </a:lnTo>
                <a:lnTo>
                  <a:pt x="425" y="329"/>
                </a:lnTo>
                <a:cubicBezTo>
                  <a:pt x="413" y="342"/>
                  <a:pt x="413" y="362"/>
                  <a:pt x="425" y="375"/>
                </a:cubicBezTo>
                <a:cubicBezTo>
                  <a:pt x="438" y="387"/>
                  <a:pt x="458" y="387"/>
                  <a:pt x="471" y="375"/>
                </a:cubicBezTo>
                <a:lnTo>
                  <a:pt x="567" y="279"/>
                </a:lnTo>
                <a:cubicBezTo>
                  <a:pt x="579" y="266"/>
                  <a:pt x="579" y="246"/>
                  <a:pt x="567" y="233"/>
                </a:cubicBezTo>
                <a:lnTo>
                  <a:pt x="471" y="137"/>
                </a:lnTo>
                <a:cubicBezTo>
                  <a:pt x="458" y="125"/>
                  <a:pt x="438" y="125"/>
                  <a:pt x="425" y="137"/>
                </a:cubicBezTo>
                <a:close/>
              </a:path>
              <a:path w="576" h="512">
                <a:moveTo>
                  <a:pt x="151" y="137"/>
                </a:moveTo>
                <a:cubicBezTo>
                  <a:pt x="138" y="125"/>
                  <a:pt x="118" y="125"/>
                  <a:pt x="105" y="137"/>
                </a:cubicBezTo>
                <a:lnTo>
                  <a:pt x="9" y="233"/>
                </a:lnTo>
                <a:cubicBezTo>
                  <a:pt x="-3" y="246"/>
                  <a:pt x="-3" y="266"/>
                  <a:pt x="9" y="279"/>
                </a:cubicBezTo>
                <a:lnTo>
                  <a:pt x="105" y="375"/>
                </a:lnTo>
                <a:cubicBezTo>
                  <a:pt x="118" y="387"/>
                  <a:pt x="138" y="387"/>
                  <a:pt x="151" y="375"/>
                </a:cubicBezTo>
                <a:cubicBezTo>
                  <a:pt x="163" y="362"/>
                  <a:pt x="163" y="342"/>
                  <a:pt x="151" y="329"/>
                </a:cubicBezTo>
                <a:lnTo>
                  <a:pt x="77" y="256"/>
                </a:lnTo>
                <a:lnTo>
                  <a:pt x="151" y="183"/>
                </a:lnTo>
                <a:cubicBezTo>
                  <a:pt x="163" y="170"/>
                  <a:pt x="163" y="150"/>
                  <a:pt x="151" y="13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" name="card1-title"/>
          <p:cNvSpPr txBox="1"/>
          <p:nvPr/>
        </p:nvSpPr>
        <p:spPr>
          <a:xfrm>
            <a:off x="609600" y="2971800"/>
            <a:ext cx="1866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研发</a:t>
            </a:r>
            <a:endParaRPr lang="en-US" sz="1900" noProof="1"/>
          </a:p>
        </p:txBody>
      </p:sp>
      <p:sp>
        <p:nvSpPr>
          <p:cNvPr id="12" name="card1-body"/>
          <p:cNvSpPr txBox="1"/>
          <p:nvPr/>
        </p:nvSpPr>
        <p:spPr>
          <a:xfrm>
            <a:off x="660400" y="3403600"/>
            <a:ext cx="1765300" cy="198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AI辅助代码生成与评审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研发知识库智能问答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技术文档自动编写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缩短产品研制周期</a:t>
            </a:r>
            <a:endParaRPr lang="en-US" sz="1300" noProof="1"/>
          </a:p>
        </p:txBody>
      </p:sp>
      <p:sp>
        <p:nvSpPr>
          <p:cNvPr id="13" name="card2"/>
          <p:cNvSpPr/>
          <p:nvPr/>
        </p:nvSpPr>
        <p:spPr>
          <a:xfrm>
            <a:off x="2784475" y="1778000"/>
            <a:ext cx="20701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14" name="card2-icon-bg"/>
          <p:cNvSpPr/>
          <p:nvPr/>
        </p:nvSpPr>
        <p:spPr>
          <a:xfrm>
            <a:off x="3438525" y="2057400"/>
            <a:ext cx="762000" cy="762000"/>
          </a:xfrm>
          <a:prstGeom prst="ellipse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15" name="card2-icon"/>
          <p:cNvSpPr/>
          <p:nvPr/>
        </p:nvSpPr>
        <p:spPr>
          <a:xfrm>
            <a:off x="3641725" y="2260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88" y="0"/>
                </a:moveTo>
                <a:lnTo>
                  <a:pt x="128" y="0"/>
                </a:lnTo>
                <a:cubicBezTo>
                  <a:pt x="110" y="0"/>
                  <a:pt x="96" y="14"/>
                  <a:pt x="96" y="32"/>
                </a:cubicBezTo>
                <a:cubicBezTo>
                  <a:pt x="96" y="50"/>
                  <a:pt x="110" y="64"/>
                  <a:pt x="128" y="64"/>
                </a:cubicBezTo>
                <a:lnTo>
                  <a:pt x="128" y="216"/>
                </a:lnTo>
                <a:lnTo>
                  <a:pt x="8" y="426"/>
                </a:lnTo>
                <a:cubicBezTo>
                  <a:pt x="3" y="435"/>
                  <a:pt x="0" y="445"/>
                  <a:pt x="0" y="455"/>
                </a:cubicBezTo>
                <a:cubicBezTo>
                  <a:pt x="0" y="486"/>
                  <a:pt x="26" y="512"/>
                  <a:pt x="57" y="512"/>
                </a:cubicBezTo>
                <a:lnTo>
                  <a:pt x="391" y="512"/>
                </a:lnTo>
                <a:cubicBezTo>
                  <a:pt x="422" y="512"/>
                  <a:pt x="448" y="486"/>
                  <a:pt x="448" y="455"/>
                </a:cubicBezTo>
                <a:cubicBezTo>
                  <a:pt x="448" y="445"/>
                  <a:pt x="445" y="435"/>
                  <a:pt x="441" y="426"/>
                </a:cubicBezTo>
                <a:lnTo>
                  <a:pt x="320" y="216"/>
                </a:lnTo>
                <a:lnTo>
                  <a:pt x="320" y="64"/>
                </a:lnTo>
                <a:cubicBezTo>
                  <a:pt x="338" y="64"/>
                  <a:pt x="352" y="50"/>
                  <a:pt x="352" y="32"/>
                </a:cubicBezTo>
                <a:cubicBezTo>
                  <a:pt x="352" y="14"/>
                  <a:pt x="338" y="0"/>
                  <a:pt x="320" y="0"/>
                </a:cubicBezTo>
                <a:lnTo>
                  <a:pt x="288" y="0"/>
                </a:lnTo>
                <a:close/>
                <a:moveTo>
                  <a:pt x="192" y="216"/>
                </a:moveTo>
                <a:lnTo>
                  <a:pt x="192" y="64"/>
                </a:lnTo>
                <a:lnTo>
                  <a:pt x="256" y="64"/>
                </a:lnTo>
                <a:lnTo>
                  <a:pt x="256" y="216"/>
                </a:lnTo>
                <a:cubicBezTo>
                  <a:pt x="256" y="227"/>
                  <a:pt x="259" y="238"/>
                  <a:pt x="264" y="247"/>
                </a:cubicBezTo>
                <a:lnTo>
                  <a:pt x="306" y="320"/>
                </a:lnTo>
                <a:lnTo>
                  <a:pt x="142" y="320"/>
                </a:lnTo>
                <a:lnTo>
                  <a:pt x="184" y="247"/>
                </a:lnTo>
                <a:cubicBezTo>
                  <a:pt x="189" y="238"/>
                  <a:pt x="192" y="227"/>
                  <a:pt x="192" y="2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" name="card2-title"/>
          <p:cNvSpPr txBox="1"/>
          <p:nvPr/>
        </p:nvSpPr>
        <p:spPr>
          <a:xfrm>
            <a:off x="2886075" y="2971800"/>
            <a:ext cx="1866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科技管理</a:t>
            </a:r>
            <a:endParaRPr lang="en-US" sz="1900" noProof="1"/>
          </a:p>
        </p:txBody>
      </p:sp>
      <p:sp>
        <p:nvSpPr>
          <p:cNvPr id="17" name="card2-body"/>
          <p:cNvSpPr txBox="1"/>
          <p:nvPr/>
        </p:nvSpPr>
        <p:spPr>
          <a:xfrm>
            <a:off x="2936875" y="3403600"/>
            <a:ext cx="1765300" cy="198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项目申报材料智能辅助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成果与专利检索分析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科技情报自动跟踪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政策文件智能解读</a:t>
            </a:r>
            <a:endParaRPr lang="en-US" sz="1300" noProof="1"/>
          </a:p>
        </p:txBody>
      </p:sp>
      <p:sp>
        <p:nvSpPr>
          <p:cNvPr id="18" name="card3"/>
          <p:cNvSpPr/>
          <p:nvPr/>
        </p:nvSpPr>
        <p:spPr>
          <a:xfrm>
            <a:off x="5060950" y="1778000"/>
            <a:ext cx="20701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19" name="card3-icon-bg"/>
          <p:cNvSpPr/>
          <p:nvPr/>
        </p:nvSpPr>
        <p:spPr>
          <a:xfrm>
            <a:off x="5715000" y="2057400"/>
            <a:ext cx="762000" cy="762000"/>
          </a:xfrm>
          <a:prstGeom prst="ellipse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20" name="card3-icon"/>
          <p:cNvSpPr/>
          <p:nvPr/>
        </p:nvSpPr>
        <p:spPr>
          <a:xfrm>
            <a:off x="5918200" y="2260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64"/>
                </a:moveTo>
                <a:cubicBezTo>
                  <a:pt x="64" y="46"/>
                  <a:pt x="50" y="32"/>
                  <a:pt x="32" y="32"/>
                </a:cubicBezTo>
                <a:cubicBezTo>
                  <a:pt x="14" y="32"/>
                  <a:pt x="0" y="46"/>
                  <a:pt x="0" y="64"/>
                </a:cubicBezTo>
                <a:lnTo>
                  <a:pt x="0" y="400"/>
                </a:lnTo>
                <a:cubicBezTo>
                  <a:pt x="0" y="444"/>
                  <a:pt x="36" y="480"/>
                  <a:pt x="80" y="480"/>
                </a:cubicBezTo>
                <a:lnTo>
                  <a:pt x="480" y="480"/>
                </a:lnTo>
                <a:cubicBezTo>
                  <a:pt x="498" y="480"/>
                  <a:pt x="512" y="466"/>
                  <a:pt x="512" y="448"/>
                </a:cubicBezTo>
                <a:cubicBezTo>
                  <a:pt x="512" y="430"/>
                  <a:pt x="498" y="416"/>
                  <a:pt x="480" y="416"/>
                </a:cubicBezTo>
                <a:lnTo>
                  <a:pt x="80" y="416"/>
                </a:lnTo>
                <a:cubicBezTo>
                  <a:pt x="71" y="416"/>
                  <a:pt x="64" y="409"/>
                  <a:pt x="64" y="400"/>
                </a:cubicBezTo>
                <a:lnTo>
                  <a:pt x="64" y="64"/>
                </a:lnTo>
                <a:close/>
                <a:moveTo>
                  <a:pt x="471" y="151"/>
                </a:moveTo>
                <a:cubicBezTo>
                  <a:pt x="483" y="138"/>
                  <a:pt x="483" y="118"/>
                  <a:pt x="471" y="105"/>
                </a:cubicBezTo>
                <a:cubicBezTo>
                  <a:pt x="458" y="93"/>
                  <a:pt x="438" y="93"/>
                  <a:pt x="425" y="105"/>
                </a:cubicBezTo>
                <a:lnTo>
                  <a:pt x="320" y="211"/>
                </a:lnTo>
                <a:lnTo>
                  <a:pt x="263" y="153"/>
                </a:lnTo>
                <a:cubicBezTo>
                  <a:pt x="250" y="141"/>
                  <a:pt x="230" y="141"/>
                  <a:pt x="217" y="153"/>
                </a:cubicBezTo>
                <a:lnTo>
                  <a:pt x="121" y="249"/>
                </a:lnTo>
                <a:cubicBezTo>
                  <a:pt x="109" y="262"/>
                  <a:pt x="109" y="282"/>
                  <a:pt x="121" y="295"/>
                </a:cubicBezTo>
                <a:cubicBezTo>
                  <a:pt x="134" y="307"/>
                  <a:pt x="154" y="307"/>
                  <a:pt x="167" y="295"/>
                </a:cubicBezTo>
                <a:lnTo>
                  <a:pt x="240" y="221"/>
                </a:lnTo>
                <a:lnTo>
                  <a:pt x="297" y="279"/>
                </a:lnTo>
                <a:cubicBezTo>
                  <a:pt x="310" y="291"/>
                  <a:pt x="330" y="291"/>
                  <a:pt x="343" y="279"/>
                </a:cubicBezTo>
                <a:lnTo>
                  <a:pt x="471" y="1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" name="card3-title"/>
          <p:cNvSpPr txBox="1"/>
          <p:nvPr/>
        </p:nvSpPr>
        <p:spPr>
          <a:xfrm>
            <a:off x="5162550" y="2971800"/>
            <a:ext cx="1866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市场</a:t>
            </a:r>
            <a:endParaRPr lang="en-US" sz="1900" noProof="1"/>
          </a:p>
        </p:txBody>
      </p:sp>
      <p:sp>
        <p:nvSpPr>
          <p:cNvPr id="22" name="card3-body"/>
          <p:cNvSpPr txBox="1"/>
          <p:nvPr/>
        </p:nvSpPr>
        <p:spPr>
          <a:xfrm>
            <a:off x="5213350" y="3403600"/>
            <a:ext cx="1765300" cy="198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商机线索智能分析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标书方案辅助编写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客户画像与跟进提醒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竞争情报动态监测</a:t>
            </a:r>
            <a:endParaRPr lang="en-US" sz="1300" noProof="1"/>
          </a:p>
        </p:txBody>
      </p:sp>
      <p:sp>
        <p:nvSpPr>
          <p:cNvPr id="23" name="card4"/>
          <p:cNvSpPr/>
          <p:nvPr/>
        </p:nvSpPr>
        <p:spPr>
          <a:xfrm>
            <a:off x="7337425" y="1778000"/>
            <a:ext cx="20701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24" name="card4-icon-bg"/>
          <p:cNvSpPr/>
          <p:nvPr/>
        </p:nvSpPr>
        <p:spPr>
          <a:xfrm>
            <a:off x="7991475" y="2057400"/>
            <a:ext cx="762000" cy="762000"/>
          </a:xfrm>
          <a:prstGeom prst="ellipse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25" name="card4-icon"/>
          <p:cNvSpPr/>
          <p:nvPr/>
        </p:nvSpPr>
        <p:spPr>
          <a:xfrm>
            <a:off x="8194675" y="2260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lnTo>
                  <a:pt x="0" y="448"/>
                </a:lnTo>
                <a:cubicBezTo>
                  <a:pt x="0" y="483"/>
                  <a:pt x="29" y="512"/>
                  <a:pt x="64" y="512"/>
                </a:cubicBezTo>
                <a:lnTo>
                  <a:pt x="320" y="512"/>
                </a:lnTo>
                <a:cubicBezTo>
                  <a:pt x="355" y="512"/>
                  <a:pt x="384" y="483"/>
                  <a:pt x="384" y="448"/>
                </a:cubicBezTo>
                <a:lnTo>
                  <a:pt x="384" y="64"/>
                </a:lnTo>
                <a:cubicBezTo>
                  <a:pt x="384" y="29"/>
                  <a:pt x="355" y="0"/>
                  <a:pt x="320" y="0"/>
                </a:cubicBezTo>
                <a:lnTo>
                  <a:pt x="64" y="0"/>
                </a:lnTo>
                <a:close/>
                <a:moveTo>
                  <a:pt x="176" y="352"/>
                </a:moveTo>
                <a:lnTo>
                  <a:pt x="208" y="352"/>
                </a:lnTo>
                <a:cubicBezTo>
                  <a:pt x="226" y="352"/>
                  <a:pt x="240" y="366"/>
                  <a:pt x="240" y="384"/>
                </a:cubicBezTo>
                <a:lnTo>
                  <a:pt x="240" y="464"/>
                </a:lnTo>
                <a:lnTo>
                  <a:pt x="144" y="464"/>
                </a:lnTo>
                <a:lnTo>
                  <a:pt x="144" y="384"/>
                </a:lnTo>
                <a:cubicBezTo>
                  <a:pt x="144" y="366"/>
                  <a:pt x="158" y="352"/>
                  <a:pt x="176" y="352"/>
                </a:cubicBezTo>
                <a:close/>
                <a:moveTo>
                  <a:pt x="96" y="112"/>
                </a:moveTo>
                <a:cubicBezTo>
                  <a:pt x="96" y="103"/>
                  <a:pt x="103" y="96"/>
                  <a:pt x="112" y="96"/>
                </a:cubicBezTo>
                <a:lnTo>
                  <a:pt x="144" y="96"/>
                </a:lnTo>
                <a:cubicBezTo>
                  <a:pt x="153" y="96"/>
                  <a:pt x="160" y="103"/>
                  <a:pt x="160" y="112"/>
                </a:cubicBezTo>
                <a:lnTo>
                  <a:pt x="160" y="144"/>
                </a:lnTo>
                <a:cubicBezTo>
                  <a:pt x="160" y="153"/>
                  <a:pt x="153" y="160"/>
                  <a:pt x="144" y="160"/>
                </a:cubicBezTo>
                <a:lnTo>
                  <a:pt x="112" y="160"/>
                </a:lnTo>
                <a:cubicBezTo>
                  <a:pt x="103" y="160"/>
                  <a:pt x="96" y="153"/>
                  <a:pt x="96" y="144"/>
                </a:cubicBezTo>
                <a:lnTo>
                  <a:pt x="96" y="112"/>
                </a:lnTo>
                <a:close/>
                <a:moveTo>
                  <a:pt x="240" y="96"/>
                </a:moveTo>
                <a:lnTo>
                  <a:pt x="272" y="96"/>
                </a:lnTo>
                <a:cubicBezTo>
                  <a:pt x="281" y="96"/>
                  <a:pt x="288" y="103"/>
                  <a:pt x="288" y="112"/>
                </a:cubicBezTo>
                <a:lnTo>
                  <a:pt x="288" y="144"/>
                </a:lnTo>
                <a:cubicBezTo>
                  <a:pt x="288" y="153"/>
                  <a:pt x="281" y="160"/>
                  <a:pt x="272" y="160"/>
                </a:cubicBezTo>
                <a:lnTo>
                  <a:pt x="240" y="160"/>
                </a:lnTo>
                <a:cubicBezTo>
                  <a:pt x="231" y="160"/>
                  <a:pt x="224" y="153"/>
                  <a:pt x="224" y="144"/>
                </a:cubicBezTo>
                <a:lnTo>
                  <a:pt x="224" y="112"/>
                </a:lnTo>
                <a:cubicBezTo>
                  <a:pt x="224" y="103"/>
                  <a:pt x="231" y="96"/>
                  <a:pt x="240" y="96"/>
                </a:cubicBezTo>
                <a:close/>
                <a:moveTo>
                  <a:pt x="96" y="240"/>
                </a:moveTo>
                <a:cubicBezTo>
                  <a:pt x="96" y="231"/>
                  <a:pt x="103" y="224"/>
                  <a:pt x="112" y="224"/>
                </a:cubicBezTo>
                <a:lnTo>
                  <a:pt x="144" y="224"/>
                </a:lnTo>
                <a:cubicBezTo>
                  <a:pt x="153" y="224"/>
                  <a:pt x="160" y="231"/>
                  <a:pt x="160" y="240"/>
                </a:cubicBezTo>
                <a:lnTo>
                  <a:pt x="160" y="272"/>
                </a:lnTo>
                <a:cubicBezTo>
                  <a:pt x="160" y="281"/>
                  <a:pt x="153" y="288"/>
                  <a:pt x="144" y="288"/>
                </a:cubicBezTo>
                <a:lnTo>
                  <a:pt x="112" y="288"/>
                </a:lnTo>
                <a:cubicBezTo>
                  <a:pt x="103" y="288"/>
                  <a:pt x="96" y="281"/>
                  <a:pt x="96" y="272"/>
                </a:cubicBezTo>
                <a:lnTo>
                  <a:pt x="96" y="240"/>
                </a:lnTo>
                <a:close/>
                <a:moveTo>
                  <a:pt x="240" y="224"/>
                </a:moveTo>
                <a:lnTo>
                  <a:pt x="272" y="224"/>
                </a:lnTo>
                <a:cubicBezTo>
                  <a:pt x="281" y="224"/>
                  <a:pt x="288" y="231"/>
                  <a:pt x="288" y="240"/>
                </a:cubicBezTo>
                <a:lnTo>
                  <a:pt x="288" y="272"/>
                </a:lnTo>
                <a:cubicBezTo>
                  <a:pt x="288" y="281"/>
                  <a:pt x="281" y="288"/>
                  <a:pt x="272" y="288"/>
                </a:cubicBezTo>
                <a:lnTo>
                  <a:pt x="240" y="288"/>
                </a:lnTo>
                <a:cubicBezTo>
                  <a:pt x="231" y="288"/>
                  <a:pt x="224" y="281"/>
                  <a:pt x="224" y="272"/>
                </a:cubicBezTo>
                <a:lnTo>
                  <a:pt x="224" y="240"/>
                </a:lnTo>
                <a:cubicBezTo>
                  <a:pt x="224" y="231"/>
                  <a:pt x="231" y="224"/>
                  <a:pt x="240" y="22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" name="card4-title"/>
          <p:cNvSpPr txBox="1"/>
          <p:nvPr/>
        </p:nvSpPr>
        <p:spPr>
          <a:xfrm>
            <a:off x="7439025" y="2971800"/>
            <a:ext cx="1866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行政办公</a:t>
            </a:r>
            <a:endParaRPr lang="en-US" sz="1900" noProof="1"/>
          </a:p>
        </p:txBody>
      </p:sp>
      <p:sp>
        <p:nvSpPr>
          <p:cNvPr id="27" name="card4-body"/>
          <p:cNvSpPr txBox="1"/>
          <p:nvPr/>
        </p:nvSpPr>
        <p:spPr>
          <a:xfrm>
            <a:off x="7489825" y="3403600"/>
            <a:ext cx="1765300" cy="198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公文智能起草与校对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会议纪要与任务督办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制度流程智能问答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审批流程辅助办理</a:t>
            </a:r>
            <a:endParaRPr lang="en-US" sz="1300" noProof="1"/>
          </a:p>
        </p:txBody>
      </p:sp>
      <p:sp>
        <p:nvSpPr>
          <p:cNvPr id="28" name="card5"/>
          <p:cNvSpPr/>
          <p:nvPr/>
        </p:nvSpPr>
        <p:spPr>
          <a:xfrm>
            <a:off x="9613900" y="1778000"/>
            <a:ext cx="20701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29" name="card5-icon-bg"/>
          <p:cNvSpPr/>
          <p:nvPr/>
        </p:nvSpPr>
        <p:spPr>
          <a:xfrm>
            <a:off x="10267950" y="2057400"/>
            <a:ext cx="762000" cy="762000"/>
          </a:xfrm>
          <a:prstGeom prst="ellipse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30" name="card5-icon"/>
          <p:cNvSpPr/>
          <p:nvPr/>
        </p:nvSpPr>
        <p:spPr>
          <a:xfrm>
            <a:off x="10471150" y="2260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lnTo>
                  <a:pt x="0" y="448"/>
                </a:lnTo>
                <a:cubicBezTo>
                  <a:pt x="0" y="483"/>
                  <a:pt x="29" y="512"/>
                  <a:pt x="64" y="512"/>
                </a:cubicBezTo>
                <a:lnTo>
                  <a:pt x="320" y="512"/>
                </a:lnTo>
                <a:cubicBezTo>
                  <a:pt x="355" y="512"/>
                  <a:pt x="384" y="483"/>
                  <a:pt x="384" y="448"/>
                </a:cubicBezTo>
                <a:lnTo>
                  <a:pt x="384" y="64"/>
                </a:lnTo>
                <a:cubicBezTo>
                  <a:pt x="384" y="29"/>
                  <a:pt x="355" y="0"/>
                  <a:pt x="320" y="0"/>
                </a:cubicBezTo>
                <a:lnTo>
                  <a:pt x="64" y="0"/>
                </a:lnTo>
                <a:close/>
                <a:moveTo>
                  <a:pt x="96" y="64"/>
                </a:moveTo>
                <a:lnTo>
                  <a:pt x="288" y="64"/>
                </a:lnTo>
                <a:cubicBezTo>
                  <a:pt x="306" y="64"/>
                  <a:pt x="320" y="78"/>
                  <a:pt x="320" y="96"/>
                </a:cubicBezTo>
                <a:lnTo>
                  <a:pt x="320" y="128"/>
                </a:lnTo>
                <a:cubicBezTo>
                  <a:pt x="320" y="146"/>
                  <a:pt x="306" y="160"/>
                  <a:pt x="288" y="160"/>
                </a:cubicBezTo>
                <a:lnTo>
                  <a:pt x="96" y="160"/>
                </a:lnTo>
                <a:cubicBezTo>
                  <a:pt x="78" y="160"/>
                  <a:pt x="64" y="146"/>
                  <a:pt x="64" y="128"/>
                </a:cubicBezTo>
                <a:lnTo>
                  <a:pt x="64" y="96"/>
                </a:lnTo>
                <a:cubicBezTo>
                  <a:pt x="64" y="78"/>
                  <a:pt x="78" y="64"/>
                  <a:pt x="96" y="64"/>
                </a:cubicBezTo>
                <a:close/>
                <a:moveTo>
                  <a:pt x="112" y="232"/>
                </a:moveTo>
                <a:cubicBezTo>
                  <a:pt x="112" y="245"/>
                  <a:pt x="101" y="256"/>
                  <a:pt x="88" y="256"/>
                </a:cubicBezTo>
                <a:cubicBezTo>
                  <a:pt x="75" y="256"/>
                  <a:pt x="64" y="245"/>
                  <a:pt x="64" y="232"/>
                </a:cubicBezTo>
                <a:cubicBezTo>
                  <a:pt x="64" y="219"/>
                  <a:pt x="75" y="208"/>
                  <a:pt x="88" y="208"/>
                </a:cubicBezTo>
                <a:cubicBezTo>
                  <a:pt x="101" y="208"/>
                  <a:pt x="112" y="219"/>
                  <a:pt x="112" y="232"/>
                </a:cubicBezTo>
                <a:close/>
                <a:moveTo>
                  <a:pt x="192" y="256"/>
                </a:moveTo>
                <a:cubicBezTo>
                  <a:pt x="179" y="256"/>
                  <a:pt x="168" y="245"/>
                  <a:pt x="168" y="232"/>
                </a:cubicBezTo>
                <a:cubicBezTo>
                  <a:pt x="168" y="219"/>
                  <a:pt x="179" y="208"/>
                  <a:pt x="192" y="208"/>
                </a:cubicBezTo>
                <a:cubicBezTo>
                  <a:pt x="205" y="208"/>
                  <a:pt x="216" y="219"/>
                  <a:pt x="216" y="232"/>
                </a:cubicBezTo>
                <a:cubicBezTo>
                  <a:pt x="216" y="245"/>
                  <a:pt x="205" y="256"/>
                  <a:pt x="192" y="256"/>
                </a:cubicBezTo>
                <a:close/>
                <a:moveTo>
                  <a:pt x="320" y="232"/>
                </a:moveTo>
                <a:cubicBezTo>
                  <a:pt x="320" y="245"/>
                  <a:pt x="309" y="256"/>
                  <a:pt x="296" y="256"/>
                </a:cubicBezTo>
                <a:cubicBezTo>
                  <a:pt x="283" y="256"/>
                  <a:pt x="272" y="245"/>
                  <a:pt x="272" y="232"/>
                </a:cubicBezTo>
                <a:cubicBezTo>
                  <a:pt x="272" y="219"/>
                  <a:pt x="283" y="208"/>
                  <a:pt x="296" y="208"/>
                </a:cubicBezTo>
                <a:cubicBezTo>
                  <a:pt x="309" y="208"/>
                  <a:pt x="320" y="219"/>
                  <a:pt x="320" y="232"/>
                </a:cubicBezTo>
                <a:close/>
                <a:moveTo>
                  <a:pt x="88" y="352"/>
                </a:moveTo>
                <a:cubicBezTo>
                  <a:pt x="75" y="352"/>
                  <a:pt x="64" y="341"/>
                  <a:pt x="64" y="328"/>
                </a:cubicBezTo>
                <a:cubicBezTo>
                  <a:pt x="64" y="315"/>
                  <a:pt x="75" y="304"/>
                  <a:pt x="88" y="304"/>
                </a:cubicBezTo>
                <a:cubicBezTo>
                  <a:pt x="101" y="304"/>
                  <a:pt x="112" y="315"/>
                  <a:pt x="112" y="328"/>
                </a:cubicBezTo>
                <a:cubicBezTo>
                  <a:pt x="112" y="341"/>
                  <a:pt x="101" y="352"/>
                  <a:pt x="88" y="352"/>
                </a:cubicBezTo>
                <a:close/>
                <a:moveTo>
                  <a:pt x="216" y="328"/>
                </a:moveTo>
                <a:cubicBezTo>
                  <a:pt x="216" y="341"/>
                  <a:pt x="205" y="352"/>
                  <a:pt x="192" y="352"/>
                </a:cubicBezTo>
                <a:cubicBezTo>
                  <a:pt x="179" y="352"/>
                  <a:pt x="168" y="341"/>
                  <a:pt x="168" y="328"/>
                </a:cubicBezTo>
                <a:cubicBezTo>
                  <a:pt x="168" y="315"/>
                  <a:pt x="179" y="304"/>
                  <a:pt x="192" y="304"/>
                </a:cubicBezTo>
                <a:cubicBezTo>
                  <a:pt x="205" y="304"/>
                  <a:pt x="216" y="315"/>
                  <a:pt x="216" y="328"/>
                </a:cubicBezTo>
                <a:close/>
                <a:moveTo>
                  <a:pt x="296" y="352"/>
                </a:moveTo>
                <a:cubicBezTo>
                  <a:pt x="283" y="352"/>
                  <a:pt x="272" y="341"/>
                  <a:pt x="272" y="328"/>
                </a:cubicBezTo>
                <a:cubicBezTo>
                  <a:pt x="272" y="315"/>
                  <a:pt x="283" y="304"/>
                  <a:pt x="296" y="304"/>
                </a:cubicBezTo>
                <a:cubicBezTo>
                  <a:pt x="309" y="304"/>
                  <a:pt x="320" y="315"/>
                  <a:pt x="320" y="328"/>
                </a:cubicBezTo>
                <a:cubicBezTo>
                  <a:pt x="320" y="341"/>
                  <a:pt x="309" y="352"/>
                  <a:pt x="296" y="352"/>
                </a:cubicBezTo>
                <a:close/>
                <a:moveTo>
                  <a:pt x="64" y="424"/>
                </a:moveTo>
                <a:cubicBezTo>
                  <a:pt x="64" y="411"/>
                  <a:pt x="75" y="400"/>
                  <a:pt x="88" y="400"/>
                </a:cubicBezTo>
                <a:lnTo>
                  <a:pt x="200" y="400"/>
                </a:lnTo>
                <a:cubicBezTo>
                  <a:pt x="213" y="400"/>
                  <a:pt x="224" y="411"/>
                  <a:pt x="224" y="424"/>
                </a:cubicBezTo>
                <a:cubicBezTo>
                  <a:pt x="224" y="437"/>
                  <a:pt x="213" y="448"/>
                  <a:pt x="200" y="448"/>
                </a:cubicBezTo>
                <a:lnTo>
                  <a:pt x="88" y="448"/>
                </a:lnTo>
                <a:cubicBezTo>
                  <a:pt x="75" y="448"/>
                  <a:pt x="64" y="437"/>
                  <a:pt x="64" y="424"/>
                </a:cubicBezTo>
                <a:close/>
                <a:moveTo>
                  <a:pt x="296" y="400"/>
                </a:moveTo>
                <a:cubicBezTo>
                  <a:pt x="309" y="400"/>
                  <a:pt x="320" y="411"/>
                  <a:pt x="320" y="424"/>
                </a:cubicBezTo>
                <a:cubicBezTo>
                  <a:pt x="320" y="437"/>
                  <a:pt x="309" y="448"/>
                  <a:pt x="296" y="448"/>
                </a:cubicBezTo>
                <a:cubicBezTo>
                  <a:pt x="283" y="448"/>
                  <a:pt x="272" y="437"/>
                  <a:pt x="272" y="424"/>
                </a:cubicBezTo>
                <a:cubicBezTo>
                  <a:pt x="272" y="411"/>
                  <a:pt x="283" y="400"/>
                  <a:pt x="296" y="4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" name="card5-title"/>
          <p:cNvSpPr txBox="1"/>
          <p:nvPr/>
        </p:nvSpPr>
        <p:spPr>
          <a:xfrm>
            <a:off x="9715500" y="2971800"/>
            <a:ext cx="1866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财务</a:t>
            </a:r>
            <a:endParaRPr lang="en-US" sz="1900" noProof="1"/>
          </a:p>
        </p:txBody>
      </p:sp>
      <p:sp>
        <p:nvSpPr>
          <p:cNvPr id="32" name="card5-body"/>
          <p:cNvSpPr txBox="1"/>
          <p:nvPr/>
        </p:nvSpPr>
        <p:spPr>
          <a:xfrm>
            <a:off x="9766300" y="3403600"/>
            <a:ext cx="1765300" cy="198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报销单据智能审核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财务报表自动分析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预算执行动态监测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风险合规智能预警</a:t>
            </a:r>
            <a:endParaRPr lang="en-US" sz="1300" noProof="1"/>
          </a:p>
        </p:txBody>
      </p:sp>
      <p:sp>
        <p:nvSpPr>
          <p:cNvPr id="33" name="bottom-note"/>
          <p:cNvSpPr txBox="1"/>
          <p:nvPr/>
        </p:nvSpPr>
        <p:spPr>
          <a:xfrm>
            <a:off x="821690" y="58674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推进方式：统一建设公司级AI能力平台，各业务部门按场景分批落地、</a:t>
            </a:r>
            <a:r>
              <a:rPr lang="en-US" sz="16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边用边改、以用促建</a:t>
            </a:r>
            <a:endParaRPr lang="en-US" sz="1600" noProof="1"/>
          </a:p>
        </p:txBody>
      </p:sp>
      <p:pic>
        <p:nvPicPr>
          <p:cNvPr id="41" name="footer-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9264650" y="6574790"/>
            <a:ext cx="935990" cy="170180"/>
          </a:xfrm>
          <a:prstGeom prst="rect">
            <a:avLst/>
          </a:prstGeom>
          <a:ln>
            <a:noFill/>
          </a:ln>
        </p:spPr>
      </p:pic>
      <p:sp>
        <p:nvSpPr>
          <p:cNvPr id="42" name="footer-text"/>
          <p:cNvSpPr txBox="1"/>
          <p:nvPr/>
        </p:nvSpPr>
        <p:spPr>
          <a:xfrm>
            <a:off x="10219690" y="6551930"/>
            <a:ext cx="1974850" cy="185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长沙湘计海盾科技有限公司</a:t>
            </a:r>
            <a:endParaRPr lang="en-US" sz="1200" noProof="1"/>
          </a:p>
        </p:txBody>
      </p:sp>
      <p:sp>
        <p:nvSpPr>
          <p:cNvPr id="34" name="head-line"/>
          <p:cNvSpPr/>
          <p:nvPr/>
        </p:nvSpPr>
        <p:spPr>
          <a:xfrm>
            <a:off x="711200" y="1016000"/>
            <a:ext cx="10807700" cy="12700"/>
          </a:xfrm>
          <a:custGeom>
            <a:avLst/>
            <a:gdLst/>
            <a:ahLst/>
            <a:cxnLst/>
            <a:rect l="l" t="t" r="r" b="b"/>
            <a:pathLst>
              <a:path w="851" h="1">
                <a:moveTo>
                  <a:pt x="0" y="1"/>
                </a:moveTo>
                <a:lnTo>
                  <a:pt x="851" y="1"/>
                </a:lnTo>
              </a:path>
            </a:pathLst>
          </a:custGeom>
          <a:noFill/>
          <a:ln w="12700" cap="rnd">
            <a:solidFill>
              <a:srgbClr val="333333"/>
            </a:solidFill>
            <a:round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1270" y="7620"/>
            <a:ext cx="12192000" cy="685673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9626600" y="-284480"/>
            <a:ext cx="2668270" cy="1647190"/>
          </a:xfrm>
          <a:prstGeom prst="rect">
            <a:avLst/>
          </a:prstGeom>
          <a:ln>
            <a:noFill/>
          </a:ln>
        </p:spPr>
      </p:pic>
      <p:sp>
        <p:nvSpPr>
          <p:cNvPr id="4" name="red-block"/>
          <p:cNvSpPr/>
          <p:nvPr/>
        </p:nvSpPr>
        <p:spPr>
          <a:xfrm>
            <a:off x="-3810" y="632460"/>
            <a:ext cx="403860" cy="276860"/>
          </a:xfrm>
          <a:prstGeom prst="rect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6" name="page-title"/>
          <p:cNvSpPr txBox="1"/>
          <p:nvPr/>
        </p:nvSpPr>
        <p:spPr>
          <a:xfrm>
            <a:off x="821690" y="285750"/>
            <a:ext cx="8382000" cy="461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E50011"/>
                </a:solidFill>
                <a:latin typeface="Noto Sans SC" panose="020B0200000000000000" charset="-122"/>
                <a:ea typeface="Noto Sans SC" panose="020B0200000000000000" charset="-122"/>
              </a:rPr>
              <a:t>方向二：AI大模型国产软硬件智能化产品</a:t>
            </a:r>
            <a:endParaRPr lang="en-US" sz="3000" noProof="1"/>
          </a:p>
        </p:txBody>
      </p:sp>
      <p:sp>
        <p:nvSpPr>
          <p:cNvPr id="7" name="lead"/>
          <p:cNvSpPr txBox="1"/>
          <p:nvPr/>
        </p:nvSpPr>
        <p:spPr>
          <a:xfrm>
            <a:off x="821690" y="1016000"/>
            <a:ext cx="10795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定位：立足公司三大基础产品线，向上叠加军工智能应用，打造国产软硬件智能化产品体系</a:t>
            </a:r>
            <a:endParaRPr lang="en-US" sz="1900" noProof="1"/>
          </a:p>
        </p:txBody>
      </p:sp>
      <p:sp>
        <p:nvSpPr>
          <p:cNvPr id="8" name="p1-card"/>
          <p:cNvSpPr/>
          <p:nvPr/>
        </p:nvSpPr>
        <p:spPr>
          <a:xfrm>
            <a:off x="508000" y="1600200"/>
            <a:ext cx="3492500" cy="2133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9" name="p1-num"/>
          <p:cNvSpPr txBox="1"/>
          <p:nvPr/>
        </p:nvSpPr>
        <p:spPr>
          <a:xfrm>
            <a:off x="711200" y="17526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F0B4B8"/>
                </a:solidFill>
                <a:latin typeface="Arial" panose="020B0604020202020204"/>
                <a:ea typeface="Arial" panose="020B0604020202020204"/>
              </a:rPr>
              <a:t>01</a:t>
            </a:r>
            <a:endParaRPr lang="en-US" sz="2200" noProof="1"/>
          </a:p>
        </p:txBody>
      </p:sp>
      <p:sp>
        <p:nvSpPr>
          <p:cNvPr id="10" name="p1-icon-bg"/>
          <p:cNvSpPr/>
          <p:nvPr/>
        </p:nvSpPr>
        <p:spPr>
          <a:xfrm>
            <a:off x="762000" y="2133600"/>
            <a:ext cx="558800" cy="558800"/>
          </a:xfrm>
          <a:prstGeom prst="ellipse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11" name="p1-icon"/>
          <p:cNvSpPr/>
          <p:nvPr/>
        </p:nvSpPr>
        <p:spPr>
          <a:xfrm>
            <a:off x="901700" y="22733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" name="p1-title"/>
          <p:cNvSpPr txBox="1"/>
          <p:nvPr/>
        </p:nvSpPr>
        <p:spPr>
          <a:xfrm>
            <a:off x="1473200" y="2133600"/>
            <a:ext cx="2413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智能计算产品</a:t>
            </a:r>
            <a:endParaRPr lang="en-US" sz="1900" noProof="1"/>
          </a:p>
        </p:txBody>
      </p:sp>
      <p:sp>
        <p:nvSpPr>
          <p:cNvPr id="13" name="p1-body"/>
          <p:cNvSpPr txBox="1"/>
          <p:nvPr/>
        </p:nvSpPr>
        <p:spPr>
          <a:xfrm>
            <a:off x="762000" y="2794000"/>
            <a:ext cx="29845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基于国产CPU与操作系统，集成大模型推理能力，打造软硬一体的智能加固终端与边缘计算设备</a:t>
            </a:r>
            <a:endParaRPr lang="en-US" sz="1300" noProof="1"/>
          </a:p>
        </p:txBody>
      </p:sp>
      <p:sp>
        <p:nvSpPr>
          <p:cNvPr id="14" name="p2-card"/>
          <p:cNvSpPr/>
          <p:nvPr/>
        </p:nvSpPr>
        <p:spPr>
          <a:xfrm>
            <a:off x="4349750" y="1600200"/>
            <a:ext cx="3492500" cy="2133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15" name="p2-num"/>
          <p:cNvSpPr txBox="1"/>
          <p:nvPr/>
        </p:nvSpPr>
        <p:spPr>
          <a:xfrm>
            <a:off x="4552950" y="17526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F0B4B8"/>
                </a:solidFill>
                <a:latin typeface="Arial" panose="020B0604020202020204"/>
                <a:ea typeface="Arial" panose="020B0604020202020204"/>
              </a:rPr>
              <a:t>02</a:t>
            </a:r>
            <a:endParaRPr lang="en-US" sz="2200" noProof="1"/>
          </a:p>
        </p:txBody>
      </p:sp>
      <p:sp>
        <p:nvSpPr>
          <p:cNvPr id="16" name="p2-icon-bg"/>
          <p:cNvSpPr/>
          <p:nvPr/>
        </p:nvSpPr>
        <p:spPr>
          <a:xfrm>
            <a:off x="4603750" y="2133600"/>
            <a:ext cx="558800" cy="558800"/>
          </a:xfrm>
          <a:prstGeom prst="ellipse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17" name="p2-icon"/>
          <p:cNvSpPr/>
          <p:nvPr/>
        </p:nvSpPr>
        <p:spPr>
          <a:xfrm>
            <a:off x="4743450" y="22733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88" y="12"/>
                </a:moveTo>
                <a:cubicBezTo>
                  <a:pt x="77" y="5"/>
                  <a:pt x="62" y="8"/>
                  <a:pt x="55" y="20"/>
                </a:cubicBezTo>
                <a:cubicBezTo>
                  <a:pt x="30" y="61"/>
                  <a:pt x="16" y="109"/>
                  <a:pt x="16" y="160"/>
                </a:cubicBezTo>
                <a:cubicBezTo>
                  <a:pt x="16" y="211"/>
                  <a:pt x="30" y="259"/>
                  <a:pt x="55" y="300"/>
                </a:cubicBezTo>
                <a:cubicBezTo>
                  <a:pt x="62" y="312"/>
                  <a:pt x="77" y="315"/>
                  <a:pt x="88" y="309"/>
                </a:cubicBezTo>
                <a:cubicBezTo>
                  <a:pt x="99" y="302"/>
                  <a:pt x="103" y="287"/>
                  <a:pt x="96" y="276"/>
                </a:cubicBezTo>
                <a:cubicBezTo>
                  <a:pt x="76" y="242"/>
                  <a:pt x="64" y="202"/>
                  <a:pt x="64" y="160"/>
                </a:cubicBezTo>
                <a:cubicBezTo>
                  <a:pt x="64" y="118"/>
                  <a:pt x="76" y="78"/>
                  <a:pt x="96" y="44"/>
                </a:cubicBezTo>
                <a:cubicBezTo>
                  <a:pt x="103" y="33"/>
                  <a:pt x="99" y="18"/>
                  <a:pt x="88" y="11"/>
                </a:cubicBezTo>
                <a:close/>
              </a:path>
              <a:path w="576" h="512">
                <a:moveTo>
                  <a:pt x="488" y="12"/>
                </a:moveTo>
                <a:cubicBezTo>
                  <a:pt x="477" y="18"/>
                  <a:pt x="473" y="33"/>
                  <a:pt x="480" y="45"/>
                </a:cubicBezTo>
                <a:cubicBezTo>
                  <a:pt x="500" y="78"/>
                  <a:pt x="512" y="118"/>
                  <a:pt x="512" y="160"/>
                </a:cubicBezTo>
                <a:cubicBezTo>
                  <a:pt x="512" y="202"/>
                  <a:pt x="500" y="242"/>
                  <a:pt x="480" y="276"/>
                </a:cubicBezTo>
                <a:cubicBezTo>
                  <a:pt x="473" y="287"/>
                  <a:pt x="477" y="302"/>
                  <a:pt x="488" y="309"/>
                </a:cubicBezTo>
                <a:cubicBezTo>
                  <a:pt x="499" y="316"/>
                  <a:pt x="514" y="312"/>
                  <a:pt x="521" y="301"/>
                </a:cubicBezTo>
                <a:cubicBezTo>
                  <a:pt x="546" y="260"/>
                  <a:pt x="560" y="211"/>
                  <a:pt x="560" y="160"/>
                </a:cubicBezTo>
                <a:cubicBezTo>
                  <a:pt x="560" y="109"/>
                  <a:pt x="546" y="61"/>
                  <a:pt x="521" y="20"/>
                </a:cubicBezTo>
                <a:cubicBezTo>
                  <a:pt x="514" y="8"/>
                  <a:pt x="499" y="5"/>
                  <a:pt x="488" y="12"/>
                </a:cubicBezTo>
                <a:close/>
              </a:path>
              <a:path w="576" h="512">
                <a:moveTo>
                  <a:pt x="320" y="215"/>
                </a:moveTo>
                <a:cubicBezTo>
                  <a:pt x="339" y="204"/>
                  <a:pt x="352" y="184"/>
                  <a:pt x="352" y="160"/>
                </a:cubicBezTo>
                <a:cubicBezTo>
                  <a:pt x="352" y="125"/>
                  <a:pt x="323" y="96"/>
                  <a:pt x="288" y="96"/>
                </a:cubicBezTo>
                <a:cubicBezTo>
                  <a:pt x="253" y="96"/>
                  <a:pt x="224" y="125"/>
                  <a:pt x="224" y="160"/>
                </a:cubicBezTo>
                <a:cubicBezTo>
                  <a:pt x="224" y="184"/>
                  <a:pt x="237" y="204"/>
                  <a:pt x="256" y="215"/>
                </a:cubicBezTo>
                <a:lnTo>
                  <a:pt x="256" y="480"/>
                </a:lnTo>
                <a:cubicBezTo>
                  <a:pt x="256" y="498"/>
                  <a:pt x="270" y="512"/>
                  <a:pt x="288" y="512"/>
                </a:cubicBezTo>
                <a:cubicBezTo>
                  <a:pt x="306" y="512"/>
                  <a:pt x="320" y="498"/>
                  <a:pt x="320" y="480"/>
                </a:cubicBezTo>
                <a:lnTo>
                  <a:pt x="320" y="215"/>
                </a:lnTo>
                <a:close/>
              </a:path>
              <a:path w="576" h="512">
                <a:moveTo>
                  <a:pt x="180" y="91"/>
                </a:moveTo>
                <a:cubicBezTo>
                  <a:pt x="187" y="80"/>
                  <a:pt x="184" y="65"/>
                  <a:pt x="173" y="58"/>
                </a:cubicBezTo>
                <a:cubicBezTo>
                  <a:pt x="162" y="51"/>
                  <a:pt x="147" y="54"/>
                  <a:pt x="140" y="65"/>
                </a:cubicBezTo>
                <a:cubicBezTo>
                  <a:pt x="122" y="92"/>
                  <a:pt x="112" y="125"/>
                  <a:pt x="112" y="160"/>
                </a:cubicBezTo>
                <a:cubicBezTo>
                  <a:pt x="112" y="195"/>
                  <a:pt x="122" y="228"/>
                  <a:pt x="140" y="255"/>
                </a:cubicBezTo>
                <a:cubicBezTo>
                  <a:pt x="147" y="266"/>
                  <a:pt x="162" y="269"/>
                  <a:pt x="173" y="262"/>
                </a:cubicBezTo>
                <a:cubicBezTo>
                  <a:pt x="184" y="255"/>
                  <a:pt x="187" y="240"/>
                  <a:pt x="180" y="229"/>
                </a:cubicBezTo>
                <a:cubicBezTo>
                  <a:pt x="167" y="209"/>
                  <a:pt x="160" y="185"/>
                  <a:pt x="160" y="160"/>
                </a:cubicBezTo>
                <a:cubicBezTo>
                  <a:pt x="160" y="135"/>
                  <a:pt x="167" y="111"/>
                  <a:pt x="180" y="91"/>
                </a:cubicBezTo>
                <a:close/>
              </a:path>
              <a:path w="576" h="512">
                <a:moveTo>
                  <a:pt x="436" y="65"/>
                </a:moveTo>
                <a:cubicBezTo>
                  <a:pt x="429" y="54"/>
                  <a:pt x="414" y="51"/>
                  <a:pt x="403" y="58"/>
                </a:cubicBezTo>
                <a:cubicBezTo>
                  <a:pt x="392" y="65"/>
                  <a:pt x="389" y="80"/>
                  <a:pt x="396" y="91"/>
                </a:cubicBezTo>
                <a:cubicBezTo>
                  <a:pt x="409" y="111"/>
                  <a:pt x="416" y="135"/>
                  <a:pt x="416" y="160"/>
                </a:cubicBezTo>
                <a:cubicBezTo>
                  <a:pt x="416" y="185"/>
                  <a:pt x="409" y="209"/>
                  <a:pt x="396" y="229"/>
                </a:cubicBezTo>
                <a:cubicBezTo>
                  <a:pt x="389" y="240"/>
                  <a:pt x="392" y="255"/>
                  <a:pt x="403" y="262"/>
                </a:cubicBezTo>
                <a:cubicBezTo>
                  <a:pt x="414" y="269"/>
                  <a:pt x="429" y="266"/>
                  <a:pt x="436" y="255"/>
                </a:cubicBezTo>
                <a:cubicBezTo>
                  <a:pt x="454" y="228"/>
                  <a:pt x="464" y="195"/>
                  <a:pt x="464" y="160"/>
                </a:cubicBezTo>
                <a:cubicBezTo>
                  <a:pt x="464" y="125"/>
                  <a:pt x="454" y="92"/>
                  <a:pt x="436" y="6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" name="p2-title"/>
          <p:cNvSpPr txBox="1"/>
          <p:nvPr/>
        </p:nvSpPr>
        <p:spPr>
          <a:xfrm>
            <a:off x="5314950" y="2133600"/>
            <a:ext cx="2413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无线产品业务</a:t>
            </a:r>
            <a:endParaRPr lang="en-US" sz="1900" noProof="1"/>
          </a:p>
        </p:txBody>
      </p:sp>
      <p:sp>
        <p:nvSpPr>
          <p:cNvPr id="19" name="p2-body"/>
          <p:cNvSpPr txBox="1"/>
          <p:nvPr/>
        </p:nvSpPr>
        <p:spPr>
          <a:xfrm>
            <a:off x="4603750" y="2794000"/>
            <a:ext cx="29845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大模型赋能无线通信设备智能组网、频谱感知与故障诊断，提升复杂环境下通信保障能力</a:t>
            </a:r>
            <a:endParaRPr lang="en-US" sz="1300" noProof="1"/>
          </a:p>
        </p:txBody>
      </p:sp>
      <p:sp>
        <p:nvSpPr>
          <p:cNvPr id="20" name="p3-card"/>
          <p:cNvSpPr/>
          <p:nvPr/>
        </p:nvSpPr>
        <p:spPr>
          <a:xfrm>
            <a:off x="8191500" y="1600200"/>
            <a:ext cx="3492500" cy="2133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21" name="p3-num"/>
          <p:cNvSpPr txBox="1"/>
          <p:nvPr/>
        </p:nvSpPr>
        <p:spPr>
          <a:xfrm>
            <a:off x="8394700" y="17526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F0B4B8"/>
                </a:solidFill>
                <a:latin typeface="Arial" panose="020B0604020202020204"/>
                <a:ea typeface="Arial" panose="020B0604020202020204"/>
              </a:rPr>
              <a:t>03</a:t>
            </a:r>
            <a:endParaRPr lang="en-US" sz="2200" noProof="1"/>
          </a:p>
        </p:txBody>
      </p:sp>
      <p:sp>
        <p:nvSpPr>
          <p:cNvPr id="22" name="p3-icon-bg"/>
          <p:cNvSpPr/>
          <p:nvPr/>
        </p:nvSpPr>
        <p:spPr>
          <a:xfrm>
            <a:off x="8445500" y="2133600"/>
            <a:ext cx="558800" cy="558800"/>
          </a:xfrm>
          <a:prstGeom prst="ellipse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23" name="p3-icon"/>
          <p:cNvSpPr/>
          <p:nvPr/>
        </p:nvSpPr>
        <p:spPr>
          <a:xfrm>
            <a:off x="8585200" y="22733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48" y="96"/>
                </a:moveTo>
                <a:lnTo>
                  <a:pt x="448" y="352"/>
                </a:lnTo>
                <a:lnTo>
                  <a:pt x="64" y="352"/>
                </a:lnTo>
                <a:lnTo>
                  <a:pt x="64" y="96"/>
                </a:lnTo>
                <a:lnTo>
                  <a:pt x="448" y="96"/>
                </a:lnTo>
                <a:close/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52"/>
                </a:lnTo>
                <a:cubicBezTo>
                  <a:pt x="0" y="387"/>
                  <a:pt x="29" y="416"/>
                  <a:pt x="64" y="416"/>
                </a:cubicBezTo>
                <a:lnTo>
                  <a:pt x="208" y="416"/>
                </a:lnTo>
                <a:lnTo>
                  <a:pt x="192" y="464"/>
                </a:lnTo>
                <a:lnTo>
                  <a:pt x="120" y="464"/>
                </a:lnTo>
                <a:cubicBezTo>
                  <a:pt x="107" y="464"/>
                  <a:pt x="96" y="475"/>
                  <a:pt x="96" y="488"/>
                </a:cubicBezTo>
                <a:cubicBezTo>
                  <a:pt x="96" y="501"/>
                  <a:pt x="107" y="512"/>
                  <a:pt x="120" y="512"/>
                </a:cubicBezTo>
                <a:lnTo>
                  <a:pt x="392" y="512"/>
                </a:lnTo>
                <a:cubicBezTo>
                  <a:pt x="405" y="512"/>
                  <a:pt x="416" y="501"/>
                  <a:pt x="416" y="488"/>
                </a:cubicBezTo>
                <a:cubicBezTo>
                  <a:pt x="416" y="475"/>
                  <a:pt x="405" y="464"/>
                  <a:pt x="392" y="464"/>
                </a:cubicBezTo>
                <a:lnTo>
                  <a:pt x="320" y="464"/>
                </a:lnTo>
                <a:lnTo>
                  <a:pt x="304" y="416"/>
                </a:lnTo>
                <a:lnTo>
                  <a:pt x="448" y="416"/>
                </a:lnTo>
                <a:cubicBezTo>
                  <a:pt x="483" y="416"/>
                  <a:pt x="512" y="387"/>
                  <a:pt x="512" y="352"/>
                </a:cubicBezTo>
                <a:lnTo>
                  <a:pt x="512" y="96"/>
                </a:lnTo>
                <a:cubicBezTo>
                  <a:pt x="512" y="61"/>
                  <a:pt x="483" y="32"/>
                  <a:pt x="448" y="32"/>
                </a:cubicBezTo>
                <a:lnTo>
                  <a:pt x="64" y="3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" name="p3-title"/>
          <p:cNvSpPr txBox="1"/>
          <p:nvPr/>
        </p:nvSpPr>
        <p:spPr>
          <a:xfrm>
            <a:off x="9156700" y="2133600"/>
            <a:ext cx="2413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显控业务</a:t>
            </a:r>
            <a:endParaRPr lang="en-US" sz="1900" noProof="1"/>
          </a:p>
        </p:txBody>
      </p:sp>
      <p:sp>
        <p:nvSpPr>
          <p:cNvPr id="25" name="p3-body"/>
          <p:cNvSpPr txBox="1"/>
          <p:nvPr/>
        </p:nvSpPr>
        <p:spPr>
          <a:xfrm>
            <a:off x="8445500" y="2794000"/>
            <a:ext cx="29845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大模型赋能态势感知、语音交互与辅助决策，推动显示控制产品向智能化升级</a:t>
            </a:r>
            <a:endParaRPr lang="en-US" sz="1300" noProof="1"/>
          </a:p>
        </p:txBody>
      </p:sp>
      <p:sp>
        <p:nvSpPr>
          <p:cNvPr id="26" name="layer-arrow"/>
          <p:cNvSpPr/>
          <p:nvPr/>
        </p:nvSpPr>
        <p:spPr>
          <a:xfrm>
            <a:off x="965200" y="3860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15" y="9"/>
                </a:moveTo>
                <a:cubicBezTo>
                  <a:pt x="202" y="-3"/>
                  <a:pt x="182" y="-3"/>
                  <a:pt x="169" y="9"/>
                </a:cubicBezTo>
                <a:lnTo>
                  <a:pt x="9" y="169"/>
                </a:lnTo>
                <a:cubicBezTo>
                  <a:pt x="-3" y="182"/>
                  <a:pt x="-3" y="202"/>
                  <a:pt x="9" y="215"/>
                </a:cubicBezTo>
                <a:cubicBezTo>
                  <a:pt x="22" y="227"/>
                  <a:pt x="42" y="227"/>
                  <a:pt x="55" y="215"/>
                </a:cubicBezTo>
                <a:lnTo>
                  <a:pt x="160" y="109"/>
                </a:lnTo>
                <a:lnTo>
                  <a:pt x="160" y="480"/>
                </a:lnTo>
                <a:cubicBezTo>
                  <a:pt x="160" y="498"/>
                  <a:pt x="174" y="512"/>
                  <a:pt x="192" y="512"/>
                </a:cubicBezTo>
                <a:cubicBezTo>
                  <a:pt x="210" y="512"/>
                  <a:pt x="224" y="498"/>
                  <a:pt x="224" y="480"/>
                </a:cubicBezTo>
                <a:lnTo>
                  <a:pt x="224" y="109"/>
                </a:lnTo>
                <a:lnTo>
                  <a:pt x="329" y="215"/>
                </a:lnTo>
                <a:cubicBezTo>
                  <a:pt x="342" y="227"/>
                  <a:pt x="362" y="227"/>
                  <a:pt x="375" y="215"/>
                </a:cubicBezTo>
                <a:cubicBezTo>
                  <a:pt x="387" y="202"/>
                  <a:pt x="387" y="182"/>
                  <a:pt x="375" y="169"/>
                </a:cubicBezTo>
                <a:lnTo>
                  <a:pt x="215" y="9"/>
                </a:lnTo>
                <a:close/>
              </a:path>
            </a:pathLst>
          </a:custGeom>
          <a:solidFill>
            <a:srgbClr val="E50011"/>
          </a:solidFill>
          <a:ln>
            <a:noFill/>
          </a:ln>
        </p:spPr>
      </p:sp>
      <p:sp>
        <p:nvSpPr>
          <p:cNvPr id="27" name="layer-label"/>
          <p:cNvSpPr txBox="1"/>
          <p:nvPr/>
        </p:nvSpPr>
        <p:spPr>
          <a:xfrm>
            <a:off x="1295400" y="3810000"/>
            <a:ext cx="635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在三大基础产品线之上，叠加军工智能应用</a:t>
            </a:r>
            <a:endParaRPr lang="en-US" sz="1500" noProof="1"/>
          </a:p>
        </p:txBody>
      </p:sp>
      <p:sp>
        <p:nvSpPr>
          <p:cNvPr id="28" name="app-bar"/>
          <p:cNvSpPr/>
          <p:nvPr/>
        </p:nvSpPr>
        <p:spPr>
          <a:xfrm>
            <a:off x="508000" y="4191000"/>
            <a:ext cx="11176000" cy="8382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B3000C"/>
              </a:gs>
              <a:gs pos="100000">
                <a:srgbClr val="E50011"/>
              </a:gs>
            </a:gsLst>
            <a:lin ang="0" scaled="1"/>
          </a:gradFill>
          <a:ln>
            <a:noFill/>
          </a:ln>
          <a:effectLst>
            <a:outerShdw blurRad="101600" dist="38100" dir="5400000" algn="bl" rotWithShape="0">
              <a:srgbClr val="000000">
                <a:alpha val="12157"/>
              </a:srgbClr>
            </a:outerShdw>
          </a:effectLst>
        </p:spPr>
      </p:sp>
      <p:sp>
        <p:nvSpPr>
          <p:cNvPr id="29" name="app-icon"/>
          <p:cNvSpPr/>
          <p:nvPr/>
        </p:nvSpPr>
        <p:spPr>
          <a:xfrm>
            <a:off x="812800" y="4419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0" name="app-title"/>
          <p:cNvSpPr txBox="1"/>
          <p:nvPr/>
        </p:nvSpPr>
        <p:spPr>
          <a:xfrm>
            <a:off x="1371600" y="4292600"/>
            <a:ext cx="2794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军工、武器装备智能应用</a:t>
            </a:r>
            <a:endParaRPr lang="en-US" sz="1800" noProof="1"/>
          </a:p>
        </p:txBody>
      </p:sp>
      <p:sp>
        <p:nvSpPr>
          <p:cNvPr id="31" name="app-body"/>
          <p:cNvSpPr txBox="1"/>
          <p:nvPr/>
        </p:nvSpPr>
        <p:spPr>
          <a:xfrm>
            <a:off x="4267200" y="4292600"/>
            <a:ext cx="7239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面向军工与武器装备领域，提供智能态势感知、辅助决策、智能运维、无人平台协同等AI应用产品与整体解决方案</a:t>
            </a:r>
            <a:endParaRPr lang="en-US" sz="1300" noProof="1"/>
          </a:p>
        </p:txBody>
      </p:sp>
      <p:sp>
        <p:nvSpPr>
          <p:cNvPr id="32" name="roadmap-label"/>
          <p:cNvSpPr txBox="1"/>
          <p:nvPr/>
        </p:nvSpPr>
        <p:spPr>
          <a:xfrm>
            <a:off x="821690" y="52324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技术路线</a:t>
            </a:r>
            <a:endParaRPr lang="en-US" sz="1700" noProof="1"/>
          </a:p>
        </p:txBody>
      </p:sp>
      <p:sp>
        <p:nvSpPr>
          <p:cNvPr id="33" name="step1"/>
          <p:cNvSpPr/>
          <p:nvPr/>
        </p:nvSpPr>
        <p:spPr>
          <a:xfrm>
            <a:off x="821690" y="5613400"/>
            <a:ext cx="2603500" cy="533400"/>
          </a:xfrm>
          <a:prstGeom prst="homePlate">
            <a:avLst>
              <a:gd name="adj" fmla="val 35000"/>
            </a:avLst>
          </a:prstGeom>
          <a:solidFill>
            <a:srgbClr val="B3000C"/>
          </a:solidFill>
          <a:ln>
            <a:noFill/>
          </a:ln>
        </p:spPr>
      </p:sp>
      <p:sp>
        <p:nvSpPr>
          <p:cNvPr id="34" name="step1-text"/>
          <p:cNvSpPr txBox="1"/>
          <p:nvPr/>
        </p:nvSpPr>
        <p:spPr>
          <a:xfrm>
            <a:off x="889000" y="5613400"/>
            <a:ext cx="23495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国产芯片与操作系统</a:t>
            </a:r>
            <a:endParaRPr lang="en-US" sz="1300" noProof="1"/>
          </a:p>
        </p:txBody>
      </p:sp>
      <p:sp>
        <p:nvSpPr>
          <p:cNvPr id="35" name="step2"/>
          <p:cNvSpPr/>
          <p:nvPr/>
        </p:nvSpPr>
        <p:spPr>
          <a:xfrm>
            <a:off x="3488690" y="5613400"/>
            <a:ext cx="2603500" cy="533400"/>
          </a:xfrm>
          <a:prstGeom prst="chevron">
            <a:avLst>
              <a:gd name="adj" fmla="val 35000"/>
            </a:avLst>
          </a:prstGeom>
          <a:solidFill>
            <a:srgbClr val="E50011"/>
          </a:solidFill>
          <a:ln>
            <a:noFill/>
          </a:ln>
        </p:spPr>
      </p:sp>
      <p:sp>
        <p:nvSpPr>
          <p:cNvPr id="36" name="step2-text"/>
          <p:cNvSpPr txBox="1"/>
          <p:nvPr/>
        </p:nvSpPr>
        <p:spPr>
          <a:xfrm>
            <a:off x="3657600" y="5613400"/>
            <a:ext cx="23495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国产大模型适配优化</a:t>
            </a:r>
            <a:endParaRPr lang="en-US" sz="1300" noProof="1"/>
          </a:p>
        </p:txBody>
      </p:sp>
      <p:sp>
        <p:nvSpPr>
          <p:cNvPr id="37" name="step3"/>
          <p:cNvSpPr/>
          <p:nvPr/>
        </p:nvSpPr>
        <p:spPr>
          <a:xfrm>
            <a:off x="6155690" y="5613400"/>
            <a:ext cx="2603500" cy="533400"/>
          </a:xfrm>
          <a:prstGeom prst="chevron">
            <a:avLst>
              <a:gd name="adj" fmla="val 35000"/>
            </a:avLst>
          </a:prstGeom>
          <a:solidFill>
            <a:srgbClr val="F03342"/>
          </a:solidFill>
          <a:ln>
            <a:noFill/>
          </a:ln>
        </p:spPr>
      </p:sp>
      <p:sp>
        <p:nvSpPr>
          <p:cNvPr id="38" name="step3-text"/>
          <p:cNvSpPr txBox="1"/>
          <p:nvPr/>
        </p:nvSpPr>
        <p:spPr>
          <a:xfrm>
            <a:off x="6324600" y="5613400"/>
            <a:ext cx="23495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软硬一体化集成</a:t>
            </a:r>
            <a:endParaRPr lang="en-US" sz="1300" noProof="1"/>
          </a:p>
        </p:txBody>
      </p:sp>
      <p:sp>
        <p:nvSpPr>
          <p:cNvPr id="39" name="step4"/>
          <p:cNvSpPr/>
          <p:nvPr/>
        </p:nvSpPr>
        <p:spPr>
          <a:xfrm>
            <a:off x="8822690" y="5613400"/>
            <a:ext cx="2603500" cy="533400"/>
          </a:xfrm>
          <a:prstGeom prst="chevron">
            <a:avLst>
              <a:gd name="adj" fmla="val 35000"/>
            </a:avLst>
          </a:prstGeom>
          <a:solidFill>
            <a:srgbClr val="F56670"/>
          </a:solidFill>
          <a:ln>
            <a:noFill/>
          </a:ln>
        </p:spPr>
      </p:sp>
      <p:sp>
        <p:nvSpPr>
          <p:cNvPr id="40" name="step4-text"/>
          <p:cNvSpPr txBox="1"/>
          <p:nvPr/>
        </p:nvSpPr>
        <p:spPr>
          <a:xfrm>
            <a:off x="8991600" y="5613400"/>
            <a:ext cx="23495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行业场景落地</a:t>
            </a:r>
            <a:endParaRPr lang="en-US" sz="1300" noProof="1"/>
          </a:p>
        </p:txBody>
      </p:sp>
      <p:sp>
        <p:nvSpPr>
          <p:cNvPr id="41" name="bottom-note"/>
          <p:cNvSpPr txBox="1"/>
          <p:nvPr/>
        </p:nvSpPr>
        <p:spPr>
          <a:xfrm>
            <a:off x="821690" y="6273800"/>
            <a:ext cx="1092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下一步计划：完成国产大模型在主力硬件平台的适配验证，</a:t>
            </a:r>
            <a:r>
              <a:rPr lang="en-US" sz="15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形成2—3款智能化产品样机并开展试点应用</a:t>
            </a:r>
            <a:endParaRPr lang="en-US" sz="1500" noProof="1"/>
          </a:p>
        </p:txBody>
      </p:sp>
      <p:pic>
        <p:nvPicPr>
          <p:cNvPr id="43" name="footer-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9264650" y="6574790"/>
            <a:ext cx="935990" cy="170180"/>
          </a:xfrm>
          <a:prstGeom prst="rect">
            <a:avLst/>
          </a:prstGeom>
          <a:ln>
            <a:noFill/>
          </a:ln>
        </p:spPr>
      </p:pic>
      <p:sp>
        <p:nvSpPr>
          <p:cNvPr id="44" name="footer-text"/>
          <p:cNvSpPr txBox="1"/>
          <p:nvPr/>
        </p:nvSpPr>
        <p:spPr>
          <a:xfrm>
            <a:off x="10219690" y="6551930"/>
            <a:ext cx="1974850" cy="185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长沙湘计海盾科技有限公司</a:t>
            </a:r>
            <a:endParaRPr lang="en-US" sz="1200" noProof="1"/>
          </a:p>
        </p:txBody>
      </p:sp>
      <p:sp>
        <p:nvSpPr>
          <p:cNvPr id="45" name="head-line"/>
          <p:cNvSpPr/>
          <p:nvPr/>
        </p:nvSpPr>
        <p:spPr>
          <a:xfrm>
            <a:off x="711200" y="1016000"/>
            <a:ext cx="10807700" cy="12700"/>
          </a:xfrm>
          <a:custGeom>
            <a:avLst/>
            <a:gdLst/>
            <a:ahLst/>
            <a:cxnLst/>
            <a:rect l="l" t="t" r="r" b="b"/>
            <a:pathLst>
              <a:path w="851" h="1">
                <a:moveTo>
                  <a:pt x="0" y="1"/>
                </a:moveTo>
                <a:lnTo>
                  <a:pt x="851" y="1"/>
                </a:lnTo>
              </a:path>
            </a:pathLst>
          </a:custGeom>
          <a:noFill/>
          <a:ln w="12700" cap="rnd">
            <a:solidFill>
              <a:srgbClr val="333333"/>
            </a:solidFill>
            <a:round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0250" y="239395"/>
            <a:ext cx="7510145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50011"/>
                </a:solidFill>
                <a:latin typeface="思源黑体"/>
                <a:ea typeface="思源黑体"/>
              </a:rPr>
              <a:t>算力需求</a:t>
            </a:r>
            <a:endParaRPr sz="3000" b="1">
              <a:solidFill>
                <a:srgbClr val="E50011"/>
              </a:solidFill>
              <a:latin typeface="思源黑体"/>
              <a:ea typeface="思源黑体"/>
            </a:endParaRPr>
          </a:p>
        </p:txBody>
      </p:sp>
      <p:sp>
        <p:nvSpPr>
          <p:cNvPr id="3" name="Oval 2"/>
          <p:cNvSpPr/>
          <p:nvPr/>
        </p:nvSpPr>
        <p:spPr>
          <a:xfrm>
            <a:off x="730192" y="900000"/>
            <a:ext cx="450000" cy="450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0192" y="900000"/>
            <a:ext cx="450000" cy="450000"/>
          </a:xfrm>
          <a:prstGeom prst="ellipse">
            <a:avLst/>
          </a:prstGeom>
          <a:solidFill>
            <a:srgbClr val="E5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1</a:t>
            </a:r>
            <a:endParaRPr sz="22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63192" y="900000"/>
            <a:ext cx="10200000" cy="4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50011"/>
                </a:solidFill>
                <a:latin typeface="思源黑体"/>
                <a:ea typeface="思源黑体"/>
              </a:rPr>
              <a:t>Step 1：单 token 算力消耗（业界标准）</a:t>
            </a:r>
            <a:endParaRPr sz="1800" b="1">
              <a:solidFill>
                <a:srgbClr val="E50011"/>
              </a:solidFill>
              <a:latin typeface="思源黑体"/>
              <a:ea typeface="思源黑体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63192" y="1400000"/>
            <a:ext cx="102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Transformer 前向推理：单 token 算力 ≈ 2 × 模型参数量（线性层一次乘加 = 2 FLOPs）</a:t>
            </a:r>
            <a:endParaRPr sz="1300" b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00000" y="1850000"/>
          <a:ext cx="8200000" cy="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/>
                <a:gridCol w="2000000"/>
                <a:gridCol w="3200000"/>
              </a:tblGrid>
              <a:tr h="26666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模型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000" marR="60000" marT="40000" marB="40000" anchor="ctr">
                    <a:solidFill>
                      <a:srgbClr val="E5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参数量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000" marR="60000" marT="40000" marB="40000" anchor="ctr">
                    <a:solidFill>
                      <a:srgbClr val="E5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 token 算力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000" marR="60000" marT="40000" marB="40000" anchor="ctr">
                    <a:solidFill>
                      <a:srgbClr val="E50011"/>
                    </a:solidFill>
                  </a:tcPr>
                </a:tc>
              </a:tr>
              <a:tr h="26666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DeepSeek 70B FP16</a:t>
                      </a:r>
                      <a:endParaRPr sz="120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70B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140 GFLOPs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26666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Qwen3 32B FP16</a:t>
                      </a:r>
                      <a:endParaRPr sz="120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000" marR="60000" marT="40000" marB="40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32B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000" marR="60000" marT="40000" marB="40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64 GFLOPs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000" marR="60000" marT="40000" marB="40000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Oval 7"/>
          <p:cNvSpPr/>
          <p:nvPr/>
        </p:nvSpPr>
        <p:spPr>
          <a:xfrm>
            <a:off x="730192" y="2780000"/>
            <a:ext cx="450000" cy="450000"/>
          </a:xfrm>
          <a:prstGeom prst="ellipse">
            <a:avLst/>
          </a:prstGeom>
          <a:solidFill>
            <a:srgbClr val="E5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2</a:t>
            </a:r>
            <a:endParaRPr sz="22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63192" y="2780000"/>
            <a:ext cx="10200000" cy="4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50011"/>
                </a:solidFill>
                <a:latin typeface="思源黑体"/>
                <a:ea typeface="思源黑体"/>
              </a:rPr>
              <a:t>Step 2：单用户算力需求（30 tok/s 体验底线）</a:t>
            </a:r>
            <a:endParaRPr sz="1800" b="1">
              <a:solidFill>
                <a:srgbClr val="E50011"/>
              </a:solidFill>
              <a:latin typeface="思源黑体"/>
              <a:ea typeface="思源黑体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63192" y="3280000"/>
            <a:ext cx="102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人机交互研究表明，LLM 推理速度低于 30 tok/s 时，用户会产生明显等待焦虑</a:t>
            </a:r>
            <a:endParaRPr sz="1300" b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000000" y="3700000"/>
          <a:ext cx="8200000" cy="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/>
                <a:gridCol w="3500000"/>
                <a:gridCol w="2200000"/>
              </a:tblGrid>
              <a:tr h="26666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模型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000" marR="60000" marT="40000" marB="40000" anchor="ctr">
                    <a:solidFill>
                      <a:srgbClr val="E5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计算公式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000" marR="60000" marT="40000" marB="40000" anchor="ctr">
                    <a:solidFill>
                      <a:srgbClr val="E5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单用户所需算力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000" marR="60000" marT="40000" marB="40000" anchor="ctr">
                    <a:solidFill>
                      <a:srgbClr val="E50011"/>
                    </a:solidFill>
                  </a:tcPr>
                </a:tc>
              </a:tr>
              <a:tr h="26666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DeepSeek 70B FP16</a:t>
                      </a:r>
                      <a:endParaRPr sz="110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 tok/s × 140 GFLOPs × 1.5</a:t>
                      </a:r>
                      <a:endParaRPr sz="11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6.3 TFLOPS BF16</a:t>
                      </a:r>
                      <a:endParaRPr sz="11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26666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Qwen3 32B FP16</a:t>
                      </a:r>
                      <a:endParaRPr sz="110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000" marR="60000" marT="40000" marB="40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 tok/s × 64 GFLOPs × 1.5</a:t>
                      </a:r>
                      <a:endParaRPr sz="11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000" marR="60000" marT="40000" marB="40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2.88 TFLOPS BF16</a:t>
                      </a:r>
                      <a:endParaRPr sz="11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000" marR="60000" marT="40000" marB="40000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Oval 11"/>
          <p:cNvSpPr/>
          <p:nvPr/>
        </p:nvSpPr>
        <p:spPr>
          <a:xfrm>
            <a:off x="730192" y="4600000"/>
            <a:ext cx="450000" cy="450000"/>
          </a:xfrm>
          <a:prstGeom prst="ellipse">
            <a:avLst/>
          </a:prstGeom>
          <a:solidFill>
            <a:srgbClr val="E5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3</a:t>
            </a:r>
            <a:endParaRPr sz="22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63192" y="4600000"/>
            <a:ext cx="10200000" cy="4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50011"/>
                </a:solidFill>
                <a:latin typeface="思源黑体"/>
                <a:ea typeface="思源黑体"/>
              </a:rPr>
              <a:t>Step 3：公司总算力需求（最严苛场景）</a:t>
            </a:r>
            <a:endParaRPr sz="1800" b="1">
              <a:solidFill>
                <a:srgbClr val="E50011"/>
              </a:solidFill>
              <a:latin typeface="思源黑体"/>
              <a:ea typeface="思源黑体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0192" y="5200000"/>
            <a:ext cx="10731616" cy="1100000"/>
          </a:xfrm>
          <a:prstGeom prst="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5280000"/>
            <a:ext cx="10371616" cy="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高峰 30 人全部路由到 70B：30 用户 × 6.3 TFLOPS</a:t>
            </a:r>
            <a:endParaRPr sz="18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0000" y="5800000"/>
            <a:ext cx="10371616" cy="4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0000"/>
                </a:solidFill>
                <a:latin typeface="Arial" panose="020B0604020202020204"/>
                <a:ea typeface="Arial" panose="020B0604020202020204"/>
              </a:rPr>
              <a:t>189 TFLOPS BF16</a:t>
            </a:r>
            <a:endParaRPr sz="2400" b="1">
              <a:solidFill>
                <a:srgbClr val="FF000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0192" y="6400000"/>
            <a:ext cx="10731616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这是公司算力的硬底线。算力不是瓶颈，真正的瓶颈是显存。</a:t>
            </a:r>
            <a:endParaRPr sz="1200" b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9626600" y="-284480"/>
            <a:ext cx="2668270" cy="1647190"/>
          </a:xfrm>
          <a:prstGeom prst="rect">
            <a:avLst/>
          </a:prstGeom>
          <a:ln>
            <a:noFill/>
          </a:ln>
        </p:spPr>
      </p:pic>
      <p:pic>
        <p:nvPicPr>
          <p:cNvPr id="41" name="footer-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9264650" y="6574790"/>
            <a:ext cx="935990" cy="170180"/>
          </a:xfrm>
          <a:prstGeom prst="rect">
            <a:avLst/>
          </a:prstGeom>
          <a:ln>
            <a:noFill/>
          </a:ln>
        </p:spPr>
      </p:pic>
      <p:sp>
        <p:nvSpPr>
          <p:cNvPr id="42" name="footer-text"/>
          <p:cNvSpPr txBox="1"/>
          <p:nvPr/>
        </p:nvSpPr>
        <p:spPr>
          <a:xfrm>
            <a:off x="10219690" y="6551930"/>
            <a:ext cx="1974850" cy="185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长沙湘计海盾科技有限公司</a:t>
            </a:r>
            <a:endParaRPr lang="en-US" sz="1200" noProof="1"/>
          </a:p>
        </p:txBody>
      </p:sp>
      <p:sp>
        <p:nvSpPr>
          <p:cNvPr id="34" name="head-line"/>
          <p:cNvSpPr/>
          <p:nvPr/>
        </p:nvSpPr>
        <p:spPr>
          <a:xfrm>
            <a:off x="711200" y="811530"/>
            <a:ext cx="10807700" cy="12700"/>
          </a:xfrm>
          <a:custGeom>
            <a:avLst/>
            <a:gdLst/>
            <a:ahLst/>
            <a:cxnLst/>
            <a:rect l="l" t="t" r="r" b="b"/>
            <a:pathLst>
              <a:path w="851" h="1">
                <a:moveTo>
                  <a:pt x="0" y="1"/>
                </a:moveTo>
                <a:lnTo>
                  <a:pt x="851" y="1"/>
                </a:lnTo>
              </a:path>
            </a:pathLst>
          </a:custGeom>
          <a:noFill/>
          <a:ln w="12700" cap="rnd">
            <a:solidFill>
              <a:srgbClr val="333333"/>
            </a:solidFill>
            <a:round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74320"/>
            <a:ext cx="1143000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50011"/>
                </a:solidFill>
                <a:latin typeface="思源黑体"/>
                <a:ea typeface="思源黑体"/>
              </a:rPr>
              <a:t> CPU</a:t>
            </a:r>
            <a:r>
              <a:rPr lang="zh-CN" sz="3000" b="1">
                <a:solidFill>
                  <a:srgbClr val="E50011"/>
                </a:solidFill>
                <a:latin typeface="思源黑体"/>
                <a:ea typeface="思源黑体"/>
              </a:rPr>
              <a:t>选型</a:t>
            </a:r>
            <a:endParaRPr lang="zh-CN" sz="3000" b="1">
              <a:solidFill>
                <a:srgbClr val="E50011"/>
              </a:solidFill>
              <a:latin typeface="思源黑体"/>
              <a:ea typeface="思源黑体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0192" y="4382770"/>
            <a:ext cx="600000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50011"/>
                </a:solidFill>
              </a:rPr>
              <a:t>海光</a:t>
            </a:r>
            <a:r>
              <a:rPr lang="zh-CN" sz="1400" b="1">
                <a:solidFill>
                  <a:srgbClr val="E50011"/>
                </a:solidFill>
              </a:rPr>
              <a:t>首</a:t>
            </a:r>
            <a:r>
              <a:rPr sz="1400" b="1">
                <a:solidFill>
                  <a:srgbClr val="E50011"/>
                </a:solidFill>
              </a:rPr>
              <a:t>选飞腾</a:t>
            </a:r>
            <a:endParaRPr lang="zh-CN" sz="1400" b="1"/>
          </a:p>
        </p:txBody>
      </p:sp>
      <p:sp>
        <p:nvSpPr>
          <p:cNvPr id="6" name="Rectangle 5"/>
          <p:cNvSpPr/>
          <p:nvPr/>
        </p:nvSpPr>
        <p:spPr>
          <a:xfrm>
            <a:off x="730192" y="4748530"/>
            <a:ext cx="3671808" cy="1417320"/>
          </a:xfrm>
          <a:prstGeom prst="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0192" y="4885690"/>
            <a:ext cx="5000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E50011"/>
                </a:solidFill>
              </a:rPr>
              <a:t>01</a:t>
            </a:r>
            <a:endParaRPr lang="zh-CN" sz="2400" b="1"/>
          </a:p>
        </p:txBody>
      </p:sp>
      <p:sp>
        <p:nvSpPr>
          <p:cNvPr id="8" name="TextBox 7"/>
          <p:cNvSpPr txBox="1"/>
          <p:nvPr/>
        </p:nvSpPr>
        <p:spPr>
          <a:xfrm>
            <a:off x="1430192" y="4839970"/>
            <a:ext cx="2900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50011"/>
                </a:solidFill>
              </a:rPr>
              <a:t>生态成熟度：x86 生态国内最完善</a:t>
            </a:r>
            <a:endParaRPr lang="zh-CN" sz="1400" b="1"/>
          </a:p>
        </p:txBody>
      </p:sp>
      <p:sp>
        <p:nvSpPr>
          <p:cNvPr id="9" name="TextBox 8"/>
          <p:cNvSpPr txBox="1"/>
          <p:nvPr/>
        </p:nvSpPr>
        <p:spPr>
          <a:xfrm>
            <a:off x="1430192" y="5297170"/>
            <a:ext cx="2900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</a:rPr>
              <a:t>国内 90% 服务器软件基于 x86，海光兼容 x86 零迁移</a:t>
            </a:r>
            <a:endParaRPr lang="zh-CN" sz="1100" b="0"/>
          </a:p>
        </p:txBody>
      </p:sp>
      <p:sp>
        <p:nvSpPr>
          <p:cNvPr id="10" name="TextBox 9"/>
          <p:cNvSpPr txBox="1"/>
          <p:nvPr/>
        </p:nvSpPr>
        <p:spPr>
          <a:xfrm>
            <a:off x="1430192" y="5708650"/>
            <a:ext cx="2900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</a:rPr>
              <a:t>飞腾 ARM 需独立适配 OS / 驱动 / 中间件，周期长</a:t>
            </a:r>
            <a:endParaRPr lang="zh-CN" sz="1100" b="0"/>
          </a:p>
        </p:txBody>
      </p:sp>
      <p:sp>
        <p:nvSpPr>
          <p:cNvPr id="11" name="Rectangle 10"/>
          <p:cNvSpPr/>
          <p:nvPr/>
        </p:nvSpPr>
        <p:spPr>
          <a:xfrm>
            <a:off x="4500000" y="4748530"/>
            <a:ext cx="3671808" cy="141732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0000" y="4885690"/>
            <a:ext cx="5000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E50011"/>
                </a:solidFill>
              </a:rPr>
              <a:t>02</a:t>
            </a:r>
            <a:endParaRPr lang="zh-CN" sz="2400" b="1"/>
          </a:p>
        </p:txBody>
      </p:sp>
      <p:sp>
        <p:nvSpPr>
          <p:cNvPr id="13" name="TextBox 12"/>
          <p:cNvSpPr txBox="1"/>
          <p:nvPr/>
        </p:nvSpPr>
        <p:spPr>
          <a:xfrm>
            <a:off x="5200000" y="4839970"/>
            <a:ext cx="2900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50011"/>
                </a:solidFill>
              </a:rPr>
              <a:t>业务连续性：稳定性 + 人才储备</a:t>
            </a:r>
            <a:endParaRPr lang="zh-CN" sz="1400" b="1"/>
          </a:p>
        </p:txBody>
      </p:sp>
      <p:sp>
        <p:nvSpPr>
          <p:cNvPr id="14" name="TextBox 13"/>
          <p:cNvSpPr txBox="1"/>
          <p:nvPr/>
        </p:nvSpPr>
        <p:spPr>
          <a:xfrm>
            <a:off x="5200000" y="5297170"/>
            <a:ext cx="2900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</a:rPr>
              <a:t>海光服务器级 RAS 特性成熟，7×24 长时间运行验证</a:t>
            </a:r>
            <a:endParaRPr lang="zh-CN" sz="1100" b="0"/>
          </a:p>
        </p:txBody>
      </p:sp>
      <p:sp>
        <p:nvSpPr>
          <p:cNvPr id="15" name="TextBox 14"/>
          <p:cNvSpPr txBox="1"/>
          <p:nvPr/>
        </p:nvSpPr>
        <p:spPr>
          <a:xfrm>
            <a:off x="5200000" y="5708650"/>
            <a:ext cx="2900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</a:rPr>
              <a:t>x86 运维 / 开发人才储备远超 ARM，团队上手快</a:t>
            </a:r>
            <a:endParaRPr lang="zh-CN" sz="1100" b="0"/>
          </a:p>
        </p:txBody>
      </p:sp>
      <p:sp>
        <p:nvSpPr>
          <p:cNvPr id="16" name="Rectangle 15"/>
          <p:cNvSpPr/>
          <p:nvPr/>
        </p:nvSpPr>
        <p:spPr>
          <a:xfrm>
            <a:off x="8270000" y="4748530"/>
            <a:ext cx="3671808" cy="141732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0000" y="4885690"/>
            <a:ext cx="5000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E50011"/>
                </a:solidFill>
              </a:rPr>
              <a:t>03</a:t>
            </a:r>
            <a:endParaRPr lang="zh-CN" sz="2400" b="1"/>
          </a:p>
        </p:txBody>
      </p:sp>
      <p:sp>
        <p:nvSpPr>
          <p:cNvPr id="18" name="TextBox 17"/>
          <p:cNvSpPr txBox="1"/>
          <p:nvPr/>
        </p:nvSpPr>
        <p:spPr>
          <a:xfrm>
            <a:off x="8970000" y="4839970"/>
            <a:ext cx="2900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</a:rPr>
              <a:t>性能与扩展：64核 2.7GHz</a:t>
            </a:r>
            <a:endParaRPr lang="zh-CN" sz="1400" b="1"/>
          </a:p>
        </p:txBody>
      </p:sp>
      <p:sp>
        <p:nvSpPr>
          <p:cNvPr id="19" name="TextBox 18"/>
          <p:cNvSpPr txBox="1"/>
          <p:nvPr/>
        </p:nvSpPr>
        <p:spPr>
          <a:xfrm>
            <a:off x="8970000" y="5297170"/>
            <a:ext cx="2900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</a:rPr>
              <a:t>海光 7490 64核 2.7GHz，8 通道 DDR4 内存扩展强</a:t>
            </a:r>
            <a:endParaRPr lang="zh-CN" sz="1100" b="0"/>
          </a:p>
        </p:txBody>
      </p:sp>
      <p:sp>
        <p:nvSpPr>
          <p:cNvPr id="20" name="TextBox 19"/>
          <p:cNvSpPr txBox="1"/>
          <p:nvPr/>
        </p:nvSpPr>
        <p:spPr>
          <a:xfrm>
            <a:off x="8970000" y="5708650"/>
            <a:ext cx="2900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</a:rPr>
              <a:t>飞腾 ARM 单核 IPC 偏弱，编译 / 工具链优化不足</a:t>
            </a:r>
            <a:endParaRPr lang="zh-CN" sz="1100" b="0"/>
          </a:p>
        </p:txBody>
      </p:sp>
      <p:sp>
        <p:nvSpPr>
          <p:cNvPr id="21" name="TextBox 20"/>
          <p:cNvSpPr txBox="1"/>
          <p:nvPr/>
        </p:nvSpPr>
        <p:spPr>
          <a:xfrm>
            <a:off x="730192" y="6211570"/>
            <a:ext cx="107316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50011"/>
                </a:solidFill>
              </a:rPr>
              <a:t>核心结论：海光 CPU 在性能参数 / 生态成熟度 / 稳定性 / 兼容性四个维度均显著优于飞腾 S5000C；选海光是 CPU 选型的最优解</a:t>
            </a:r>
            <a:endParaRPr lang="zh-CN" sz="1200" b="1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365760" y="995680"/>
          <a:ext cx="11430000" cy="3364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26280"/>
                <a:gridCol w="452628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对比维度</a:t>
                      </a:r>
                      <a:endParaRPr sz="9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18000" marB="18000" anchor="ctr">
                    <a:solidFill>
                      <a:srgbClr val="E500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海光 CPU（7380 / 7490）</a:t>
                      </a:r>
                      <a:endParaRPr sz="9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18000" marB="18000" anchor="ctr">
                    <a:solidFill>
                      <a:srgbClr val="E500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飞腾 CPU（S5000C）</a:t>
                      </a:r>
                      <a:endParaRPr sz="9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18000" marB="18000" anchor="ctr">
                    <a:solidFill>
                      <a:srgbClr val="E50011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核心微架构</a:t>
                      </a:r>
                      <a:endParaRPr sz="120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x86（AMD Zen 授权）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ARM v8（自研）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主频 / 加速频率</a:t>
                      </a:r>
                      <a:endParaRPr sz="120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2.7 GHz / 3.0 GHz+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2.6 GHz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 / 线程数</a:t>
                      </a:r>
                      <a:endParaRPr sz="120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64 核 / 128 线程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较高核心数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单核性能</a:t>
                      </a:r>
                      <a:endParaRPr sz="120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高（x86 优化成熟，IPC 强）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中（ARM 编译优化有限）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内存通道 / 容量</a:t>
                      </a:r>
                      <a:endParaRPr sz="120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 通道 DDR4，TB 级扩展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 通道 DDR4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PCIe 支持</a:t>
                      </a:r>
                      <a:endParaRPr sz="120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PCIe 4.0，扩展能力强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PCIe 4.0，需验证生态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服务器级 RAS 特性</a:t>
                      </a:r>
                      <a:endParaRPr sz="120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 成熟（MCA / 热替换 / 7×24 验证）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△ 较新，量产时间短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操作系统适配</a:t>
                      </a:r>
                      <a:endParaRPr sz="120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麒麟 / 统信 UOS / CentOS 等全适配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麒麟 / 统信（ARM 版）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编译器 / 工具链</a:t>
                      </a:r>
                      <a:endParaRPr sz="120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GCC / LLVM / 商用 x86 工具链完备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需 ARM 工具链，迁移成本高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主流服务器软件</a:t>
                      </a:r>
                      <a:endParaRPr sz="120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数据库 / 中间件 / 虚拟化 100% 兼容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需逐一适配，周期长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社区 / 文档 / 人才</a:t>
                      </a:r>
                      <a:endParaRPr sz="120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x86 生态国内最丰富，招聘 / 运维 / 培训成熟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ARM 服务器生态较薄弱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合作伙伴 / 落地案例</a:t>
                      </a:r>
                      <a:endParaRPr sz="120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浪潮 / 超云 / 新华三 / 曙光 大量落地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长城 / 中科曙光 等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技术演进路线</a:t>
                      </a:r>
                      <a:endParaRPr sz="120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海光 3/4/5 代路线清晰，性能持续提升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飞腾 S2500 / 5000C 持续迭代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信创名录</a:t>
                      </a:r>
                      <a:endParaRPr sz="120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在册</a:t>
                      </a:r>
                      <a:endParaRPr lang="zh-CN"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在册</a:t>
                      </a:r>
                      <a:endParaRPr sz="1200" b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8000" marR="18000" marT="18000" marB="18000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pic>
        <p:nvPicPr>
          <p:cNvPr id="4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9626600" y="-284480"/>
            <a:ext cx="2668270" cy="1647190"/>
          </a:xfrm>
          <a:prstGeom prst="rect">
            <a:avLst/>
          </a:prstGeom>
          <a:ln>
            <a:noFill/>
          </a:ln>
        </p:spPr>
      </p:pic>
      <p:pic>
        <p:nvPicPr>
          <p:cNvPr id="41" name="footer-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9264650" y="6574790"/>
            <a:ext cx="935990" cy="170180"/>
          </a:xfrm>
          <a:prstGeom prst="rect">
            <a:avLst/>
          </a:prstGeom>
          <a:ln>
            <a:noFill/>
          </a:ln>
        </p:spPr>
      </p:pic>
      <p:sp>
        <p:nvSpPr>
          <p:cNvPr id="42" name="footer-text"/>
          <p:cNvSpPr txBox="1"/>
          <p:nvPr/>
        </p:nvSpPr>
        <p:spPr>
          <a:xfrm>
            <a:off x="10219690" y="6551930"/>
            <a:ext cx="1974850" cy="185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长沙湘计海盾科技有限公司</a:t>
            </a:r>
            <a:endParaRPr lang="en-US" sz="1200" noProof="1"/>
          </a:p>
        </p:txBody>
      </p:sp>
      <p:sp>
        <p:nvSpPr>
          <p:cNvPr id="34" name="head-line"/>
          <p:cNvSpPr/>
          <p:nvPr/>
        </p:nvSpPr>
        <p:spPr>
          <a:xfrm>
            <a:off x="711200" y="873760"/>
            <a:ext cx="10807700" cy="12700"/>
          </a:xfrm>
          <a:custGeom>
            <a:avLst/>
            <a:gdLst/>
            <a:ahLst/>
            <a:cxnLst/>
            <a:rect l="l" t="t" r="r" b="b"/>
            <a:pathLst>
              <a:path w="851" h="1">
                <a:moveTo>
                  <a:pt x="0" y="1"/>
                </a:moveTo>
                <a:lnTo>
                  <a:pt x="851" y="1"/>
                </a:lnTo>
              </a:path>
            </a:pathLst>
          </a:custGeom>
          <a:noFill/>
          <a:ln w="12700" cap="rnd">
            <a:solidFill>
              <a:srgbClr val="333333"/>
            </a:solidFill>
            <a:round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1270" y="7620"/>
            <a:ext cx="12192000" cy="685673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9626600" y="-284480"/>
            <a:ext cx="2668270" cy="1647190"/>
          </a:xfrm>
          <a:prstGeom prst="rect">
            <a:avLst/>
          </a:prstGeom>
          <a:ln>
            <a:noFill/>
          </a:ln>
        </p:spPr>
      </p:pic>
      <p:sp>
        <p:nvSpPr>
          <p:cNvPr id="4" name="red-block"/>
          <p:cNvSpPr/>
          <p:nvPr/>
        </p:nvSpPr>
        <p:spPr>
          <a:xfrm>
            <a:off x="-3810" y="632460"/>
            <a:ext cx="403860" cy="276860"/>
          </a:xfrm>
          <a:prstGeom prst="rect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6" name="page-title"/>
          <p:cNvSpPr txBox="1"/>
          <p:nvPr/>
        </p:nvSpPr>
        <p:spPr>
          <a:xfrm>
            <a:off x="821690" y="285750"/>
            <a:ext cx="8890000" cy="461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E50011"/>
                </a:solidFill>
                <a:latin typeface="Noto Sans SC" panose="020B0200000000000000" charset="-122"/>
                <a:ea typeface="Noto Sans SC" panose="020B0200000000000000" charset="-122"/>
              </a:rPr>
              <a:t>一、现状与趋势：全球军事智能化加速演进</a:t>
            </a:r>
            <a:endParaRPr lang="en-US" sz="3000" noProof="1"/>
          </a:p>
        </p:txBody>
      </p:sp>
      <p:sp>
        <p:nvSpPr>
          <p:cNvPr id="7" name="lead"/>
          <p:cNvSpPr txBox="1"/>
          <p:nvPr/>
        </p:nvSpPr>
        <p:spPr>
          <a:xfrm>
            <a:off x="821690" y="1041400"/>
            <a:ext cx="10795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算力已成为与火力、机动性并列的第三大战斗力要素，制胜逻辑转向"决策中心战"</a:t>
            </a:r>
            <a:endParaRPr lang="en-US" sz="1900" noProof="1"/>
          </a:p>
        </p:txBody>
      </p:sp>
      <p:sp>
        <p:nvSpPr>
          <p:cNvPr id="8" name="evo1"/>
          <p:cNvSpPr/>
          <p:nvPr/>
        </p:nvSpPr>
        <p:spPr>
          <a:xfrm>
            <a:off x="508000" y="1651000"/>
            <a:ext cx="3556000" cy="609600"/>
          </a:xfrm>
          <a:prstGeom prst="homePlate">
            <a:avLst>
              <a:gd name="adj" fmla="val 25000"/>
            </a:avLst>
          </a:prstGeom>
          <a:solidFill>
            <a:srgbClr val="F79AA0"/>
          </a:solidFill>
          <a:ln>
            <a:noFill/>
          </a:ln>
        </p:spPr>
      </p:sp>
      <p:sp>
        <p:nvSpPr>
          <p:cNvPr id="9" name="evo1-text"/>
          <p:cNvSpPr txBox="1"/>
          <p:nvPr/>
        </p:nvSpPr>
        <p:spPr>
          <a:xfrm>
            <a:off x="558800" y="1651000"/>
            <a:ext cx="3175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机械化战争 · 平台性能为王</a:t>
            </a:r>
            <a:endParaRPr lang="en-US" sz="1300" noProof="1"/>
          </a:p>
        </p:txBody>
      </p:sp>
      <p:sp>
        <p:nvSpPr>
          <p:cNvPr id="10" name="evo2"/>
          <p:cNvSpPr/>
          <p:nvPr/>
        </p:nvSpPr>
        <p:spPr>
          <a:xfrm>
            <a:off x="4318000" y="1651000"/>
            <a:ext cx="3556000" cy="609600"/>
          </a:xfrm>
          <a:prstGeom prst="chevron">
            <a:avLst>
              <a:gd name="adj" fmla="val 25000"/>
            </a:avLst>
          </a:prstGeom>
          <a:solidFill>
            <a:srgbClr val="F03342"/>
          </a:solidFill>
          <a:ln>
            <a:noFill/>
          </a:ln>
        </p:spPr>
      </p:sp>
      <p:sp>
        <p:nvSpPr>
          <p:cNvPr id="11" name="evo2-text"/>
          <p:cNvSpPr txBox="1"/>
          <p:nvPr/>
        </p:nvSpPr>
        <p:spPr>
          <a:xfrm>
            <a:off x="4470400" y="1651000"/>
            <a:ext cx="3175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信息化战争 · 信息网络主导</a:t>
            </a:r>
            <a:endParaRPr lang="en-US" sz="1300" noProof="1"/>
          </a:p>
        </p:txBody>
      </p:sp>
      <p:sp>
        <p:nvSpPr>
          <p:cNvPr id="12" name="evo3"/>
          <p:cNvSpPr/>
          <p:nvPr/>
        </p:nvSpPr>
        <p:spPr>
          <a:xfrm>
            <a:off x="8128000" y="1651000"/>
            <a:ext cx="3556000" cy="609600"/>
          </a:xfrm>
          <a:prstGeom prst="chevron">
            <a:avLst>
              <a:gd name="adj" fmla="val 25000"/>
            </a:avLst>
          </a:prstGeom>
          <a:solidFill>
            <a:srgbClr val="B3000C"/>
          </a:solidFill>
          <a:ln>
            <a:noFill/>
          </a:ln>
        </p:spPr>
      </p:sp>
      <p:sp>
        <p:nvSpPr>
          <p:cNvPr id="13" name="evo3-text"/>
          <p:cNvSpPr txBox="1"/>
          <p:nvPr/>
        </p:nvSpPr>
        <p:spPr>
          <a:xfrm>
            <a:off x="8280400" y="1651000"/>
            <a:ext cx="3175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智能化战争 · 算力驱动决策</a:t>
            </a:r>
            <a:endParaRPr lang="en-US" sz="1300" noProof="1"/>
          </a:p>
        </p:txBody>
      </p:sp>
      <p:sp>
        <p:nvSpPr>
          <p:cNvPr id="14" name="panel1"/>
          <p:cNvSpPr/>
          <p:nvPr/>
        </p:nvSpPr>
        <p:spPr>
          <a:xfrm>
            <a:off x="508000" y="2514600"/>
            <a:ext cx="5461000" cy="294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15" name="panel1-bar"/>
          <p:cNvSpPr/>
          <p:nvPr/>
        </p:nvSpPr>
        <p:spPr>
          <a:xfrm>
            <a:off x="787400" y="2794000"/>
            <a:ext cx="76200" cy="304800"/>
          </a:xfrm>
          <a:prstGeom prst="rect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16" name="panel1-title"/>
          <p:cNvSpPr txBox="1"/>
          <p:nvPr/>
        </p:nvSpPr>
        <p:spPr>
          <a:xfrm>
            <a:off x="1016000" y="27686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实战验证：决策速度成胜负手</a:t>
            </a:r>
            <a:endParaRPr lang="en-US" sz="1700" noProof="1"/>
          </a:p>
        </p:txBody>
      </p:sp>
      <p:sp>
        <p:nvSpPr>
          <p:cNvPr id="17" name="panel1-body"/>
          <p:cNvSpPr txBox="1"/>
          <p:nvPr/>
        </p:nvSpPr>
        <p:spPr>
          <a:xfrm>
            <a:off x="787400" y="3276600"/>
            <a:ext cx="4902200" cy="198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俄乌等冲突验证分布式、抗毁伤算力的实战决定性作用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美军GenAI.mil为超300万军事人员提供智能服务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指挥周期由多日级压缩至小时甚至分钟级</a:t>
            </a:r>
            <a:endParaRPr lang="en-US" sz="1300" noProof="1"/>
          </a:p>
        </p:txBody>
      </p:sp>
      <p:sp>
        <p:nvSpPr>
          <p:cNvPr id="18" name="panel2"/>
          <p:cNvSpPr/>
          <p:nvPr/>
        </p:nvSpPr>
        <p:spPr>
          <a:xfrm>
            <a:off x="6223000" y="2514600"/>
            <a:ext cx="5461000" cy="294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19" name="panel2-bar"/>
          <p:cNvSpPr/>
          <p:nvPr/>
        </p:nvSpPr>
        <p:spPr>
          <a:xfrm>
            <a:off x="6502400" y="2794000"/>
            <a:ext cx="76200" cy="304800"/>
          </a:xfrm>
          <a:prstGeom prst="rect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20" name="panel2-title"/>
          <p:cNvSpPr txBox="1"/>
          <p:nvPr/>
        </p:nvSpPr>
        <p:spPr>
          <a:xfrm>
            <a:off x="6731000" y="27686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杀伤链重构与太空算力崛起</a:t>
            </a:r>
            <a:endParaRPr lang="en-US" sz="1700" noProof="1"/>
          </a:p>
        </p:txBody>
      </p:sp>
      <p:sp>
        <p:nvSpPr>
          <p:cNvPr id="21" name="panel2-body"/>
          <p:cNvSpPr txBox="1"/>
          <p:nvPr/>
        </p:nvSpPr>
        <p:spPr>
          <a:xfrm>
            <a:off x="6502400" y="3276600"/>
            <a:ext cx="4902200" cy="198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线性杀伤链演变为动态"杀伤网"，闭合速度迈向毫秒级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"人脑+机脑"协作成为指挥控制核心范式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三体计算星座12星组网、整轨算力5POPS，太空算力成博弈新赛道</a:t>
            </a:r>
            <a:endParaRPr lang="en-US" sz="1300" noProof="1"/>
          </a:p>
        </p:txBody>
      </p:sp>
      <p:sp>
        <p:nvSpPr>
          <p:cNvPr id="22" name="bottom-note"/>
          <p:cNvSpPr txBox="1"/>
          <p:nvPr/>
        </p:nvSpPr>
        <p:spPr>
          <a:xfrm>
            <a:off x="821690" y="58674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以算力换时间、以数据换空间，</a:t>
            </a:r>
            <a:r>
              <a:rPr lang="en-US" sz="16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成为智能化战争形态的制胜关键</a:t>
            </a:r>
            <a:endParaRPr lang="en-US" sz="1600" noProof="1"/>
          </a:p>
        </p:txBody>
      </p:sp>
      <p:pic>
        <p:nvPicPr>
          <p:cNvPr id="41" name="footer-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9264650" y="6574790"/>
            <a:ext cx="935990" cy="170180"/>
          </a:xfrm>
          <a:prstGeom prst="rect">
            <a:avLst/>
          </a:prstGeom>
          <a:ln>
            <a:noFill/>
          </a:ln>
        </p:spPr>
      </p:pic>
      <p:sp>
        <p:nvSpPr>
          <p:cNvPr id="42" name="footer-text"/>
          <p:cNvSpPr txBox="1"/>
          <p:nvPr/>
        </p:nvSpPr>
        <p:spPr>
          <a:xfrm>
            <a:off x="10219690" y="6551930"/>
            <a:ext cx="1974850" cy="185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长沙湘计海盾科技有限公司</a:t>
            </a:r>
            <a:endParaRPr lang="en-US" sz="1200" noProof="1"/>
          </a:p>
        </p:txBody>
      </p:sp>
      <p:sp>
        <p:nvSpPr>
          <p:cNvPr id="34" name="head-line"/>
          <p:cNvSpPr/>
          <p:nvPr/>
        </p:nvSpPr>
        <p:spPr>
          <a:xfrm>
            <a:off x="711200" y="1016000"/>
            <a:ext cx="10807700" cy="12700"/>
          </a:xfrm>
          <a:custGeom>
            <a:avLst/>
            <a:gdLst/>
            <a:ahLst/>
            <a:cxnLst/>
            <a:rect l="l" t="t" r="r" b="b"/>
            <a:pathLst>
              <a:path w="851" h="1">
                <a:moveTo>
                  <a:pt x="0" y="1"/>
                </a:moveTo>
                <a:lnTo>
                  <a:pt x="851" y="1"/>
                </a:lnTo>
              </a:path>
            </a:pathLst>
          </a:custGeom>
          <a:noFill/>
          <a:ln w="12700" cap="rnd">
            <a:solidFill>
              <a:srgbClr val="333333"/>
            </a:solidFill>
            <a:round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1270" y="7620"/>
            <a:ext cx="12192000" cy="685673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9626600" y="-284480"/>
            <a:ext cx="2668270" cy="1647190"/>
          </a:xfrm>
          <a:prstGeom prst="rect">
            <a:avLst/>
          </a:prstGeom>
          <a:ln>
            <a:noFill/>
          </a:ln>
        </p:spPr>
      </p:pic>
      <p:sp>
        <p:nvSpPr>
          <p:cNvPr id="4" name="red-block"/>
          <p:cNvSpPr/>
          <p:nvPr/>
        </p:nvSpPr>
        <p:spPr>
          <a:xfrm>
            <a:off x="-3810" y="632460"/>
            <a:ext cx="403860" cy="276860"/>
          </a:xfrm>
          <a:prstGeom prst="rect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6" name="page-title"/>
          <p:cNvSpPr txBox="1"/>
          <p:nvPr/>
        </p:nvSpPr>
        <p:spPr>
          <a:xfrm>
            <a:off x="821690" y="285750"/>
            <a:ext cx="8890000" cy="461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E50011"/>
                </a:solidFill>
                <a:latin typeface="Noto Sans SC" panose="020B0200000000000000" charset="-122"/>
                <a:ea typeface="Noto Sans SC" panose="020B0200000000000000" charset="-122"/>
              </a:rPr>
              <a:t>一、现状与趋势：五大发展趋势</a:t>
            </a:r>
            <a:endParaRPr lang="en-US" sz="3000" noProof="1"/>
          </a:p>
        </p:txBody>
      </p:sp>
      <p:sp>
        <p:nvSpPr>
          <p:cNvPr id="7" name="lead"/>
          <p:cNvSpPr txBox="1"/>
          <p:nvPr/>
        </p:nvSpPr>
        <p:spPr>
          <a:xfrm>
            <a:off x="821690" y="1041400"/>
            <a:ext cx="10795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从单纯"算得快"转向超智融合、云边端协同与安全自主</a:t>
            </a:r>
            <a:endParaRPr lang="en-US" sz="1900" noProof="1"/>
          </a:p>
        </p:txBody>
      </p:sp>
      <p:sp>
        <p:nvSpPr>
          <p:cNvPr id="8" name="row1"/>
          <p:cNvSpPr/>
          <p:nvPr/>
        </p:nvSpPr>
        <p:spPr>
          <a:xfrm>
            <a:off x="508000" y="1600200"/>
            <a:ext cx="11176000" cy="711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9" name="row1-block"/>
          <p:cNvSpPr/>
          <p:nvPr/>
        </p:nvSpPr>
        <p:spPr>
          <a:xfrm>
            <a:off x="508000" y="1600200"/>
            <a:ext cx="660400" cy="711200"/>
          </a:xfrm>
          <a:prstGeom prst="roundRect">
            <a:avLst>
              <a:gd name="adj" fmla="val 10000"/>
            </a:avLst>
          </a:prstGeom>
          <a:solidFill>
            <a:srgbClr val="B3000C"/>
          </a:solidFill>
          <a:ln>
            <a:noFill/>
          </a:ln>
        </p:spPr>
      </p:sp>
      <p:sp>
        <p:nvSpPr>
          <p:cNvPr id="10" name="row1-num"/>
          <p:cNvSpPr txBox="1"/>
          <p:nvPr/>
        </p:nvSpPr>
        <p:spPr>
          <a:xfrm>
            <a:off x="508000" y="1600200"/>
            <a:ext cx="6604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01</a:t>
            </a:r>
            <a:endParaRPr lang="en-US" sz="1800" noProof="1"/>
          </a:p>
        </p:txBody>
      </p:sp>
      <p:sp>
        <p:nvSpPr>
          <p:cNvPr id="11" name="row1-title"/>
          <p:cNvSpPr txBox="1"/>
          <p:nvPr/>
        </p:nvSpPr>
        <p:spPr>
          <a:xfrm>
            <a:off x="1371600" y="1600200"/>
            <a:ext cx="1651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超智融合</a:t>
            </a:r>
            <a:endParaRPr lang="en-US" sz="1600" noProof="1"/>
          </a:p>
        </p:txBody>
      </p:sp>
      <p:sp>
        <p:nvSpPr>
          <p:cNvPr id="12" name="row1-desc"/>
          <p:cNvSpPr txBox="1"/>
          <p:nvPr/>
        </p:nvSpPr>
        <p:spPr>
          <a:xfrm>
            <a:off x="3149600" y="1600200"/>
            <a:ext cx="83312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科学计算与AI在同一系统内不再分家，全CPU融合路线登顶全球超算榜首</a:t>
            </a:r>
            <a:endParaRPr lang="en-US" sz="1300" noProof="1"/>
          </a:p>
        </p:txBody>
      </p:sp>
      <p:sp>
        <p:nvSpPr>
          <p:cNvPr id="13" name="row2"/>
          <p:cNvSpPr/>
          <p:nvPr/>
        </p:nvSpPr>
        <p:spPr>
          <a:xfrm>
            <a:off x="508000" y="2413000"/>
            <a:ext cx="11176000" cy="711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14" name="row2-block"/>
          <p:cNvSpPr/>
          <p:nvPr/>
        </p:nvSpPr>
        <p:spPr>
          <a:xfrm>
            <a:off x="508000" y="2413000"/>
            <a:ext cx="660400" cy="711200"/>
          </a:xfrm>
          <a:prstGeom prst="roundRect">
            <a:avLst>
              <a:gd name="adj" fmla="val 10000"/>
            </a:avLst>
          </a:prstGeom>
          <a:solidFill>
            <a:srgbClr val="E50011"/>
          </a:solidFill>
          <a:ln>
            <a:noFill/>
          </a:ln>
        </p:spPr>
      </p:sp>
      <p:sp>
        <p:nvSpPr>
          <p:cNvPr id="15" name="row2-num"/>
          <p:cNvSpPr txBox="1"/>
          <p:nvPr/>
        </p:nvSpPr>
        <p:spPr>
          <a:xfrm>
            <a:off x="508000" y="2413000"/>
            <a:ext cx="6604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02</a:t>
            </a:r>
            <a:endParaRPr lang="en-US" sz="1800" noProof="1"/>
          </a:p>
        </p:txBody>
      </p:sp>
      <p:sp>
        <p:nvSpPr>
          <p:cNvPr id="16" name="row2-title"/>
          <p:cNvSpPr txBox="1"/>
          <p:nvPr/>
        </p:nvSpPr>
        <p:spPr>
          <a:xfrm>
            <a:off x="1371600" y="2413000"/>
            <a:ext cx="1651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云边端一体</a:t>
            </a:r>
            <a:endParaRPr lang="en-US" sz="1600" noProof="1"/>
          </a:p>
        </p:txBody>
      </p:sp>
      <p:sp>
        <p:nvSpPr>
          <p:cNvPr id="17" name="row2-desc"/>
          <p:cNvSpPr txBox="1"/>
          <p:nvPr/>
        </p:nvSpPr>
        <p:spPr>
          <a:xfrm>
            <a:off x="3149600" y="2413000"/>
            <a:ext cx="83312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算力下沉至车辆、无人机等战术边缘，军事边缘计算市场CAGR达13.2%</a:t>
            </a:r>
            <a:endParaRPr lang="en-US" sz="1300" noProof="1"/>
          </a:p>
        </p:txBody>
      </p:sp>
      <p:sp>
        <p:nvSpPr>
          <p:cNvPr id="18" name="row3"/>
          <p:cNvSpPr/>
          <p:nvPr/>
        </p:nvSpPr>
        <p:spPr>
          <a:xfrm>
            <a:off x="508000" y="3225800"/>
            <a:ext cx="11176000" cy="711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19" name="row3-block"/>
          <p:cNvSpPr/>
          <p:nvPr/>
        </p:nvSpPr>
        <p:spPr>
          <a:xfrm>
            <a:off x="508000" y="3225800"/>
            <a:ext cx="660400" cy="711200"/>
          </a:xfrm>
          <a:prstGeom prst="roundRect">
            <a:avLst>
              <a:gd name="adj" fmla="val 10000"/>
            </a:avLst>
          </a:prstGeom>
          <a:solidFill>
            <a:srgbClr val="B3000C"/>
          </a:solidFill>
          <a:ln>
            <a:noFill/>
          </a:ln>
        </p:spPr>
      </p:sp>
      <p:sp>
        <p:nvSpPr>
          <p:cNvPr id="20" name="row3-num"/>
          <p:cNvSpPr txBox="1"/>
          <p:nvPr/>
        </p:nvSpPr>
        <p:spPr>
          <a:xfrm>
            <a:off x="508000" y="3225800"/>
            <a:ext cx="6604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03</a:t>
            </a:r>
            <a:endParaRPr lang="en-US" sz="1800" noProof="1"/>
          </a:p>
        </p:txBody>
      </p:sp>
      <p:sp>
        <p:nvSpPr>
          <p:cNvPr id="21" name="row3-title"/>
          <p:cNvSpPr txBox="1"/>
          <p:nvPr/>
        </p:nvSpPr>
        <p:spPr>
          <a:xfrm>
            <a:off x="1371600" y="3225800"/>
            <a:ext cx="1651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异构与集成</a:t>
            </a:r>
            <a:endParaRPr lang="en-US" sz="1600" noProof="1"/>
          </a:p>
        </p:txBody>
      </p:sp>
      <p:sp>
        <p:nvSpPr>
          <p:cNvPr id="22" name="row3-desc"/>
          <p:cNvSpPr txBox="1"/>
          <p:nvPr/>
        </p:nvSpPr>
        <p:spPr>
          <a:xfrm>
            <a:off x="3149600" y="3225800"/>
            <a:ext cx="83312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3D异构集成性能提升可达100倍，光子芯片天然抗电磁干扰、功耗极低</a:t>
            </a:r>
            <a:endParaRPr lang="en-US" sz="1300" noProof="1"/>
          </a:p>
        </p:txBody>
      </p:sp>
      <p:sp>
        <p:nvSpPr>
          <p:cNvPr id="23" name="row4"/>
          <p:cNvSpPr/>
          <p:nvPr/>
        </p:nvSpPr>
        <p:spPr>
          <a:xfrm>
            <a:off x="508000" y="4038600"/>
            <a:ext cx="11176000" cy="711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24" name="row4-block"/>
          <p:cNvSpPr/>
          <p:nvPr/>
        </p:nvSpPr>
        <p:spPr>
          <a:xfrm>
            <a:off x="508000" y="4038600"/>
            <a:ext cx="660400" cy="711200"/>
          </a:xfrm>
          <a:prstGeom prst="roundRect">
            <a:avLst>
              <a:gd name="adj" fmla="val 10000"/>
            </a:avLst>
          </a:prstGeom>
          <a:solidFill>
            <a:srgbClr val="E50011"/>
          </a:solidFill>
          <a:ln>
            <a:noFill/>
          </a:ln>
        </p:spPr>
      </p:sp>
      <p:sp>
        <p:nvSpPr>
          <p:cNvPr id="25" name="row4-num"/>
          <p:cNvSpPr txBox="1"/>
          <p:nvPr/>
        </p:nvSpPr>
        <p:spPr>
          <a:xfrm>
            <a:off x="508000" y="4038600"/>
            <a:ext cx="6604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04</a:t>
            </a:r>
            <a:endParaRPr lang="en-US" sz="1800" noProof="1"/>
          </a:p>
        </p:txBody>
      </p:sp>
      <p:sp>
        <p:nvSpPr>
          <p:cNvPr id="26" name="row4-title"/>
          <p:cNvSpPr txBox="1"/>
          <p:nvPr/>
        </p:nvSpPr>
        <p:spPr>
          <a:xfrm>
            <a:off x="1371600" y="4038600"/>
            <a:ext cx="1651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安全与自主</a:t>
            </a:r>
            <a:endParaRPr lang="en-US" sz="1600" noProof="1"/>
          </a:p>
        </p:txBody>
      </p:sp>
      <p:sp>
        <p:nvSpPr>
          <p:cNvPr id="27" name="row4-desc"/>
          <p:cNvSpPr txBox="1"/>
          <p:nvPr/>
        </p:nvSpPr>
        <p:spPr>
          <a:xfrm>
            <a:off x="3149600" y="4038600"/>
            <a:ext cx="83312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供应链安全成采购核心考量，各国国产化率门槛持续提升</a:t>
            </a:r>
            <a:endParaRPr lang="en-US" sz="1300" noProof="1"/>
          </a:p>
        </p:txBody>
      </p:sp>
      <p:sp>
        <p:nvSpPr>
          <p:cNvPr id="28" name="row5"/>
          <p:cNvSpPr/>
          <p:nvPr/>
        </p:nvSpPr>
        <p:spPr>
          <a:xfrm>
            <a:off x="508000" y="4851400"/>
            <a:ext cx="11176000" cy="711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29" name="row5-block"/>
          <p:cNvSpPr/>
          <p:nvPr/>
        </p:nvSpPr>
        <p:spPr>
          <a:xfrm>
            <a:off x="508000" y="4851400"/>
            <a:ext cx="660400" cy="711200"/>
          </a:xfrm>
          <a:prstGeom prst="roundRect">
            <a:avLst>
              <a:gd name="adj" fmla="val 10000"/>
            </a:avLst>
          </a:prstGeom>
          <a:solidFill>
            <a:srgbClr val="B3000C"/>
          </a:solidFill>
          <a:ln>
            <a:noFill/>
          </a:ln>
        </p:spPr>
      </p:sp>
      <p:sp>
        <p:nvSpPr>
          <p:cNvPr id="30" name="row5-num"/>
          <p:cNvSpPr txBox="1"/>
          <p:nvPr/>
        </p:nvSpPr>
        <p:spPr>
          <a:xfrm>
            <a:off x="508000" y="4851400"/>
            <a:ext cx="6604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05</a:t>
            </a:r>
            <a:endParaRPr lang="en-US" sz="1800" noProof="1"/>
          </a:p>
        </p:txBody>
      </p:sp>
      <p:sp>
        <p:nvSpPr>
          <p:cNvPr id="31" name="row5-title"/>
          <p:cNvSpPr txBox="1"/>
          <p:nvPr/>
        </p:nvSpPr>
        <p:spPr>
          <a:xfrm>
            <a:off x="1371600" y="4851400"/>
            <a:ext cx="1651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应用牵引</a:t>
            </a:r>
            <a:endParaRPr lang="en-US" sz="1600" noProof="1"/>
          </a:p>
        </p:txBody>
      </p:sp>
      <p:sp>
        <p:nvSpPr>
          <p:cNvPr id="32" name="row5-desc"/>
          <p:cNvSpPr txBox="1"/>
          <p:nvPr/>
        </p:nvSpPr>
        <p:spPr>
          <a:xfrm>
            <a:off x="3149600" y="4851400"/>
            <a:ext cx="83312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从"算力供给"转向"战斗力生成"，算力、算法、数据协同供给</a:t>
            </a:r>
            <a:endParaRPr lang="en-US" sz="1300" noProof="1"/>
          </a:p>
        </p:txBody>
      </p:sp>
      <p:sp>
        <p:nvSpPr>
          <p:cNvPr id="33" name="bottom-note"/>
          <p:cNvSpPr txBox="1"/>
          <p:nvPr/>
        </p:nvSpPr>
        <p:spPr>
          <a:xfrm>
            <a:off x="821690" y="58674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竞争焦点转向</a:t>
            </a:r>
            <a:r>
              <a:rPr lang="en-US" sz="16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数据搬移效率、能效比与系统可扩展性</a:t>
            </a:r>
            <a:r>
              <a:rPr lang="en-US" sz="16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的综合博弈</a:t>
            </a:r>
            <a:endParaRPr lang="en-US" sz="1600" noProof="1"/>
          </a:p>
        </p:txBody>
      </p:sp>
      <p:pic>
        <p:nvPicPr>
          <p:cNvPr id="41" name="footer-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9264650" y="6574790"/>
            <a:ext cx="935990" cy="170180"/>
          </a:xfrm>
          <a:prstGeom prst="rect">
            <a:avLst/>
          </a:prstGeom>
          <a:ln>
            <a:noFill/>
          </a:ln>
        </p:spPr>
      </p:pic>
      <p:sp>
        <p:nvSpPr>
          <p:cNvPr id="42" name="footer-text"/>
          <p:cNvSpPr txBox="1"/>
          <p:nvPr/>
        </p:nvSpPr>
        <p:spPr>
          <a:xfrm>
            <a:off x="10219690" y="6551930"/>
            <a:ext cx="1974850" cy="185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长沙湘计海盾科技有限公司</a:t>
            </a:r>
            <a:endParaRPr lang="en-US" sz="1200" noProof="1"/>
          </a:p>
        </p:txBody>
      </p:sp>
      <p:sp>
        <p:nvSpPr>
          <p:cNvPr id="34" name="head-line"/>
          <p:cNvSpPr/>
          <p:nvPr/>
        </p:nvSpPr>
        <p:spPr>
          <a:xfrm>
            <a:off x="711200" y="1016000"/>
            <a:ext cx="10807700" cy="12700"/>
          </a:xfrm>
          <a:custGeom>
            <a:avLst/>
            <a:gdLst/>
            <a:ahLst/>
            <a:cxnLst/>
            <a:rect l="l" t="t" r="r" b="b"/>
            <a:pathLst>
              <a:path w="851" h="1">
                <a:moveTo>
                  <a:pt x="0" y="1"/>
                </a:moveTo>
                <a:lnTo>
                  <a:pt x="851" y="1"/>
                </a:lnTo>
              </a:path>
            </a:pathLst>
          </a:custGeom>
          <a:noFill/>
          <a:ln w="12700" cap="rnd">
            <a:solidFill>
              <a:srgbClr val="333333"/>
            </a:solidFill>
            <a:round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1270" y="7620"/>
            <a:ext cx="12192000" cy="685673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9626600" y="-284480"/>
            <a:ext cx="2668270" cy="1647190"/>
          </a:xfrm>
          <a:prstGeom prst="rect">
            <a:avLst/>
          </a:prstGeom>
          <a:ln>
            <a:noFill/>
          </a:ln>
        </p:spPr>
      </p:pic>
      <p:sp>
        <p:nvSpPr>
          <p:cNvPr id="4" name="red-block"/>
          <p:cNvSpPr/>
          <p:nvPr/>
        </p:nvSpPr>
        <p:spPr>
          <a:xfrm>
            <a:off x="-3810" y="632460"/>
            <a:ext cx="403860" cy="276860"/>
          </a:xfrm>
          <a:prstGeom prst="rect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6" name="page-title"/>
          <p:cNvSpPr txBox="1"/>
          <p:nvPr/>
        </p:nvSpPr>
        <p:spPr>
          <a:xfrm>
            <a:off x="821690" y="285750"/>
            <a:ext cx="8890000" cy="461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E50011"/>
                </a:solidFill>
                <a:latin typeface="Noto Sans SC" panose="020B0200000000000000" charset="-122"/>
                <a:ea typeface="Noto Sans SC" panose="020B0200000000000000" charset="-122"/>
              </a:rPr>
              <a:t>二、发展需求：四大刚性需求</a:t>
            </a:r>
            <a:endParaRPr lang="en-US" sz="3000" noProof="1"/>
          </a:p>
        </p:txBody>
      </p:sp>
      <p:sp>
        <p:nvSpPr>
          <p:cNvPr id="7" name="lead"/>
          <p:cNvSpPr txBox="1"/>
          <p:nvPr/>
        </p:nvSpPr>
        <p:spPr>
          <a:xfrm>
            <a:off x="821690" y="1041400"/>
            <a:ext cx="10795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国家战略、作战体系、技术迭代、装备更新共同构成最直接、最刚性的需求来源</a:t>
            </a:r>
            <a:endParaRPr lang="en-US" sz="1900" noProof="1"/>
          </a:p>
        </p:txBody>
      </p:sp>
      <p:sp>
        <p:nvSpPr>
          <p:cNvPr id="8" name="card1"/>
          <p:cNvSpPr/>
          <p:nvPr/>
        </p:nvSpPr>
        <p:spPr>
          <a:xfrm>
            <a:off x="508000" y="1651000"/>
            <a:ext cx="5461000" cy="1879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9" name="card1-bar"/>
          <p:cNvSpPr/>
          <p:nvPr/>
        </p:nvSpPr>
        <p:spPr>
          <a:xfrm>
            <a:off x="508000" y="1803400"/>
            <a:ext cx="76200" cy="1574800"/>
          </a:xfrm>
          <a:prstGeom prst="rect">
            <a:avLst/>
          </a:prstGeom>
          <a:solidFill>
            <a:srgbClr val="B3000C"/>
          </a:solidFill>
          <a:ln>
            <a:noFill/>
          </a:ln>
        </p:spPr>
      </p:sp>
      <p:sp>
        <p:nvSpPr>
          <p:cNvPr id="10" name="card1-wm"/>
          <p:cNvSpPr txBox="1"/>
          <p:nvPr/>
        </p:nvSpPr>
        <p:spPr>
          <a:xfrm>
            <a:off x="4775200" y="1727200"/>
            <a:ext cx="1016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4000" b="1" noProof="1">
                <a:solidFill>
                  <a:srgbClr val="F5C6CA"/>
                </a:solidFill>
                <a:latin typeface="Arial" panose="020B0604020202020204"/>
                <a:ea typeface="Arial" panose="020B0604020202020204"/>
              </a:rPr>
              <a:t>01</a:t>
            </a:r>
            <a:endParaRPr lang="en-US" sz="4000" noProof="1"/>
          </a:p>
        </p:txBody>
      </p:sp>
      <p:sp>
        <p:nvSpPr>
          <p:cNvPr id="11" name="card1-title"/>
          <p:cNvSpPr txBox="1"/>
          <p:nvPr/>
        </p:nvSpPr>
        <p:spPr>
          <a:xfrm>
            <a:off x="812800" y="18288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国家战略落地</a:t>
            </a:r>
            <a:endParaRPr lang="en-US" sz="1700" noProof="1"/>
          </a:p>
        </p:txBody>
      </p:sp>
      <p:sp>
        <p:nvSpPr>
          <p:cNvPr id="12" name="card1-body"/>
          <p:cNvSpPr txBox="1"/>
          <p:nvPr/>
        </p:nvSpPr>
        <p:spPr>
          <a:xfrm>
            <a:off x="812800" y="2286000"/>
            <a:ext cx="4826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· "三化"融合发展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· 构建智能化军事体系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· 建军一百年奋斗目标</a:t>
            </a:r>
            <a:endParaRPr lang="en-US" sz="1250" noProof="1"/>
          </a:p>
        </p:txBody>
      </p:sp>
      <p:sp>
        <p:nvSpPr>
          <p:cNvPr id="13" name="card2"/>
          <p:cNvSpPr/>
          <p:nvPr/>
        </p:nvSpPr>
        <p:spPr>
          <a:xfrm>
            <a:off x="6223000" y="1651000"/>
            <a:ext cx="5461000" cy="1879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14" name="card2-bar"/>
          <p:cNvSpPr/>
          <p:nvPr/>
        </p:nvSpPr>
        <p:spPr>
          <a:xfrm>
            <a:off x="6223000" y="1803400"/>
            <a:ext cx="76200" cy="1574800"/>
          </a:xfrm>
          <a:prstGeom prst="rect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15" name="card2-wm"/>
          <p:cNvSpPr txBox="1"/>
          <p:nvPr/>
        </p:nvSpPr>
        <p:spPr>
          <a:xfrm>
            <a:off x="10490200" y="1727200"/>
            <a:ext cx="1016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4000" b="1" noProof="1">
                <a:solidFill>
                  <a:srgbClr val="F5C6CA"/>
                </a:solidFill>
                <a:latin typeface="Arial" panose="020B0604020202020204"/>
                <a:ea typeface="Arial" panose="020B0604020202020204"/>
              </a:rPr>
              <a:t>02</a:t>
            </a:r>
            <a:endParaRPr lang="en-US" sz="4000" noProof="1"/>
          </a:p>
        </p:txBody>
      </p:sp>
      <p:sp>
        <p:nvSpPr>
          <p:cNvPr id="16" name="card2-title"/>
          <p:cNvSpPr txBox="1"/>
          <p:nvPr/>
        </p:nvSpPr>
        <p:spPr>
          <a:xfrm>
            <a:off x="6527800" y="18288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作战体系升级</a:t>
            </a:r>
            <a:endParaRPr lang="en-US" sz="1700" noProof="1"/>
          </a:p>
        </p:txBody>
      </p:sp>
      <p:sp>
        <p:nvSpPr>
          <p:cNvPr id="17" name="card2-body"/>
          <p:cNvSpPr txBox="1"/>
          <p:nvPr/>
        </p:nvSpPr>
        <p:spPr>
          <a:xfrm>
            <a:off x="6527800" y="2286000"/>
            <a:ext cx="4826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· 算力化、无人化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· 全域化、智能化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· 体系融合成常态</a:t>
            </a:r>
            <a:endParaRPr lang="en-US" sz="1250" noProof="1"/>
          </a:p>
        </p:txBody>
      </p:sp>
      <p:sp>
        <p:nvSpPr>
          <p:cNvPr id="18" name="card3"/>
          <p:cNvSpPr/>
          <p:nvPr/>
        </p:nvSpPr>
        <p:spPr>
          <a:xfrm>
            <a:off x="508000" y="3733800"/>
            <a:ext cx="5461000" cy="1879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19" name="card3-bar"/>
          <p:cNvSpPr/>
          <p:nvPr/>
        </p:nvSpPr>
        <p:spPr>
          <a:xfrm>
            <a:off x="508000" y="3886200"/>
            <a:ext cx="76200" cy="1574800"/>
          </a:xfrm>
          <a:prstGeom prst="rect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20" name="card3-wm"/>
          <p:cNvSpPr txBox="1"/>
          <p:nvPr/>
        </p:nvSpPr>
        <p:spPr>
          <a:xfrm>
            <a:off x="4775200" y="3810000"/>
            <a:ext cx="1016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4000" b="1" noProof="1">
                <a:solidFill>
                  <a:srgbClr val="F5C6CA"/>
                </a:solidFill>
                <a:latin typeface="Arial" panose="020B0604020202020204"/>
                <a:ea typeface="Arial" panose="020B0604020202020204"/>
              </a:rPr>
              <a:t>03</a:t>
            </a:r>
            <a:endParaRPr lang="en-US" sz="4000" noProof="1"/>
          </a:p>
        </p:txBody>
      </p:sp>
      <p:sp>
        <p:nvSpPr>
          <p:cNvPr id="21" name="card3-title"/>
          <p:cNvSpPr txBox="1"/>
          <p:nvPr/>
        </p:nvSpPr>
        <p:spPr>
          <a:xfrm>
            <a:off x="812800" y="39116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技术体系迭代</a:t>
            </a:r>
            <a:endParaRPr lang="en-US" sz="1700" noProof="1"/>
          </a:p>
        </p:txBody>
      </p:sp>
      <p:sp>
        <p:nvSpPr>
          <p:cNvPr id="22" name="card3-body"/>
          <p:cNvSpPr txBox="1"/>
          <p:nvPr/>
        </p:nvSpPr>
        <p:spPr>
          <a:xfrm>
            <a:off x="812800" y="4368800"/>
            <a:ext cx="4826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· 算力迈向千TOPS级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· 异构计算成主流架构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· 自主可控从可用到好用</a:t>
            </a:r>
            <a:endParaRPr lang="en-US" sz="1250" noProof="1"/>
          </a:p>
        </p:txBody>
      </p:sp>
      <p:sp>
        <p:nvSpPr>
          <p:cNvPr id="23" name="card4"/>
          <p:cNvSpPr/>
          <p:nvPr/>
        </p:nvSpPr>
        <p:spPr>
          <a:xfrm>
            <a:off x="6223000" y="3733800"/>
            <a:ext cx="5461000" cy="1879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24" name="card4-bar"/>
          <p:cNvSpPr/>
          <p:nvPr/>
        </p:nvSpPr>
        <p:spPr>
          <a:xfrm>
            <a:off x="6223000" y="3886200"/>
            <a:ext cx="76200" cy="1574800"/>
          </a:xfrm>
          <a:prstGeom prst="rect">
            <a:avLst/>
          </a:prstGeom>
          <a:solidFill>
            <a:srgbClr val="B3000C"/>
          </a:solidFill>
          <a:ln>
            <a:noFill/>
          </a:ln>
        </p:spPr>
      </p:sp>
      <p:sp>
        <p:nvSpPr>
          <p:cNvPr id="25" name="card4-wm"/>
          <p:cNvSpPr txBox="1"/>
          <p:nvPr/>
        </p:nvSpPr>
        <p:spPr>
          <a:xfrm>
            <a:off x="10490200" y="3810000"/>
            <a:ext cx="1016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4000" b="1" noProof="1">
                <a:solidFill>
                  <a:srgbClr val="F5C6CA"/>
                </a:solidFill>
                <a:latin typeface="Arial" panose="020B0604020202020204"/>
                <a:ea typeface="Arial" panose="020B0604020202020204"/>
              </a:rPr>
              <a:t>04</a:t>
            </a:r>
            <a:endParaRPr lang="en-US" sz="4000" noProof="1"/>
          </a:p>
        </p:txBody>
      </p:sp>
      <p:sp>
        <p:nvSpPr>
          <p:cNvPr id="26" name="card4-title"/>
          <p:cNvSpPr txBox="1"/>
          <p:nvPr/>
        </p:nvSpPr>
        <p:spPr>
          <a:xfrm>
            <a:off x="6527800" y="39116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装备迭代更新</a:t>
            </a:r>
            <a:endParaRPr lang="en-US" sz="1700" noProof="1"/>
          </a:p>
        </p:txBody>
      </p:sp>
      <p:sp>
        <p:nvSpPr>
          <p:cNvPr id="27" name="card4-body"/>
          <p:cNvSpPr txBox="1"/>
          <p:nvPr/>
        </p:nvSpPr>
        <p:spPr>
          <a:xfrm>
            <a:off x="6527800" y="4368800"/>
            <a:ext cx="4826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· 在役装备"换脑"改造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· 新型装备列装最大增量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· 无人装备需求爆发增长</a:t>
            </a:r>
            <a:endParaRPr lang="en-US" sz="1250" noProof="1"/>
          </a:p>
        </p:txBody>
      </p:sp>
      <p:sp>
        <p:nvSpPr>
          <p:cNvPr id="28" name="bottom-note"/>
          <p:cNvSpPr txBox="1"/>
          <p:nvPr/>
        </p:nvSpPr>
        <p:spPr>
          <a:xfrm>
            <a:off x="821690" y="58674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面向部队作战场景的</a:t>
            </a:r>
            <a:r>
              <a:rPr lang="en-US" sz="16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专用定制化算力解决方案</a:t>
            </a:r>
            <a:r>
              <a:rPr lang="en-US" sz="16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是本领域应当抢占的核心市场</a:t>
            </a:r>
            <a:endParaRPr lang="en-US" sz="1600" noProof="1"/>
          </a:p>
        </p:txBody>
      </p:sp>
      <p:pic>
        <p:nvPicPr>
          <p:cNvPr id="41" name="footer-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9264650" y="6574790"/>
            <a:ext cx="935990" cy="170180"/>
          </a:xfrm>
          <a:prstGeom prst="rect">
            <a:avLst/>
          </a:prstGeom>
          <a:ln>
            <a:noFill/>
          </a:ln>
        </p:spPr>
      </p:pic>
      <p:sp>
        <p:nvSpPr>
          <p:cNvPr id="42" name="footer-text"/>
          <p:cNvSpPr txBox="1"/>
          <p:nvPr/>
        </p:nvSpPr>
        <p:spPr>
          <a:xfrm>
            <a:off x="10219690" y="6551930"/>
            <a:ext cx="1974850" cy="185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长沙湘计海盾科技有限公司</a:t>
            </a:r>
            <a:endParaRPr lang="en-US" sz="1200" noProof="1"/>
          </a:p>
        </p:txBody>
      </p:sp>
      <p:sp>
        <p:nvSpPr>
          <p:cNvPr id="34" name="head-line"/>
          <p:cNvSpPr/>
          <p:nvPr/>
        </p:nvSpPr>
        <p:spPr>
          <a:xfrm>
            <a:off x="711200" y="1016000"/>
            <a:ext cx="10807700" cy="12700"/>
          </a:xfrm>
          <a:custGeom>
            <a:avLst/>
            <a:gdLst/>
            <a:ahLst/>
            <a:cxnLst/>
            <a:rect l="l" t="t" r="r" b="b"/>
            <a:pathLst>
              <a:path w="851" h="1">
                <a:moveTo>
                  <a:pt x="0" y="1"/>
                </a:moveTo>
                <a:lnTo>
                  <a:pt x="851" y="1"/>
                </a:lnTo>
              </a:path>
            </a:pathLst>
          </a:custGeom>
          <a:noFill/>
          <a:ln w="12700" cap="rnd">
            <a:solidFill>
              <a:srgbClr val="333333"/>
            </a:solidFill>
            <a:round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1270" y="7620"/>
            <a:ext cx="12192000" cy="685673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9626600" y="-284480"/>
            <a:ext cx="2668270" cy="1647190"/>
          </a:xfrm>
          <a:prstGeom prst="rect">
            <a:avLst/>
          </a:prstGeom>
          <a:ln>
            <a:noFill/>
          </a:ln>
        </p:spPr>
      </p:pic>
      <p:sp>
        <p:nvSpPr>
          <p:cNvPr id="4" name="red-block"/>
          <p:cNvSpPr/>
          <p:nvPr/>
        </p:nvSpPr>
        <p:spPr>
          <a:xfrm>
            <a:off x="-3810" y="632460"/>
            <a:ext cx="403860" cy="276860"/>
          </a:xfrm>
          <a:prstGeom prst="rect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6" name="page-title"/>
          <p:cNvSpPr txBox="1"/>
          <p:nvPr/>
        </p:nvSpPr>
        <p:spPr>
          <a:xfrm>
            <a:off x="821690" y="285750"/>
            <a:ext cx="8890000" cy="461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E50011"/>
                </a:solidFill>
                <a:latin typeface="Noto Sans SC" panose="020B0200000000000000" charset="-122"/>
                <a:ea typeface="Noto Sans SC" panose="020B0200000000000000" charset="-122"/>
              </a:rPr>
              <a:t>二、发展需求：市场空间与专项窗口</a:t>
            </a:r>
            <a:endParaRPr lang="en-US" sz="3000" noProof="1"/>
          </a:p>
        </p:txBody>
      </p:sp>
      <p:sp>
        <p:nvSpPr>
          <p:cNvPr id="7" name="lead"/>
          <p:cNvSpPr txBox="1"/>
          <p:nvPr/>
        </p:nvSpPr>
        <p:spPr>
          <a:xfrm>
            <a:off x="821690" y="1041400"/>
            <a:ext cx="10795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"十五五"期间中国军用计算相关市场增量空间预计200—300亿元级别</a:t>
            </a:r>
            <a:endParaRPr lang="en-US" sz="1900" noProof="1"/>
          </a:p>
        </p:txBody>
      </p:sp>
      <p:sp>
        <p:nvSpPr>
          <p:cNvPr id="8" name="stat-panel"/>
          <p:cNvSpPr/>
          <p:nvPr/>
        </p:nvSpPr>
        <p:spPr>
          <a:xfrm>
            <a:off x="508000" y="1651000"/>
            <a:ext cx="38100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9" name="stat1-num"/>
          <p:cNvSpPr txBox="1"/>
          <p:nvPr/>
        </p:nvSpPr>
        <p:spPr>
          <a:xfrm>
            <a:off x="812800" y="1930400"/>
            <a:ext cx="3200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7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171.3亿美元</a:t>
            </a:r>
            <a:endParaRPr lang="en-US" sz="2700" noProof="1"/>
          </a:p>
        </p:txBody>
      </p:sp>
      <p:sp>
        <p:nvSpPr>
          <p:cNvPr id="10" name="stat1-label"/>
          <p:cNvSpPr txBox="1"/>
          <p:nvPr/>
        </p:nvSpPr>
        <p:spPr>
          <a:xfrm>
            <a:off x="812800" y="2489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2032年全球军用计算机市场规模（2025年约89—110.8亿美元）</a:t>
            </a:r>
            <a:endParaRPr lang="en-US" sz="1150" noProof="1"/>
          </a:p>
        </p:txBody>
      </p:sp>
      <p:sp>
        <p:nvSpPr>
          <p:cNvPr id="11" name="stat1-div"/>
          <p:cNvSpPr/>
          <p:nvPr/>
        </p:nvSpPr>
        <p:spPr>
          <a:xfrm>
            <a:off x="812800" y="3098800"/>
            <a:ext cx="3200400" cy="12700"/>
          </a:xfrm>
          <a:prstGeom prst="rect">
            <a:avLst/>
          </a:prstGeom>
          <a:solidFill>
            <a:srgbClr val="F0B4B8"/>
          </a:solidFill>
          <a:ln>
            <a:noFill/>
          </a:ln>
        </p:spPr>
      </p:sp>
      <p:sp>
        <p:nvSpPr>
          <p:cNvPr id="12" name="stat2-num"/>
          <p:cNvSpPr txBox="1"/>
          <p:nvPr/>
        </p:nvSpPr>
        <p:spPr>
          <a:xfrm>
            <a:off x="812800" y="3276600"/>
            <a:ext cx="3200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7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120亿元+</a:t>
            </a:r>
            <a:endParaRPr lang="en-US" sz="2700" noProof="1"/>
          </a:p>
        </p:txBody>
      </p:sp>
      <p:sp>
        <p:nvSpPr>
          <p:cNvPr id="13" name="stat2-label"/>
          <p:cNvSpPr txBox="1"/>
          <p:nvPr/>
        </p:nvSpPr>
        <p:spPr>
          <a:xfrm>
            <a:off x="812800" y="38354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2025年国内军用计算市场规模，年均复合增长约12.8%</a:t>
            </a:r>
            <a:endParaRPr lang="en-US" sz="1150" noProof="1"/>
          </a:p>
        </p:txBody>
      </p:sp>
      <p:sp>
        <p:nvSpPr>
          <p:cNvPr id="14" name="stat2-div"/>
          <p:cNvSpPr/>
          <p:nvPr/>
        </p:nvSpPr>
        <p:spPr>
          <a:xfrm>
            <a:off x="812800" y="4445000"/>
            <a:ext cx="3200400" cy="12700"/>
          </a:xfrm>
          <a:prstGeom prst="rect">
            <a:avLst/>
          </a:prstGeom>
          <a:solidFill>
            <a:srgbClr val="F0B4B8"/>
          </a:solidFill>
          <a:ln>
            <a:noFill/>
          </a:ln>
        </p:spPr>
      </p:sp>
      <p:sp>
        <p:nvSpPr>
          <p:cNvPr id="15" name="stat3-num"/>
          <p:cNvSpPr txBox="1"/>
          <p:nvPr/>
        </p:nvSpPr>
        <p:spPr>
          <a:xfrm>
            <a:off x="812800" y="4597400"/>
            <a:ext cx="3200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5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200—300亿元</a:t>
            </a:r>
            <a:endParaRPr lang="en-US" sz="2500" noProof="1"/>
          </a:p>
        </p:txBody>
      </p:sp>
      <p:sp>
        <p:nvSpPr>
          <p:cNvPr id="16" name="stat3-label"/>
          <p:cNvSpPr txBox="1"/>
          <p:nvPr/>
        </p:nvSpPr>
        <p:spPr>
          <a:xfrm>
            <a:off x="812800" y="5130800"/>
            <a:ext cx="3200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"十五五"国内相关市场增量测算</a:t>
            </a:r>
            <a:endParaRPr lang="en-US" sz="1150" noProof="1"/>
          </a:p>
        </p:txBody>
      </p:sp>
      <p:sp>
        <p:nvSpPr>
          <p:cNvPr id="17" name="list-panel"/>
          <p:cNvSpPr/>
          <p:nvPr/>
        </p:nvSpPr>
        <p:spPr>
          <a:xfrm>
            <a:off x="4622800" y="1651000"/>
            <a:ext cx="70612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18" name="list-head"/>
          <p:cNvSpPr/>
          <p:nvPr/>
        </p:nvSpPr>
        <p:spPr>
          <a:xfrm>
            <a:off x="4622800" y="1651000"/>
            <a:ext cx="7061200" cy="53340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B3000C"/>
              </a:gs>
              <a:gs pos="100000">
                <a:srgbClr val="E50011"/>
              </a:gs>
            </a:gsLst>
            <a:lin ang="0" scaled="1"/>
          </a:gradFill>
          <a:ln>
            <a:noFill/>
          </a:ln>
        </p:spPr>
      </p:sp>
      <p:sp>
        <p:nvSpPr>
          <p:cNvPr id="19" name="list-head-text"/>
          <p:cNvSpPr txBox="1"/>
          <p:nvPr/>
        </p:nvSpPr>
        <p:spPr>
          <a:xfrm>
            <a:off x="4902200" y="1651000"/>
            <a:ext cx="635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重大专项与立项窗口</a:t>
            </a:r>
            <a:endParaRPr lang="en-US" sz="1700" noProof="1"/>
          </a:p>
        </p:txBody>
      </p:sp>
      <p:sp>
        <p:nvSpPr>
          <p:cNvPr id="20" name="list-body"/>
          <p:cNvSpPr txBox="1"/>
          <p:nvPr/>
        </p:nvSpPr>
        <p:spPr>
          <a:xfrm>
            <a:off x="4927600" y="2362200"/>
            <a:ext cx="6477000" cy="294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5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国防科技工业"十五五"系列规划编制出台</a:t>
            </a:r>
            <a:endParaRPr lang="en-US" sz="13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35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国防发展重大工程：109项重大工程项目布局</a:t>
            </a:r>
            <a:endParaRPr lang="en-US" sz="13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35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智能化军事体系构建专项</a:t>
            </a:r>
            <a:endParaRPr lang="en-US" sz="13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35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无人智能作战力量建设专项</a:t>
            </a:r>
            <a:endParaRPr lang="en-US" sz="13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35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· 自主可控军用计算平台与天基计算专项</a:t>
            </a:r>
            <a:endParaRPr lang="en-US" sz="1350" noProof="1"/>
          </a:p>
        </p:txBody>
      </p:sp>
      <p:sp>
        <p:nvSpPr>
          <p:cNvPr id="21" name="bottom-note"/>
          <p:cNvSpPr txBox="1"/>
          <p:nvPr/>
        </p:nvSpPr>
        <p:spPr>
          <a:xfrm>
            <a:off x="821690" y="58674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格局判断：</a:t>
            </a:r>
            <a:r>
              <a:rPr lang="en-US" sz="16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基本盘稳固、增量广阔、要地待克</a:t>
            </a:r>
            <a:r>
              <a:rPr lang="en-US" sz="16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；机载/弹载嵌入式为高壁垒战略要地</a:t>
            </a:r>
            <a:endParaRPr lang="en-US" sz="1600" noProof="1"/>
          </a:p>
        </p:txBody>
      </p:sp>
      <p:pic>
        <p:nvPicPr>
          <p:cNvPr id="41" name="footer-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9264650" y="6574790"/>
            <a:ext cx="935990" cy="170180"/>
          </a:xfrm>
          <a:prstGeom prst="rect">
            <a:avLst/>
          </a:prstGeom>
          <a:ln>
            <a:noFill/>
          </a:ln>
        </p:spPr>
      </p:pic>
      <p:sp>
        <p:nvSpPr>
          <p:cNvPr id="42" name="footer-text"/>
          <p:cNvSpPr txBox="1"/>
          <p:nvPr/>
        </p:nvSpPr>
        <p:spPr>
          <a:xfrm>
            <a:off x="10219690" y="6551930"/>
            <a:ext cx="1974850" cy="185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长沙湘计海盾科技有限公司</a:t>
            </a:r>
            <a:endParaRPr lang="en-US" sz="1200" noProof="1"/>
          </a:p>
        </p:txBody>
      </p:sp>
      <p:sp>
        <p:nvSpPr>
          <p:cNvPr id="34" name="head-line"/>
          <p:cNvSpPr/>
          <p:nvPr/>
        </p:nvSpPr>
        <p:spPr>
          <a:xfrm>
            <a:off x="711200" y="1016000"/>
            <a:ext cx="10807700" cy="12700"/>
          </a:xfrm>
          <a:custGeom>
            <a:avLst/>
            <a:gdLst/>
            <a:ahLst/>
            <a:cxnLst/>
            <a:rect l="l" t="t" r="r" b="b"/>
            <a:pathLst>
              <a:path w="851" h="1">
                <a:moveTo>
                  <a:pt x="0" y="1"/>
                </a:moveTo>
                <a:lnTo>
                  <a:pt x="851" y="1"/>
                </a:lnTo>
              </a:path>
            </a:pathLst>
          </a:custGeom>
          <a:noFill/>
          <a:ln w="12700" cap="rnd">
            <a:solidFill>
              <a:srgbClr val="333333"/>
            </a:solidFill>
            <a:round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1270" y="7620"/>
            <a:ext cx="12192000" cy="685673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9626600" y="-284480"/>
            <a:ext cx="2668270" cy="1647190"/>
          </a:xfrm>
          <a:prstGeom prst="rect">
            <a:avLst/>
          </a:prstGeom>
          <a:ln>
            <a:noFill/>
          </a:ln>
        </p:spPr>
      </p:pic>
      <p:sp>
        <p:nvSpPr>
          <p:cNvPr id="4" name="red-block"/>
          <p:cNvSpPr/>
          <p:nvPr/>
        </p:nvSpPr>
        <p:spPr>
          <a:xfrm>
            <a:off x="-3810" y="632460"/>
            <a:ext cx="403860" cy="276860"/>
          </a:xfrm>
          <a:prstGeom prst="rect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6" name="page-title"/>
          <p:cNvSpPr txBox="1"/>
          <p:nvPr/>
        </p:nvSpPr>
        <p:spPr>
          <a:xfrm>
            <a:off x="821690" y="285750"/>
            <a:ext cx="9144000" cy="461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E50011"/>
                </a:solidFill>
                <a:latin typeface="Noto Sans SC" panose="020B0200000000000000" charset="-122"/>
                <a:ea typeface="Noto Sans SC" panose="020B0200000000000000" charset="-122"/>
              </a:rPr>
              <a:t>三、基础与现状：集团布局与核心能力</a:t>
            </a:r>
            <a:endParaRPr lang="en-US" sz="3000" noProof="1"/>
          </a:p>
        </p:txBody>
      </p:sp>
      <p:sp>
        <p:nvSpPr>
          <p:cNvPr id="7" name="lead"/>
          <p:cNvSpPr txBox="1"/>
          <p:nvPr/>
        </p:nvSpPr>
        <p:spPr>
          <a:xfrm>
            <a:off x="821690" y="1041400"/>
            <a:ext cx="10795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构建"芯—软—端—部件—整机"全链条军用计算产业体系，集团统筹、专业分工、一体协同</a:t>
            </a:r>
            <a:endParaRPr lang="en-US" sz="1900" noProof="1"/>
          </a:p>
        </p:txBody>
      </p:sp>
      <p:sp>
        <p:nvSpPr>
          <p:cNvPr id="8" name="step1"/>
          <p:cNvSpPr/>
          <p:nvPr/>
        </p:nvSpPr>
        <p:spPr>
          <a:xfrm>
            <a:off x="495300" y="1651000"/>
            <a:ext cx="2159000" cy="609600"/>
          </a:xfrm>
          <a:prstGeom prst="homePlate">
            <a:avLst>
              <a:gd name="adj" fmla="val 30000"/>
            </a:avLst>
          </a:prstGeom>
          <a:solidFill>
            <a:srgbClr val="B3000C"/>
          </a:solidFill>
          <a:ln>
            <a:noFill/>
          </a:ln>
        </p:spPr>
      </p:sp>
      <p:sp>
        <p:nvSpPr>
          <p:cNvPr id="9" name="step1-text"/>
          <p:cNvSpPr txBox="1"/>
          <p:nvPr/>
        </p:nvSpPr>
        <p:spPr>
          <a:xfrm>
            <a:off x="546100" y="1651000"/>
            <a:ext cx="18796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芯片底座</a:t>
            </a:r>
            <a:endParaRPr lang="en-US" sz="1200" noProof="1"/>
          </a:p>
          <a:p>
            <a:pPr algn="ctr">
              <a:lnSpc>
                <a:spcPct val="130000"/>
              </a:lnSpc>
            </a:pPr>
            <a:r>
              <a:rPr lang="en-US" sz="12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飞腾 / 振华科技</a:t>
            </a:r>
            <a:endParaRPr lang="en-US" sz="1200" noProof="1"/>
          </a:p>
        </p:txBody>
      </p:sp>
      <p:sp>
        <p:nvSpPr>
          <p:cNvPr id="10" name="step2"/>
          <p:cNvSpPr/>
          <p:nvPr/>
        </p:nvSpPr>
        <p:spPr>
          <a:xfrm>
            <a:off x="2755900" y="1651000"/>
            <a:ext cx="2159000" cy="609600"/>
          </a:xfrm>
          <a:prstGeom prst="chevron">
            <a:avLst>
              <a:gd name="adj" fmla="val 30000"/>
            </a:avLst>
          </a:prstGeom>
          <a:solidFill>
            <a:srgbClr val="E50011"/>
          </a:solidFill>
          <a:ln>
            <a:noFill/>
          </a:ln>
        </p:spPr>
      </p:sp>
      <p:sp>
        <p:nvSpPr>
          <p:cNvPr id="11" name="step2-text"/>
          <p:cNvSpPr txBox="1"/>
          <p:nvPr/>
        </p:nvSpPr>
        <p:spPr>
          <a:xfrm>
            <a:off x="2908300" y="1651000"/>
            <a:ext cx="18796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基础软件</a:t>
            </a:r>
            <a:endParaRPr lang="en-US" sz="1200" noProof="1"/>
          </a:p>
          <a:p>
            <a:pPr algn="ctr">
              <a:lnSpc>
                <a:spcPct val="130000"/>
              </a:lnSpc>
            </a:pPr>
            <a:r>
              <a:rPr lang="en-US" sz="12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麒麟 / 达梦</a:t>
            </a:r>
            <a:endParaRPr lang="en-US" sz="1200" noProof="1"/>
          </a:p>
        </p:txBody>
      </p:sp>
      <p:sp>
        <p:nvSpPr>
          <p:cNvPr id="12" name="step3"/>
          <p:cNvSpPr/>
          <p:nvPr/>
        </p:nvSpPr>
        <p:spPr>
          <a:xfrm>
            <a:off x="5016500" y="1651000"/>
            <a:ext cx="2159000" cy="609600"/>
          </a:xfrm>
          <a:prstGeom prst="chevron">
            <a:avLst>
              <a:gd name="adj" fmla="val 30000"/>
            </a:avLst>
          </a:prstGeom>
          <a:solidFill>
            <a:srgbClr val="F03342"/>
          </a:solidFill>
          <a:ln>
            <a:noFill/>
          </a:ln>
        </p:spPr>
      </p:sp>
      <p:sp>
        <p:nvSpPr>
          <p:cNvPr id="13" name="step3-text"/>
          <p:cNvSpPr txBox="1"/>
          <p:nvPr/>
        </p:nvSpPr>
        <p:spPr>
          <a:xfrm>
            <a:off x="5168900" y="1651000"/>
            <a:ext cx="18796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关键部件</a:t>
            </a:r>
            <a:endParaRPr lang="en-US" sz="1200" noProof="1"/>
          </a:p>
          <a:p>
            <a:pPr algn="ctr">
              <a:lnSpc>
                <a:spcPct val="130000"/>
              </a:lnSpc>
            </a:pPr>
            <a:r>
              <a:rPr lang="en-US" sz="12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长城电源</a:t>
            </a:r>
            <a:endParaRPr lang="en-US" sz="1200" noProof="1"/>
          </a:p>
        </p:txBody>
      </p:sp>
      <p:sp>
        <p:nvSpPr>
          <p:cNvPr id="14" name="step4"/>
          <p:cNvSpPr/>
          <p:nvPr/>
        </p:nvSpPr>
        <p:spPr>
          <a:xfrm>
            <a:off x="7277100" y="1651000"/>
            <a:ext cx="2159000" cy="609600"/>
          </a:xfrm>
          <a:prstGeom prst="chevron">
            <a:avLst>
              <a:gd name="adj" fmla="val 30000"/>
            </a:avLst>
          </a:prstGeom>
          <a:solidFill>
            <a:srgbClr val="F56670"/>
          </a:solidFill>
          <a:ln>
            <a:noFill/>
          </a:ln>
        </p:spPr>
      </p:sp>
      <p:sp>
        <p:nvSpPr>
          <p:cNvPr id="15" name="step4-text"/>
          <p:cNvSpPr txBox="1"/>
          <p:nvPr/>
        </p:nvSpPr>
        <p:spPr>
          <a:xfrm>
            <a:off x="7429500" y="1651000"/>
            <a:ext cx="18796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整机装备</a:t>
            </a:r>
            <a:endParaRPr lang="en-US" sz="1200" noProof="1"/>
          </a:p>
          <a:p>
            <a:pPr algn="ctr">
              <a:lnSpc>
                <a:spcPct val="130000"/>
              </a:lnSpc>
            </a:pPr>
            <a:r>
              <a:rPr lang="en-US" sz="12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湘计海盾 / 长城科技</a:t>
            </a:r>
            <a:endParaRPr lang="en-US" sz="1200" noProof="1"/>
          </a:p>
        </p:txBody>
      </p:sp>
      <p:sp>
        <p:nvSpPr>
          <p:cNvPr id="16" name="step5"/>
          <p:cNvSpPr/>
          <p:nvPr/>
        </p:nvSpPr>
        <p:spPr>
          <a:xfrm>
            <a:off x="9537700" y="1651000"/>
            <a:ext cx="2159000" cy="609600"/>
          </a:xfrm>
          <a:prstGeom prst="chevron">
            <a:avLst>
              <a:gd name="adj" fmla="val 30000"/>
            </a:avLst>
          </a:prstGeom>
          <a:solidFill>
            <a:srgbClr val="F79AA0"/>
          </a:solidFill>
          <a:ln>
            <a:noFill/>
          </a:ln>
        </p:spPr>
      </p:sp>
      <p:sp>
        <p:nvSpPr>
          <p:cNvPr id="17" name="step5-text"/>
          <p:cNvSpPr txBox="1"/>
          <p:nvPr/>
        </p:nvSpPr>
        <p:spPr>
          <a:xfrm>
            <a:off x="9690100" y="1651000"/>
            <a:ext cx="18796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系统方案</a:t>
            </a:r>
            <a:endParaRPr lang="en-US" sz="1200" noProof="1"/>
          </a:p>
          <a:p>
            <a:pPr algn="ctr">
              <a:lnSpc>
                <a:spcPct val="130000"/>
              </a:lnSpc>
            </a:pPr>
            <a:r>
              <a:rPr lang="en-US" sz="12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集团统筹</a:t>
            </a:r>
            <a:endParaRPr lang="en-US" sz="1200" noProof="1"/>
          </a:p>
        </p:txBody>
      </p:sp>
      <p:sp>
        <p:nvSpPr>
          <p:cNvPr id="18" name="cap-label"/>
          <p:cNvSpPr txBox="1"/>
          <p:nvPr/>
        </p:nvSpPr>
        <p:spPr>
          <a:xfrm>
            <a:off x="821690" y="24892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六大核心能力</a:t>
            </a:r>
            <a:endParaRPr lang="en-US" sz="1700" noProof="1"/>
          </a:p>
        </p:txBody>
      </p:sp>
      <p:sp>
        <p:nvSpPr>
          <p:cNvPr id="19" name="cap1"/>
          <p:cNvSpPr/>
          <p:nvPr/>
        </p:nvSpPr>
        <p:spPr>
          <a:xfrm>
            <a:off x="508000" y="2895600"/>
            <a:ext cx="3556000" cy="121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20" name="cap1-icon-bg"/>
          <p:cNvSpPr/>
          <p:nvPr/>
        </p:nvSpPr>
        <p:spPr>
          <a:xfrm>
            <a:off x="711200" y="3073400"/>
            <a:ext cx="457200" cy="457200"/>
          </a:xfrm>
          <a:prstGeom prst="ellipse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21" name="cap1-icon"/>
          <p:cNvSpPr/>
          <p:nvPr/>
        </p:nvSpPr>
        <p:spPr>
          <a:xfrm>
            <a:off x="825500" y="3187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512" y="32"/>
                </a:lnTo>
                <a:cubicBezTo>
                  <a:pt x="547" y="32"/>
                  <a:pt x="576" y="61"/>
                  <a:pt x="576" y="96"/>
                </a:cubicBezTo>
                <a:lnTo>
                  <a:pt x="0" y="96"/>
                </a:lnTo>
                <a:close/>
              </a:path>
              <a:path w="576" h="512">
                <a:moveTo>
                  <a:pt x="0" y="144"/>
                </a:moveTo>
                <a:lnTo>
                  <a:pt x="576" y="144"/>
                </a:lnTo>
                <a:lnTo>
                  <a:pt x="576" y="416"/>
                </a:lnTo>
                <a:cubicBezTo>
                  <a:pt x="576" y="451"/>
                  <a:pt x="547" y="480"/>
                  <a:pt x="512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144"/>
                </a:lnTo>
                <a:close/>
                <a:moveTo>
                  <a:pt x="247" y="416"/>
                </a:moveTo>
                <a:cubicBezTo>
                  <a:pt x="268" y="416"/>
                  <a:pt x="283" y="397"/>
                  <a:pt x="270" y="381"/>
                </a:cubicBezTo>
                <a:cubicBezTo>
                  <a:pt x="255" y="363"/>
                  <a:pt x="233" y="352"/>
                  <a:pt x="208" y="352"/>
                </a:cubicBezTo>
                <a:lnTo>
                  <a:pt x="144" y="352"/>
                </a:lnTo>
                <a:cubicBezTo>
                  <a:pt x="119" y="352"/>
                  <a:pt x="97" y="363"/>
                  <a:pt x="82" y="381"/>
                </a:cubicBezTo>
                <a:cubicBezTo>
                  <a:pt x="69" y="397"/>
                  <a:pt x="85" y="416"/>
                  <a:pt x="105" y="416"/>
                </a:cubicBezTo>
                <a:lnTo>
                  <a:pt x="247" y="416"/>
                </a:lnTo>
                <a:close/>
                <a:moveTo>
                  <a:pt x="176" y="312"/>
                </a:moveTo>
                <a:cubicBezTo>
                  <a:pt x="207" y="312"/>
                  <a:pt x="232" y="287"/>
                  <a:pt x="232" y="256"/>
                </a:cubicBezTo>
                <a:cubicBezTo>
                  <a:pt x="232" y="225"/>
                  <a:pt x="207" y="200"/>
                  <a:pt x="176" y="200"/>
                </a:cubicBezTo>
                <a:cubicBezTo>
                  <a:pt x="145" y="200"/>
                  <a:pt x="120" y="225"/>
                  <a:pt x="120" y="256"/>
                </a:cubicBezTo>
                <a:cubicBezTo>
                  <a:pt x="120" y="287"/>
                  <a:pt x="145" y="312"/>
                  <a:pt x="176" y="312"/>
                </a:cubicBezTo>
                <a:close/>
                <a:moveTo>
                  <a:pt x="360" y="208"/>
                </a:moveTo>
                <a:cubicBezTo>
                  <a:pt x="347" y="208"/>
                  <a:pt x="336" y="219"/>
                  <a:pt x="336" y="232"/>
                </a:cubicBezTo>
                <a:cubicBezTo>
                  <a:pt x="336" y="245"/>
                  <a:pt x="347" y="256"/>
                  <a:pt x="360" y="256"/>
                </a:cubicBezTo>
                <a:lnTo>
                  <a:pt x="472" y="256"/>
                </a:lnTo>
                <a:cubicBezTo>
                  <a:pt x="485" y="256"/>
                  <a:pt x="496" y="245"/>
                  <a:pt x="496" y="232"/>
                </a:cubicBezTo>
                <a:cubicBezTo>
                  <a:pt x="496" y="219"/>
                  <a:pt x="485" y="208"/>
                  <a:pt x="472" y="208"/>
                </a:cubicBezTo>
                <a:lnTo>
                  <a:pt x="360" y="208"/>
                </a:lnTo>
                <a:close/>
                <a:moveTo>
                  <a:pt x="360" y="304"/>
                </a:moveTo>
                <a:cubicBezTo>
                  <a:pt x="347" y="304"/>
                  <a:pt x="336" y="315"/>
                  <a:pt x="336" y="328"/>
                </a:cubicBezTo>
                <a:cubicBezTo>
                  <a:pt x="336" y="341"/>
                  <a:pt x="347" y="352"/>
                  <a:pt x="360" y="352"/>
                </a:cubicBezTo>
                <a:lnTo>
                  <a:pt x="472" y="352"/>
                </a:lnTo>
                <a:cubicBezTo>
                  <a:pt x="485" y="352"/>
                  <a:pt x="496" y="341"/>
                  <a:pt x="496" y="328"/>
                </a:cubicBezTo>
                <a:cubicBezTo>
                  <a:pt x="496" y="315"/>
                  <a:pt x="485" y="304"/>
                  <a:pt x="472" y="304"/>
                </a:cubicBezTo>
                <a:lnTo>
                  <a:pt x="360" y="3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" name="cap1-title"/>
          <p:cNvSpPr txBox="1"/>
          <p:nvPr/>
        </p:nvSpPr>
        <p:spPr>
          <a:xfrm>
            <a:off x="1320800" y="3048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军事需求理解</a:t>
            </a:r>
            <a:endParaRPr lang="en-US" sz="1500" noProof="1"/>
          </a:p>
        </p:txBody>
      </p:sp>
      <p:sp>
        <p:nvSpPr>
          <p:cNvPr id="23" name="cap1-body"/>
          <p:cNvSpPr txBox="1"/>
          <p:nvPr/>
        </p:nvSpPr>
        <p:spPr>
          <a:xfrm>
            <a:off x="1320800" y="3352800"/>
            <a:ext cx="25908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40余年军品研制积淀，全套军工资质</a:t>
            </a:r>
            <a:endParaRPr lang="en-US" sz="1200" noProof="1"/>
          </a:p>
        </p:txBody>
      </p:sp>
      <p:sp>
        <p:nvSpPr>
          <p:cNvPr id="24" name="cap2"/>
          <p:cNvSpPr/>
          <p:nvPr/>
        </p:nvSpPr>
        <p:spPr>
          <a:xfrm>
            <a:off x="4318000" y="2895600"/>
            <a:ext cx="3556000" cy="121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25" name="cap2-icon-bg"/>
          <p:cNvSpPr/>
          <p:nvPr/>
        </p:nvSpPr>
        <p:spPr>
          <a:xfrm>
            <a:off x="4521200" y="3073400"/>
            <a:ext cx="457200" cy="457200"/>
          </a:xfrm>
          <a:prstGeom prst="ellipse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26" name="cap2-icon"/>
          <p:cNvSpPr/>
          <p:nvPr/>
        </p:nvSpPr>
        <p:spPr>
          <a:xfrm>
            <a:off x="4635500" y="3187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56"/>
                </a:move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lose/>
                <a:moveTo>
                  <a:pt x="448" y="256"/>
                </a:moveTo>
                <a:cubicBezTo>
                  <a:pt x="448" y="150"/>
                  <a:pt x="362" y="64"/>
                  <a:pt x="256" y="64"/>
                </a:cubicBezTo>
                <a:cubicBezTo>
                  <a:pt x="150" y="64"/>
                  <a:pt x="64" y="150"/>
                  <a:pt x="64" y="256"/>
                </a:cubicBezTo>
                <a:cubicBezTo>
                  <a:pt x="64" y="362"/>
                  <a:pt x="150" y="448"/>
                  <a:pt x="256" y="448"/>
                </a:cubicBezTo>
                <a:cubicBezTo>
                  <a:pt x="362" y="448"/>
                  <a:pt x="448" y="362"/>
                  <a:pt x="448" y="256"/>
                </a:cubicBezTo>
                <a:close/>
              </a:path>
              <a:path w="512" h="512">
                <a:moveTo>
                  <a:pt x="256" y="112"/>
                </a:moveTo>
                <a:cubicBezTo>
                  <a:pt x="336" y="112"/>
                  <a:pt x="400" y="176"/>
                  <a:pt x="400" y="256"/>
                </a:cubicBezTo>
                <a:cubicBezTo>
                  <a:pt x="400" y="336"/>
                  <a:pt x="336" y="400"/>
                  <a:pt x="256" y="400"/>
                </a:cubicBezTo>
                <a:cubicBezTo>
                  <a:pt x="176" y="400"/>
                  <a:pt x="112" y="336"/>
                  <a:pt x="112" y="256"/>
                </a:cubicBezTo>
                <a:cubicBezTo>
                  <a:pt x="112" y="176"/>
                  <a:pt x="176" y="112"/>
                  <a:pt x="256" y="112"/>
                </a:cubicBezTo>
                <a:close/>
                <a:moveTo>
                  <a:pt x="256" y="336"/>
                </a:moveTo>
                <a:cubicBezTo>
                  <a:pt x="300" y="336"/>
                  <a:pt x="336" y="300"/>
                  <a:pt x="336" y="256"/>
                </a:cubicBezTo>
                <a:cubicBezTo>
                  <a:pt x="336" y="212"/>
                  <a:pt x="300" y="176"/>
                  <a:pt x="256" y="176"/>
                </a:cubicBezTo>
                <a:cubicBezTo>
                  <a:pt x="212" y="176"/>
                  <a:pt x="176" y="212"/>
                  <a:pt x="176" y="256"/>
                </a:cubicBezTo>
                <a:cubicBezTo>
                  <a:pt x="176" y="300"/>
                  <a:pt x="212" y="336"/>
                  <a:pt x="256" y="336"/>
                </a:cubicBezTo>
                <a:close/>
              </a:path>
              <a:path w="512" h="512">
                <a:moveTo>
                  <a:pt x="224" y="256"/>
                </a:moveTo>
                <a:cubicBezTo>
                  <a:pt x="224" y="238"/>
                  <a:pt x="238" y="224"/>
                  <a:pt x="256" y="224"/>
                </a:cubicBezTo>
                <a:cubicBezTo>
                  <a:pt x="274" y="224"/>
                  <a:pt x="288" y="238"/>
                  <a:pt x="288" y="256"/>
                </a:cubicBezTo>
                <a:cubicBezTo>
                  <a:pt x="288" y="274"/>
                  <a:pt x="274" y="288"/>
                  <a:pt x="256" y="288"/>
                </a:cubicBezTo>
                <a:cubicBezTo>
                  <a:pt x="238" y="288"/>
                  <a:pt x="224" y="274"/>
                  <a:pt x="224" y="25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" name="cap2-title"/>
          <p:cNvSpPr txBox="1"/>
          <p:nvPr/>
        </p:nvSpPr>
        <p:spPr>
          <a:xfrm>
            <a:off x="5130800" y="3048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装备场景定义</a:t>
            </a:r>
            <a:endParaRPr lang="en-US" sz="1500" noProof="1"/>
          </a:p>
        </p:txBody>
      </p:sp>
      <p:sp>
        <p:nvSpPr>
          <p:cNvPr id="28" name="cap2-body"/>
          <p:cNvSpPr txBox="1"/>
          <p:nvPr/>
        </p:nvSpPr>
        <p:spPr>
          <a:xfrm>
            <a:off x="5130800" y="3352800"/>
            <a:ext cx="25908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从平台约束反向定义计算产品形态</a:t>
            </a:r>
            <a:endParaRPr lang="en-US" sz="1200" noProof="1"/>
          </a:p>
        </p:txBody>
      </p:sp>
      <p:sp>
        <p:nvSpPr>
          <p:cNvPr id="29" name="cap3"/>
          <p:cNvSpPr/>
          <p:nvPr/>
        </p:nvSpPr>
        <p:spPr>
          <a:xfrm>
            <a:off x="8128000" y="2895600"/>
            <a:ext cx="3556000" cy="121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30" name="cap3-icon-bg"/>
          <p:cNvSpPr/>
          <p:nvPr/>
        </p:nvSpPr>
        <p:spPr>
          <a:xfrm>
            <a:off x="8331200" y="3073400"/>
            <a:ext cx="457200" cy="457200"/>
          </a:xfrm>
          <a:prstGeom prst="ellipse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31" name="cap3-icon"/>
          <p:cNvSpPr/>
          <p:nvPr/>
        </p:nvSpPr>
        <p:spPr>
          <a:xfrm>
            <a:off x="8445500" y="3187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71" y="-7"/>
                </a:moveTo>
                <a:cubicBezTo>
                  <a:pt x="76" y="-12"/>
                  <a:pt x="85" y="-13"/>
                  <a:pt x="91" y="-9"/>
                </a:cubicBezTo>
                <a:lnTo>
                  <a:pt x="210" y="71"/>
                </a:lnTo>
                <a:cubicBezTo>
                  <a:pt x="219" y="76"/>
                  <a:pt x="224" y="86"/>
                  <a:pt x="224" y="97"/>
                </a:cubicBezTo>
                <a:lnTo>
                  <a:pt x="224" y="147"/>
                </a:lnTo>
                <a:lnTo>
                  <a:pt x="315" y="238"/>
                </a:lnTo>
                <a:cubicBezTo>
                  <a:pt x="348" y="223"/>
                  <a:pt x="389" y="229"/>
                  <a:pt x="416" y="256"/>
                </a:cubicBezTo>
                <a:lnTo>
                  <a:pt x="542" y="382"/>
                </a:lnTo>
                <a:cubicBezTo>
                  <a:pt x="561" y="401"/>
                  <a:pt x="561" y="431"/>
                  <a:pt x="542" y="450"/>
                </a:cubicBezTo>
                <a:lnTo>
                  <a:pt x="482" y="510"/>
                </a:lnTo>
                <a:cubicBezTo>
                  <a:pt x="463" y="529"/>
                  <a:pt x="433" y="529"/>
                  <a:pt x="414" y="510"/>
                </a:cubicBezTo>
                <a:lnTo>
                  <a:pt x="288" y="384"/>
                </a:lnTo>
                <a:cubicBezTo>
                  <a:pt x="261" y="357"/>
                  <a:pt x="255" y="316"/>
                  <a:pt x="270" y="283"/>
                </a:cubicBezTo>
                <a:lnTo>
                  <a:pt x="179" y="192"/>
                </a:lnTo>
                <a:lnTo>
                  <a:pt x="129" y="192"/>
                </a:lnTo>
                <a:cubicBezTo>
                  <a:pt x="119" y="192"/>
                  <a:pt x="109" y="187"/>
                  <a:pt x="103" y="178"/>
                </a:cubicBezTo>
                <a:lnTo>
                  <a:pt x="23" y="59"/>
                </a:lnTo>
                <a:cubicBezTo>
                  <a:pt x="19" y="53"/>
                  <a:pt x="20" y="44"/>
                  <a:pt x="25" y="39"/>
                </a:cubicBezTo>
                <a:lnTo>
                  <a:pt x="71" y="-7"/>
                </a:lnTo>
                <a:close/>
              </a:path>
              <a:path w="576" h="512">
                <a:moveTo>
                  <a:pt x="216" y="297"/>
                </a:moveTo>
                <a:cubicBezTo>
                  <a:pt x="210" y="334"/>
                  <a:pt x="218" y="373"/>
                  <a:pt x="242" y="404"/>
                </a:cubicBezTo>
                <a:lnTo>
                  <a:pt x="147" y="499"/>
                </a:lnTo>
                <a:cubicBezTo>
                  <a:pt x="119" y="527"/>
                  <a:pt x="73" y="527"/>
                  <a:pt x="45" y="499"/>
                </a:cubicBezTo>
                <a:cubicBezTo>
                  <a:pt x="17" y="471"/>
                  <a:pt x="17" y="425"/>
                  <a:pt x="45" y="397"/>
                </a:cubicBezTo>
                <a:lnTo>
                  <a:pt x="181" y="262"/>
                </a:lnTo>
                <a:lnTo>
                  <a:pt x="216" y="297"/>
                </a:lnTo>
                <a:close/>
              </a:path>
              <a:path w="576" h="512">
                <a:moveTo>
                  <a:pt x="384" y="0"/>
                </a:moveTo>
                <a:cubicBezTo>
                  <a:pt x="404" y="0"/>
                  <a:pt x="424" y="4"/>
                  <a:pt x="441" y="11"/>
                </a:cubicBezTo>
                <a:cubicBezTo>
                  <a:pt x="451" y="14"/>
                  <a:pt x="453" y="27"/>
                  <a:pt x="446" y="35"/>
                </a:cubicBezTo>
                <a:lnTo>
                  <a:pt x="389" y="91"/>
                </a:lnTo>
                <a:cubicBezTo>
                  <a:pt x="386" y="94"/>
                  <a:pt x="384" y="98"/>
                  <a:pt x="384" y="103"/>
                </a:cubicBezTo>
                <a:lnTo>
                  <a:pt x="384" y="144"/>
                </a:lnTo>
                <a:cubicBezTo>
                  <a:pt x="384" y="153"/>
                  <a:pt x="391" y="160"/>
                  <a:pt x="400" y="160"/>
                </a:cubicBezTo>
                <a:lnTo>
                  <a:pt x="442" y="160"/>
                </a:lnTo>
                <a:cubicBezTo>
                  <a:pt x="446" y="160"/>
                  <a:pt x="450" y="158"/>
                  <a:pt x="453" y="155"/>
                </a:cubicBezTo>
                <a:lnTo>
                  <a:pt x="510" y="99"/>
                </a:lnTo>
                <a:cubicBezTo>
                  <a:pt x="517" y="91"/>
                  <a:pt x="530" y="93"/>
                  <a:pt x="534" y="103"/>
                </a:cubicBezTo>
                <a:cubicBezTo>
                  <a:pt x="540" y="121"/>
                  <a:pt x="544" y="140"/>
                  <a:pt x="544" y="160"/>
                </a:cubicBezTo>
                <a:cubicBezTo>
                  <a:pt x="544" y="203"/>
                  <a:pt x="527" y="242"/>
                  <a:pt x="499" y="271"/>
                </a:cubicBezTo>
                <a:lnTo>
                  <a:pt x="450" y="222"/>
                </a:lnTo>
                <a:cubicBezTo>
                  <a:pt x="417" y="189"/>
                  <a:pt x="372" y="176"/>
                  <a:pt x="329" y="184"/>
                </a:cubicBezTo>
                <a:lnTo>
                  <a:pt x="272" y="127"/>
                </a:lnTo>
                <a:lnTo>
                  <a:pt x="272" y="97"/>
                </a:lnTo>
                <a:lnTo>
                  <a:pt x="272" y="92"/>
                </a:lnTo>
                <a:cubicBezTo>
                  <a:pt x="271" y="80"/>
                  <a:pt x="268" y="68"/>
                  <a:pt x="261" y="57"/>
                </a:cubicBezTo>
                <a:cubicBezTo>
                  <a:pt x="291" y="22"/>
                  <a:pt x="335" y="0"/>
                  <a:pt x="38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2" name="cap3-title"/>
          <p:cNvSpPr txBox="1"/>
          <p:nvPr/>
        </p:nvSpPr>
        <p:spPr>
          <a:xfrm>
            <a:off x="8940800" y="3048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产品技术基础</a:t>
            </a:r>
            <a:endParaRPr lang="en-US" sz="1500" noProof="1"/>
          </a:p>
        </p:txBody>
      </p:sp>
      <p:sp>
        <p:nvSpPr>
          <p:cNvPr id="33" name="cap3-body"/>
          <p:cNvSpPr txBox="1"/>
          <p:nvPr/>
        </p:nvSpPr>
        <p:spPr>
          <a:xfrm>
            <a:off x="8940800" y="3352800"/>
            <a:ext cx="25908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热设计、电磁兼容、宽温软硬件调优</a:t>
            </a:r>
            <a:endParaRPr lang="en-US" sz="1200" noProof="1"/>
          </a:p>
        </p:txBody>
      </p:sp>
      <p:sp>
        <p:nvSpPr>
          <p:cNvPr id="34" name="cap4"/>
          <p:cNvSpPr/>
          <p:nvPr/>
        </p:nvSpPr>
        <p:spPr>
          <a:xfrm>
            <a:off x="508000" y="4267200"/>
            <a:ext cx="3556000" cy="121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35" name="cap4-icon-bg"/>
          <p:cNvSpPr/>
          <p:nvPr/>
        </p:nvSpPr>
        <p:spPr>
          <a:xfrm>
            <a:off x="711200" y="4445000"/>
            <a:ext cx="457200" cy="457200"/>
          </a:xfrm>
          <a:prstGeom prst="ellipse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36" name="cap4-icon"/>
          <p:cNvSpPr/>
          <p:nvPr/>
        </p:nvSpPr>
        <p:spPr>
          <a:xfrm>
            <a:off x="825500" y="4559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84" y="-1"/>
                </a:moveTo>
                <a:cubicBezTo>
                  <a:pt x="267" y="-11"/>
                  <a:pt x="245" y="-11"/>
                  <a:pt x="228" y="-1"/>
                </a:cubicBezTo>
                <a:lnTo>
                  <a:pt x="144" y="47"/>
                </a:lnTo>
                <a:cubicBezTo>
                  <a:pt x="127" y="57"/>
                  <a:pt x="116" y="76"/>
                  <a:pt x="116" y="96"/>
                </a:cubicBezTo>
                <a:lnTo>
                  <a:pt x="116" y="198"/>
                </a:lnTo>
                <a:lnTo>
                  <a:pt x="28" y="249"/>
                </a:lnTo>
                <a:cubicBezTo>
                  <a:pt x="10" y="259"/>
                  <a:pt x="0" y="277"/>
                  <a:pt x="0" y="297"/>
                </a:cubicBezTo>
                <a:lnTo>
                  <a:pt x="0" y="395"/>
                </a:lnTo>
                <a:cubicBezTo>
                  <a:pt x="0" y="415"/>
                  <a:pt x="10" y="433"/>
                  <a:pt x="28" y="443"/>
                </a:cubicBezTo>
                <a:lnTo>
                  <a:pt x="112" y="492"/>
                </a:lnTo>
                <a:cubicBezTo>
                  <a:pt x="129" y="502"/>
                  <a:pt x="151" y="502"/>
                  <a:pt x="168" y="492"/>
                </a:cubicBezTo>
                <a:lnTo>
                  <a:pt x="256" y="441"/>
                </a:lnTo>
                <a:lnTo>
                  <a:pt x="344" y="492"/>
                </a:lnTo>
                <a:cubicBezTo>
                  <a:pt x="362" y="502"/>
                  <a:pt x="383" y="502"/>
                  <a:pt x="400" y="492"/>
                </a:cubicBezTo>
                <a:lnTo>
                  <a:pt x="485" y="443"/>
                </a:lnTo>
                <a:cubicBezTo>
                  <a:pt x="502" y="433"/>
                  <a:pt x="513" y="415"/>
                  <a:pt x="513" y="395"/>
                </a:cubicBezTo>
                <a:lnTo>
                  <a:pt x="513" y="297"/>
                </a:lnTo>
                <a:cubicBezTo>
                  <a:pt x="513" y="277"/>
                  <a:pt x="502" y="259"/>
                  <a:pt x="485" y="249"/>
                </a:cubicBezTo>
                <a:lnTo>
                  <a:pt x="396" y="198"/>
                </a:lnTo>
                <a:lnTo>
                  <a:pt x="396" y="96"/>
                </a:lnTo>
                <a:cubicBezTo>
                  <a:pt x="396" y="76"/>
                  <a:pt x="386" y="57"/>
                  <a:pt x="368" y="47"/>
                </a:cubicBezTo>
                <a:lnTo>
                  <a:pt x="284" y="-1"/>
                </a:lnTo>
                <a:close/>
                <a:moveTo>
                  <a:pt x="232" y="293"/>
                </a:moveTo>
                <a:lnTo>
                  <a:pt x="232" y="399"/>
                </a:lnTo>
                <a:lnTo>
                  <a:pt x="144" y="450"/>
                </a:lnTo>
                <a:cubicBezTo>
                  <a:pt x="143" y="451"/>
                  <a:pt x="141" y="451"/>
                  <a:pt x="140" y="451"/>
                </a:cubicBezTo>
                <a:lnTo>
                  <a:pt x="140" y="346"/>
                </a:lnTo>
                <a:lnTo>
                  <a:pt x="232" y="293"/>
                </a:lnTo>
                <a:close/>
                <a:moveTo>
                  <a:pt x="463" y="293"/>
                </a:moveTo>
                <a:cubicBezTo>
                  <a:pt x="464" y="294"/>
                  <a:pt x="465" y="296"/>
                  <a:pt x="465" y="297"/>
                </a:cubicBezTo>
                <a:lnTo>
                  <a:pt x="465" y="395"/>
                </a:lnTo>
                <a:cubicBezTo>
                  <a:pt x="465" y="397"/>
                  <a:pt x="463" y="400"/>
                  <a:pt x="461" y="401"/>
                </a:cubicBezTo>
                <a:lnTo>
                  <a:pt x="376" y="450"/>
                </a:lnTo>
                <a:cubicBezTo>
                  <a:pt x="375" y="451"/>
                  <a:pt x="374" y="451"/>
                  <a:pt x="372" y="451"/>
                </a:cubicBezTo>
                <a:lnTo>
                  <a:pt x="372" y="346"/>
                </a:lnTo>
                <a:lnTo>
                  <a:pt x="463" y="293"/>
                </a:lnTo>
                <a:close/>
                <a:moveTo>
                  <a:pt x="348" y="96"/>
                </a:moveTo>
                <a:lnTo>
                  <a:pt x="348" y="198"/>
                </a:lnTo>
                <a:lnTo>
                  <a:pt x="256" y="251"/>
                </a:lnTo>
                <a:lnTo>
                  <a:pt x="256" y="145"/>
                </a:lnTo>
                <a:lnTo>
                  <a:pt x="347" y="92"/>
                </a:lnTo>
                <a:cubicBezTo>
                  <a:pt x="348" y="93"/>
                  <a:pt x="348" y="95"/>
                  <a:pt x="348" y="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" name="cap4-title"/>
          <p:cNvSpPr txBox="1"/>
          <p:nvPr/>
        </p:nvSpPr>
        <p:spPr>
          <a:xfrm>
            <a:off x="1320800" y="44196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一体化解决方案</a:t>
            </a:r>
            <a:endParaRPr lang="en-US" sz="1500" noProof="1"/>
          </a:p>
        </p:txBody>
      </p:sp>
      <p:sp>
        <p:nvSpPr>
          <p:cNvPr id="38" name="cap4-body"/>
          <p:cNvSpPr txBox="1"/>
          <p:nvPr/>
        </p:nvSpPr>
        <p:spPr>
          <a:xfrm>
            <a:off x="1320800" y="4724400"/>
            <a:ext cx="25908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芯片-操作系统-整机-安全体系化支撑</a:t>
            </a:r>
            <a:endParaRPr lang="en-US" sz="1200" noProof="1"/>
          </a:p>
        </p:txBody>
      </p:sp>
      <p:sp>
        <p:nvSpPr>
          <p:cNvPr id="39" name="cap5"/>
          <p:cNvSpPr/>
          <p:nvPr/>
        </p:nvSpPr>
        <p:spPr>
          <a:xfrm>
            <a:off x="4318000" y="4267200"/>
            <a:ext cx="3556000" cy="121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40" name="cap5-icon-bg"/>
          <p:cNvSpPr/>
          <p:nvPr/>
        </p:nvSpPr>
        <p:spPr>
          <a:xfrm>
            <a:off x="4521200" y="4445000"/>
            <a:ext cx="457200" cy="457200"/>
          </a:xfrm>
          <a:prstGeom prst="ellipse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41" name="cap5-icon"/>
          <p:cNvSpPr/>
          <p:nvPr/>
        </p:nvSpPr>
        <p:spPr>
          <a:xfrm>
            <a:off x="4635500" y="4559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336"/>
                </a:moveTo>
                <a:cubicBezTo>
                  <a:pt x="0" y="416"/>
                  <a:pt x="65" y="480"/>
                  <a:pt x="144" y="480"/>
                </a:cubicBezTo>
                <a:lnTo>
                  <a:pt x="448" y="480"/>
                </a:lnTo>
                <a:cubicBezTo>
                  <a:pt x="519" y="480"/>
                  <a:pt x="576" y="423"/>
                  <a:pt x="576" y="352"/>
                </a:cubicBezTo>
                <a:cubicBezTo>
                  <a:pt x="576" y="300"/>
                  <a:pt x="546" y="256"/>
                  <a:pt x="502" y="236"/>
                </a:cubicBezTo>
                <a:cubicBezTo>
                  <a:pt x="508" y="223"/>
                  <a:pt x="512" y="208"/>
                  <a:pt x="512" y="192"/>
                </a:cubicBezTo>
                <a:cubicBezTo>
                  <a:pt x="512" y="139"/>
                  <a:pt x="469" y="96"/>
                  <a:pt x="416" y="96"/>
                </a:cubicBezTo>
                <a:cubicBezTo>
                  <a:pt x="398" y="96"/>
                  <a:pt x="382" y="101"/>
                  <a:pt x="368" y="109"/>
                </a:cubicBezTo>
                <a:cubicBezTo>
                  <a:pt x="344" y="63"/>
                  <a:pt x="295" y="32"/>
                  <a:pt x="240" y="32"/>
                </a:cubicBezTo>
                <a:cubicBezTo>
                  <a:pt x="161" y="32"/>
                  <a:pt x="96" y="97"/>
                  <a:pt x="96" y="176"/>
                </a:cubicBezTo>
                <a:cubicBezTo>
                  <a:pt x="96" y="184"/>
                  <a:pt x="97" y="192"/>
                  <a:pt x="98" y="200"/>
                </a:cubicBezTo>
                <a:cubicBezTo>
                  <a:pt x="41" y="219"/>
                  <a:pt x="0" y="273"/>
                  <a:pt x="0" y="3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2" name="cap5-title"/>
          <p:cNvSpPr txBox="1"/>
          <p:nvPr/>
        </p:nvSpPr>
        <p:spPr>
          <a:xfrm>
            <a:off x="5130800" y="44196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云边端协同</a:t>
            </a:r>
            <a:endParaRPr lang="en-US" sz="1500" noProof="1"/>
          </a:p>
        </p:txBody>
      </p:sp>
      <p:sp>
        <p:nvSpPr>
          <p:cNvPr id="43" name="cap5-body"/>
          <p:cNvSpPr txBox="1"/>
          <p:nvPr/>
        </p:nvSpPr>
        <p:spPr>
          <a:xfrm>
            <a:off x="5130800" y="4724400"/>
            <a:ext cx="25908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CECSTACK平台支持涉密云、国防云</a:t>
            </a:r>
            <a:endParaRPr lang="en-US" sz="1200" noProof="1"/>
          </a:p>
        </p:txBody>
      </p:sp>
      <p:sp>
        <p:nvSpPr>
          <p:cNvPr id="44" name="cap6"/>
          <p:cNvSpPr/>
          <p:nvPr/>
        </p:nvSpPr>
        <p:spPr>
          <a:xfrm>
            <a:off x="8128000" y="4267200"/>
            <a:ext cx="3556000" cy="121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45" name="cap6-icon-bg"/>
          <p:cNvSpPr/>
          <p:nvPr/>
        </p:nvSpPr>
        <p:spPr>
          <a:xfrm>
            <a:off x="8331200" y="4445000"/>
            <a:ext cx="457200" cy="457200"/>
          </a:xfrm>
          <a:prstGeom prst="ellipse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46" name="cap6-icon"/>
          <p:cNvSpPr/>
          <p:nvPr/>
        </p:nvSpPr>
        <p:spPr>
          <a:xfrm>
            <a:off x="8445500" y="4559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28" y="96"/>
                </a:moveTo>
                <a:lnTo>
                  <a:pt x="128" y="160"/>
                </a:lnTo>
                <a:lnTo>
                  <a:pt x="256" y="160"/>
                </a:lnTo>
                <a:lnTo>
                  <a:pt x="256" y="96"/>
                </a:lnTo>
                <a:cubicBezTo>
                  <a:pt x="256" y="61"/>
                  <a:pt x="227" y="32"/>
                  <a:pt x="192" y="32"/>
                </a:cubicBezTo>
                <a:cubicBezTo>
                  <a:pt x="157" y="32"/>
                  <a:pt x="128" y="61"/>
                  <a:pt x="128" y="96"/>
                </a:cubicBezTo>
                <a:close/>
                <a:moveTo>
                  <a:pt x="64" y="160"/>
                </a:moveTo>
                <a:lnTo>
                  <a:pt x="64" y="96"/>
                </a:lnTo>
                <a:cubicBezTo>
                  <a:pt x="64" y="25"/>
                  <a:pt x="121" y="-32"/>
                  <a:pt x="192" y="-32"/>
                </a:cubicBezTo>
                <a:cubicBezTo>
                  <a:pt x="263" y="-32"/>
                  <a:pt x="320" y="25"/>
                  <a:pt x="320" y="96"/>
                </a:cubicBezTo>
                <a:lnTo>
                  <a:pt x="320" y="160"/>
                </a:lnTo>
                <a:cubicBezTo>
                  <a:pt x="355" y="160"/>
                  <a:pt x="384" y="189"/>
                  <a:pt x="384" y="224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224"/>
                </a:lnTo>
                <a:cubicBezTo>
                  <a:pt x="0" y="189"/>
                  <a:pt x="29" y="160"/>
                  <a:pt x="64" y="16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7" name="cap6-title"/>
          <p:cNvSpPr txBox="1"/>
          <p:nvPr/>
        </p:nvSpPr>
        <p:spPr>
          <a:xfrm>
            <a:off x="8940800" y="44196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网信安全内生</a:t>
            </a:r>
            <a:endParaRPr lang="en-US" sz="1500" noProof="1"/>
          </a:p>
        </p:txBody>
      </p:sp>
      <p:sp>
        <p:nvSpPr>
          <p:cNvPr id="48" name="cap6-body"/>
          <p:cNvSpPr txBox="1"/>
          <p:nvPr/>
        </p:nvSpPr>
        <p:spPr>
          <a:xfrm>
            <a:off x="8940800" y="4724400"/>
            <a:ext cx="25908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可信启动、安全隔离、加密管控</a:t>
            </a:r>
            <a:endParaRPr lang="en-US" sz="1200" noProof="1"/>
          </a:p>
        </p:txBody>
      </p:sp>
      <p:sp>
        <p:nvSpPr>
          <p:cNvPr id="49" name="bottom-note"/>
          <p:cNvSpPr txBox="1"/>
          <p:nvPr/>
        </p:nvSpPr>
        <p:spPr>
          <a:xfrm>
            <a:off x="821690" y="58674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定位：</a:t>
            </a:r>
            <a:r>
              <a:rPr lang="en-US" sz="16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全军装备自主可控计算平台核心供应商</a:t>
            </a:r>
            <a:r>
              <a:rPr lang="en-US" sz="16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、联合作战体系国产化算力底座支撑单位</a:t>
            </a:r>
            <a:endParaRPr lang="en-US" sz="1600" noProof="1"/>
          </a:p>
        </p:txBody>
      </p:sp>
      <p:pic>
        <p:nvPicPr>
          <p:cNvPr id="50" name="footer-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9264650" y="6574790"/>
            <a:ext cx="935990" cy="170180"/>
          </a:xfrm>
          <a:prstGeom prst="rect">
            <a:avLst/>
          </a:prstGeom>
          <a:ln>
            <a:noFill/>
          </a:ln>
        </p:spPr>
      </p:pic>
      <p:sp>
        <p:nvSpPr>
          <p:cNvPr id="51" name="footer-text"/>
          <p:cNvSpPr txBox="1"/>
          <p:nvPr/>
        </p:nvSpPr>
        <p:spPr>
          <a:xfrm>
            <a:off x="10219690" y="6551930"/>
            <a:ext cx="1974850" cy="185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长沙湘计海盾科技有限公司</a:t>
            </a:r>
            <a:endParaRPr lang="en-US" sz="1200" noProof="1"/>
          </a:p>
        </p:txBody>
      </p:sp>
      <p:sp>
        <p:nvSpPr>
          <p:cNvPr id="52" name="head-line"/>
          <p:cNvSpPr/>
          <p:nvPr/>
        </p:nvSpPr>
        <p:spPr>
          <a:xfrm>
            <a:off x="711200" y="1016000"/>
            <a:ext cx="10807700" cy="12700"/>
          </a:xfrm>
          <a:custGeom>
            <a:avLst/>
            <a:gdLst/>
            <a:ahLst/>
            <a:cxnLst/>
            <a:rect l="l" t="t" r="r" b="b"/>
            <a:pathLst>
              <a:path w="851" h="1">
                <a:moveTo>
                  <a:pt x="0" y="1"/>
                </a:moveTo>
                <a:lnTo>
                  <a:pt x="851" y="1"/>
                </a:lnTo>
              </a:path>
            </a:pathLst>
          </a:custGeom>
          <a:noFill/>
          <a:ln w="12700" cap="rnd">
            <a:solidFill>
              <a:srgbClr val="333333"/>
            </a:solidFill>
            <a:round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1270" y="7620"/>
            <a:ext cx="12192000" cy="685673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9626600" y="-284480"/>
            <a:ext cx="2668270" cy="1647190"/>
          </a:xfrm>
          <a:prstGeom prst="rect">
            <a:avLst/>
          </a:prstGeom>
          <a:ln>
            <a:noFill/>
          </a:ln>
        </p:spPr>
      </p:pic>
      <p:sp>
        <p:nvSpPr>
          <p:cNvPr id="4" name="red-block"/>
          <p:cNvSpPr/>
          <p:nvPr/>
        </p:nvSpPr>
        <p:spPr>
          <a:xfrm>
            <a:off x="-3810" y="632460"/>
            <a:ext cx="403860" cy="276860"/>
          </a:xfrm>
          <a:prstGeom prst="rect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6" name="page-title"/>
          <p:cNvSpPr txBox="1"/>
          <p:nvPr/>
        </p:nvSpPr>
        <p:spPr>
          <a:xfrm>
            <a:off x="821690" y="285750"/>
            <a:ext cx="9144000" cy="461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E50011"/>
                </a:solidFill>
                <a:latin typeface="Noto Sans SC" panose="020B0200000000000000" charset="-122"/>
                <a:ea typeface="Noto Sans SC" panose="020B0200000000000000" charset="-122"/>
              </a:rPr>
              <a:t>四、发展规划："十五五"前期重点项目</a:t>
            </a:r>
            <a:endParaRPr lang="en-US" sz="3000" noProof="1"/>
          </a:p>
        </p:txBody>
      </p:sp>
      <p:sp>
        <p:nvSpPr>
          <p:cNvPr id="7" name="lead"/>
          <p:cNvSpPr txBox="1"/>
          <p:nvPr/>
        </p:nvSpPr>
        <p:spPr>
          <a:xfrm>
            <a:off x="821690" y="1041400"/>
            <a:ext cx="10795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围绕总体架构、典型装备、基础支撑三个方面，参与五类典型装备研制</a:t>
            </a:r>
            <a:endParaRPr lang="en-US" sz="1900" noProof="1"/>
          </a:p>
        </p:txBody>
      </p:sp>
      <p:sp>
        <p:nvSpPr>
          <p:cNvPr id="8" name="arch-card"/>
          <p:cNvSpPr/>
          <p:nvPr/>
        </p:nvSpPr>
        <p:spPr>
          <a:xfrm>
            <a:off x="508000" y="1600200"/>
            <a:ext cx="11176000" cy="116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9" name="arch-icon-bg"/>
          <p:cNvSpPr/>
          <p:nvPr/>
        </p:nvSpPr>
        <p:spPr>
          <a:xfrm>
            <a:off x="812800" y="1879600"/>
            <a:ext cx="609600" cy="609600"/>
          </a:xfrm>
          <a:prstGeom prst="ellipse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10" name="arch-icon"/>
          <p:cNvSpPr/>
          <p:nvPr/>
        </p:nvSpPr>
        <p:spPr>
          <a:xfrm>
            <a:off x="965200" y="203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84" y="-1"/>
                </a:moveTo>
                <a:cubicBezTo>
                  <a:pt x="267" y="-11"/>
                  <a:pt x="245" y="-11"/>
                  <a:pt x="228" y="-1"/>
                </a:cubicBezTo>
                <a:lnTo>
                  <a:pt x="144" y="47"/>
                </a:lnTo>
                <a:cubicBezTo>
                  <a:pt x="127" y="57"/>
                  <a:pt x="116" y="76"/>
                  <a:pt x="116" y="96"/>
                </a:cubicBezTo>
                <a:lnTo>
                  <a:pt x="116" y="198"/>
                </a:lnTo>
                <a:lnTo>
                  <a:pt x="28" y="249"/>
                </a:lnTo>
                <a:cubicBezTo>
                  <a:pt x="10" y="259"/>
                  <a:pt x="0" y="277"/>
                  <a:pt x="0" y="297"/>
                </a:cubicBezTo>
                <a:lnTo>
                  <a:pt x="0" y="395"/>
                </a:lnTo>
                <a:cubicBezTo>
                  <a:pt x="0" y="415"/>
                  <a:pt x="10" y="433"/>
                  <a:pt x="28" y="443"/>
                </a:cubicBezTo>
                <a:lnTo>
                  <a:pt x="112" y="492"/>
                </a:lnTo>
                <a:cubicBezTo>
                  <a:pt x="129" y="502"/>
                  <a:pt x="151" y="502"/>
                  <a:pt x="168" y="492"/>
                </a:cubicBezTo>
                <a:lnTo>
                  <a:pt x="256" y="441"/>
                </a:lnTo>
                <a:lnTo>
                  <a:pt x="344" y="492"/>
                </a:lnTo>
                <a:cubicBezTo>
                  <a:pt x="362" y="502"/>
                  <a:pt x="383" y="502"/>
                  <a:pt x="400" y="492"/>
                </a:cubicBezTo>
                <a:lnTo>
                  <a:pt x="485" y="443"/>
                </a:lnTo>
                <a:cubicBezTo>
                  <a:pt x="502" y="433"/>
                  <a:pt x="513" y="415"/>
                  <a:pt x="513" y="395"/>
                </a:cubicBezTo>
                <a:lnTo>
                  <a:pt x="513" y="297"/>
                </a:lnTo>
                <a:cubicBezTo>
                  <a:pt x="513" y="277"/>
                  <a:pt x="502" y="259"/>
                  <a:pt x="485" y="249"/>
                </a:cubicBezTo>
                <a:lnTo>
                  <a:pt x="396" y="198"/>
                </a:lnTo>
                <a:lnTo>
                  <a:pt x="396" y="96"/>
                </a:lnTo>
                <a:cubicBezTo>
                  <a:pt x="396" y="76"/>
                  <a:pt x="386" y="57"/>
                  <a:pt x="368" y="47"/>
                </a:cubicBezTo>
                <a:lnTo>
                  <a:pt x="284" y="-1"/>
                </a:lnTo>
                <a:close/>
                <a:moveTo>
                  <a:pt x="232" y="293"/>
                </a:moveTo>
                <a:lnTo>
                  <a:pt x="232" y="399"/>
                </a:lnTo>
                <a:lnTo>
                  <a:pt x="144" y="450"/>
                </a:lnTo>
                <a:cubicBezTo>
                  <a:pt x="143" y="451"/>
                  <a:pt x="141" y="451"/>
                  <a:pt x="140" y="451"/>
                </a:cubicBezTo>
                <a:lnTo>
                  <a:pt x="140" y="346"/>
                </a:lnTo>
                <a:lnTo>
                  <a:pt x="232" y="293"/>
                </a:lnTo>
                <a:close/>
                <a:moveTo>
                  <a:pt x="463" y="293"/>
                </a:moveTo>
                <a:cubicBezTo>
                  <a:pt x="464" y="294"/>
                  <a:pt x="465" y="296"/>
                  <a:pt x="465" y="297"/>
                </a:cubicBezTo>
                <a:lnTo>
                  <a:pt x="465" y="395"/>
                </a:lnTo>
                <a:cubicBezTo>
                  <a:pt x="465" y="397"/>
                  <a:pt x="463" y="400"/>
                  <a:pt x="461" y="401"/>
                </a:cubicBezTo>
                <a:lnTo>
                  <a:pt x="376" y="450"/>
                </a:lnTo>
                <a:cubicBezTo>
                  <a:pt x="375" y="451"/>
                  <a:pt x="374" y="451"/>
                  <a:pt x="372" y="451"/>
                </a:cubicBezTo>
                <a:lnTo>
                  <a:pt x="372" y="346"/>
                </a:lnTo>
                <a:lnTo>
                  <a:pt x="463" y="293"/>
                </a:lnTo>
                <a:close/>
                <a:moveTo>
                  <a:pt x="348" y="96"/>
                </a:moveTo>
                <a:lnTo>
                  <a:pt x="348" y="198"/>
                </a:lnTo>
                <a:lnTo>
                  <a:pt x="256" y="251"/>
                </a:lnTo>
                <a:lnTo>
                  <a:pt x="256" y="145"/>
                </a:lnTo>
                <a:lnTo>
                  <a:pt x="347" y="92"/>
                </a:lnTo>
                <a:cubicBezTo>
                  <a:pt x="348" y="93"/>
                  <a:pt x="348" y="95"/>
                  <a:pt x="348" y="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" name="arch-title"/>
          <p:cNvSpPr txBox="1"/>
          <p:nvPr/>
        </p:nvSpPr>
        <p:spPr>
          <a:xfrm>
            <a:off x="1676400" y="17526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总体架构：五型模块化积木式智能计算机</a:t>
            </a:r>
            <a:endParaRPr lang="en-US" sz="1800" noProof="1"/>
          </a:p>
        </p:txBody>
      </p:sp>
      <p:sp>
        <p:nvSpPr>
          <p:cNvPr id="12" name="arch-body"/>
          <p:cNvSpPr txBox="1"/>
          <p:nvPr/>
        </p:nvSpPr>
        <p:spPr>
          <a:xfrm>
            <a:off x="1676400" y="2133600"/>
            <a:ext cx="9702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与军科院创新院共同研制：硬件标准化拆解、高速互联总线、软硬件深度解耦，面向车载、机载、艇载、星载极端环境积木式按需组合，大幅缩短新型号研制周期</a:t>
            </a:r>
            <a:endParaRPr lang="en-US" sz="1300" noProof="1"/>
          </a:p>
        </p:txBody>
      </p:sp>
      <p:sp>
        <p:nvSpPr>
          <p:cNvPr id="13" name="equip-label"/>
          <p:cNvSpPr txBox="1"/>
          <p:nvPr/>
        </p:nvSpPr>
        <p:spPr>
          <a:xfrm>
            <a:off x="821690" y="2997200"/>
            <a:ext cx="635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五类典型装备（"十五五"参与研制）</a:t>
            </a:r>
            <a:endParaRPr lang="en-US" sz="1700" noProof="1"/>
          </a:p>
        </p:txBody>
      </p:sp>
      <p:sp>
        <p:nvSpPr>
          <p:cNvPr id="14" name="e1-card"/>
          <p:cNvSpPr/>
          <p:nvPr/>
        </p:nvSpPr>
        <p:spPr>
          <a:xfrm>
            <a:off x="508000" y="3403600"/>
            <a:ext cx="20701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15" name="e1-icon-bg"/>
          <p:cNvSpPr/>
          <p:nvPr/>
        </p:nvSpPr>
        <p:spPr>
          <a:xfrm>
            <a:off x="711200" y="3581400"/>
            <a:ext cx="457200" cy="457200"/>
          </a:xfrm>
          <a:prstGeom prst="ellipse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16" name="e1-icon"/>
          <p:cNvSpPr/>
          <p:nvPr/>
        </p:nvSpPr>
        <p:spPr>
          <a:xfrm>
            <a:off x="825500" y="3695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52" y="32"/>
                </a:lnTo>
                <a:cubicBezTo>
                  <a:pt x="387" y="32"/>
                  <a:pt x="416" y="61"/>
                  <a:pt x="416" y="96"/>
                </a:cubicBezTo>
                <a:lnTo>
                  <a:pt x="416" y="128"/>
                </a:lnTo>
                <a:lnTo>
                  <a:pt x="467" y="128"/>
                </a:lnTo>
                <a:cubicBezTo>
                  <a:pt x="484" y="128"/>
                  <a:pt x="500" y="135"/>
                  <a:pt x="512" y="147"/>
                </a:cubicBezTo>
                <a:lnTo>
                  <a:pt x="557" y="192"/>
                </a:lnTo>
                <a:cubicBezTo>
                  <a:pt x="569" y="204"/>
                  <a:pt x="576" y="220"/>
                  <a:pt x="576" y="237"/>
                </a:cubicBezTo>
                <a:lnTo>
                  <a:pt x="576" y="384"/>
                </a:lnTo>
                <a:cubicBezTo>
                  <a:pt x="576" y="419"/>
                  <a:pt x="547" y="448"/>
                  <a:pt x="512" y="448"/>
                </a:cubicBezTo>
                <a:lnTo>
                  <a:pt x="509" y="448"/>
                </a:lnTo>
                <a:cubicBezTo>
                  <a:pt x="498" y="485"/>
                  <a:pt x="464" y="512"/>
                  <a:pt x="424" y="512"/>
                </a:cubicBezTo>
                <a:cubicBezTo>
                  <a:pt x="384" y="512"/>
                  <a:pt x="350" y="485"/>
                  <a:pt x="339" y="448"/>
                </a:cubicBezTo>
                <a:lnTo>
                  <a:pt x="237" y="448"/>
                </a:lnTo>
                <a:cubicBezTo>
                  <a:pt x="226" y="485"/>
                  <a:pt x="192" y="512"/>
                  <a:pt x="152" y="512"/>
                </a:cubicBezTo>
                <a:cubicBezTo>
                  <a:pt x="112" y="512"/>
                  <a:pt x="78" y="485"/>
                  <a:pt x="67" y="448"/>
                </a:cubicBezTo>
                <a:lnTo>
                  <a:pt x="64" y="448"/>
                </a:lnTo>
                <a:cubicBezTo>
                  <a:pt x="29" y="448"/>
                  <a:pt x="0" y="419"/>
                  <a:pt x="0" y="384"/>
                </a:cubicBezTo>
                <a:lnTo>
                  <a:pt x="0" y="96"/>
                </a:lnTo>
                <a:close/>
                <a:moveTo>
                  <a:pt x="512" y="288"/>
                </a:moveTo>
                <a:lnTo>
                  <a:pt x="512" y="237"/>
                </a:lnTo>
                <a:lnTo>
                  <a:pt x="467" y="192"/>
                </a:lnTo>
                <a:lnTo>
                  <a:pt x="416" y="192"/>
                </a:lnTo>
                <a:lnTo>
                  <a:pt x="416" y="288"/>
                </a:lnTo>
                <a:lnTo>
                  <a:pt x="512" y="288"/>
                </a:lnTo>
                <a:close/>
                <a:moveTo>
                  <a:pt x="192" y="424"/>
                </a:moveTo>
                <a:cubicBezTo>
                  <a:pt x="192" y="402"/>
                  <a:pt x="174" y="384"/>
                  <a:pt x="152" y="384"/>
                </a:cubicBezTo>
                <a:cubicBezTo>
                  <a:pt x="130" y="384"/>
                  <a:pt x="112" y="402"/>
                  <a:pt x="112" y="424"/>
                </a:cubicBezTo>
                <a:cubicBezTo>
                  <a:pt x="112" y="446"/>
                  <a:pt x="130" y="464"/>
                  <a:pt x="152" y="464"/>
                </a:cubicBezTo>
                <a:cubicBezTo>
                  <a:pt x="174" y="464"/>
                  <a:pt x="192" y="446"/>
                  <a:pt x="192" y="424"/>
                </a:cubicBezTo>
                <a:close/>
                <a:moveTo>
                  <a:pt x="424" y="464"/>
                </a:moveTo>
                <a:cubicBezTo>
                  <a:pt x="446" y="464"/>
                  <a:pt x="464" y="446"/>
                  <a:pt x="464" y="424"/>
                </a:cubicBezTo>
                <a:cubicBezTo>
                  <a:pt x="464" y="402"/>
                  <a:pt x="446" y="384"/>
                  <a:pt x="424" y="384"/>
                </a:cubicBezTo>
                <a:cubicBezTo>
                  <a:pt x="402" y="384"/>
                  <a:pt x="384" y="402"/>
                  <a:pt x="384" y="424"/>
                </a:cubicBezTo>
                <a:cubicBezTo>
                  <a:pt x="384" y="446"/>
                  <a:pt x="402" y="464"/>
                  <a:pt x="424" y="4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" name="e1-title"/>
          <p:cNvSpPr txBox="1"/>
          <p:nvPr/>
        </p:nvSpPr>
        <p:spPr>
          <a:xfrm>
            <a:off x="1270000" y="3581400"/>
            <a:ext cx="1219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地面车载</a:t>
            </a:r>
            <a:endParaRPr lang="en-US" sz="1500" noProof="1"/>
          </a:p>
        </p:txBody>
      </p:sp>
      <p:sp>
        <p:nvSpPr>
          <p:cNvPr id="18" name="e1-body"/>
          <p:cNvSpPr txBox="1"/>
          <p:nvPr/>
        </p:nvSpPr>
        <p:spPr>
          <a:xfrm>
            <a:off x="685800" y="4140200"/>
            <a:ext cx="17145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LRM通用计算机与智能计算机</a:t>
            </a:r>
            <a:endParaRPr lang="en-US" sz="1200" noProof="1"/>
          </a:p>
        </p:txBody>
      </p:sp>
      <p:sp>
        <p:nvSpPr>
          <p:cNvPr id="19" name="e2-card"/>
          <p:cNvSpPr/>
          <p:nvPr/>
        </p:nvSpPr>
        <p:spPr>
          <a:xfrm>
            <a:off x="2785110" y="3403600"/>
            <a:ext cx="20701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20" name="e2-icon-bg"/>
          <p:cNvSpPr/>
          <p:nvPr/>
        </p:nvSpPr>
        <p:spPr>
          <a:xfrm>
            <a:off x="2988310" y="3581400"/>
            <a:ext cx="457200" cy="457200"/>
          </a:xfrm>
          <a:prstGeom prst="ellipse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21" name="e2-icon"/>
          <p:cNvSpPr/>
          <p:nvPr/>
        </p:nvSpPr>
        <p:spPr>
          <a:xfrm>
            <a:off x="3102610" y="3695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72" y="0"/>
                </a:moveTo>
                <a:cubicBezTo>
                  <a:pt x="246" y="0"/>
                  <a:pt x="224" y="22"/>
                  <a:pt x="224" y="48"/>
                </a:cubicBezTo>
                <a:lnTo>
                  <a:pt x="224" y="64"/>
                </a:lnTo>
                <a:lnTo>
                  <a:pt x="208" y="64"/>
                </a:lnTo>
                <a:cubicBezTo>
                  <a:pt x="164" y="64"/>
                  <a:pt x="128" y="100"/>
                  <a:pt x="128" y="144"/>
                </a:cubicBezTo>
                <a:lnTo>
                  <a:pt x="128" y="253"/>
                </a:lnTo>
                <a:lnTo>
                  <a:pt x="106" y="261"/>
                </a:lnTo>
                <a:cubicBezTo>
                  <a:pt x="92" y="267"/>
                  <a:pt x="84" y="284"/>
                  <a:pt x="89" y="299"/>
                </a:cubicBezTo>
                <a:cubicBezTo>
                  <a:pt x="99" y="330"/>
                  <a:pt x="116" y="358"/>
                  <a:pt x="137" y="382"/>
                </a:cubicBezTo>
                <a:cubicBezTo>
                  <a:pt x="157" y="373"/>
                  <a:pt x="178" y="368"/>
                  <a:pt x="200" y="368"/>
                </a:cubicBezTo>
                <a:cubicBezTo>
                  <a:pt x="233" y="368"/>
                  <a:pt x="266" y="378"/>
                  <a:pt x="294" y="399"/>
                </a:cubicBezTo>
                <a:lnTo>
                  <a:pt x="296" y="401"/>
                </a:lnTo>
                <a:lnTo>
                  <a:pt x="296" y="186"/>
                </a:lnTo>
                <a:lnTo>
                  <a:pt x="192" y="227"/>
                </a:lnTo>
                <a:lnTo>
                  <a:pt x="192" y="144"/>
                </a:lnTo>
                <a:cubicBezTo>
                  <a:pt x="192" y="135"/>
                  <a:pt x="199" y="128"/>
                  <a:pt x="208" y="128"/>
                </a:cubicBezTo>
                <a:lnTo>
                  <a:pt x="432" y="128"/>
                </a:lnTo>
                <a:cubicBezTo>
                  <a:pt x="441" y="128"/>
                  <a:pt x="448" y="135"/>
                  <a:pt x="448" y="144"/>
                </a:cubicBezTo>
                <a:lnTo>
                  <a:pt x="448" y="227"/>
                </a:lnTo>
                <a:lnTo>
                  <a:pt x="344" y="186"/>
                </a:lnTo>
                <a:lnTo>
                  <a:pt x="344" y="401"/>
                </a:lnTo>
                <a:lnTo>
                  <a:pt x="346" y="399"/>
                </a:lnTo>
                <a:cubicBezTo>
                  <a:pt x="373" y="379"/>
                  <a:pt x="406" y="368"/>
                  <a:pt x="438" y="368"/>
                </a:cubicBezTo>
                <a:cubicBezTo>
                  <a:pt x="460" y="368"/>
                  <a:pt x="483" y="372"/>
                  <a:pt x="503" y="382"/>
                </a:cubicBezTo>
                <a:cubicBezTo>
                  <a:pt x="524" y="358"/>
                  <a:pt x="541" y="330"/>
                  <a:pt x="551" y="299"/>
                </a:cubicBezTo>
                <a:cubicBezTo>
                  <a:pt x="556" y="284"/>
                  <a:pt x="548" y="267"/>
                  <a:pt x="534" y="261"/>
                </a:cubicBezTo>
                <a:lnTo>
                  <a:pt x="512" y="253"/>
                </a:lnTo>
                <a:lnTo>
                  <a:pt x="512" y="144"/>
                </a:lnTo>
                <a:cubicBezTo>
                  <a:pt x="512" y="100"/>
                  <a:pt x="476" y="64"/>
                  <a:pt x="432" y="64"/>
                </a:cubicBezTo>
                <a:lnTo>
                  <a:pt x="416" y="64"/>
                </a:lnTo>
                <a:lnTo>
                  <a:pt x="416" y="48"/>
                </a:lnTo>
                <a:cubicBezTo>
                  <a:pt x="416" y="22"/>
                  <a:pt x="395" y="0"/>
                  <a:pt x="368" y="0"/>
                </a:cubicBezTo>
                <a:lnTo>
                  <a:pt x="272" y="0"/>
                </a:lnTo>
                <a:close/>
                <a:moveTo>
                  <a:pt x="403" y="476"/>
                </a:moveTo>
                <a:cubicBezTo>
                  <a:pt x="425" y="460"/>
                  <a:pt x="453" y="460"/>
                  <a:pt x="475" y="476"/>
                </a:cubicBezTo>
                <a:cubicBezTo>
                  <a:pt x="494" y="491"/>
                  <a:pt x="517" y="504"/>
                  <a:pt x="542" y="509"/>
                </a:cubicBezTo>
                <a:cubicBezTo>
                  <a:pt x="568" y="515"/>
                  <a:pt x="596" y="510"/>
                  <a:pt x="623" y="490"/>
                </a:cubicBezTo>
                <a:cubicBezTo>
                  <a:pt x="633" y="482"/>
                  <a:pt x="635" y="467"/>
                  <a:pt x="627" y="457"/>
                </a:cubicBezTo>
                <a:cubicBezTo>
                  <a:pt x="619" y="446"/>
                  <a:pt x="604" y="444"/>
                  <a:pt x="594" y="452"/>
                </a:cubicBezTo>
                <a:cubicBezTo>
                  <a:pt x="579" y="463"/>
                  <a:pt x="565" y="465"/>
                  <a:pt x="551" y="462"/>
                </a:cubicBezTo>
                <a:cubicBezTo>
                  <a:pt x="536" y="459"/>
                  <a:pt x="520" y="450"/>
                  <a:pt x="504" y="438"/>
                </a:cubicBezTo>
                <a:cubicBezTo>
                  <a:pt x="465" y="409"/>
                  <a:pt x="413" y="409"/>
                  <a:pt x="375" y="438"/>
                </a:cubicBezTo>
                <a:cubicBezTo>
                  <a:pt x="351" y="456"/>
                  <a:pt x="334" y="464"/>
                  <a:pt x="320" y="464"/>
                </a:cubicBezTo>
                <a:cubicBezTo>
                  <a:pt x="306" y="464"/>
                  <a:pt x="290" y="456"/>
                  <a:pt x="266" y="438"/>
                </a:cubicBezTo>
                <a:cubicBezTo>
                  <a:pt x="227" y="409"/>
                  <a:pt x="175" y="409"/>
                  <a:pt x="137" y="438"/>
                </a:cubicBezTo>
                <a:cubicBezTo>
                  <a:pt x="115" y="454"/>
                  <a:pt x="95" y="464"/>
                  <a:pt x="78" y="463"/>
                </a:cubicBezTo>
                <a:cubicBezTo>
                  <a:pt x="68" y="463"/>
                  <a:pt x="58" y="460"/>
                  <a:pt x="46" y="452"/>
                </a:cubicBezTo>
                <a:cubicBezTo>
                  <a:pt x="36" y="444"/>
                  <a:pt x="21" y="446"/>
                  <a:pt x="13" y="457"/>
                </a:cubicBezTo>
                <a:cubicBezTo>
                  <a:pt x="5" y="467"/>
                  <a:pt x="7" y="482"/>
                  <a:pt x="18" y="490"/>
                </a:cubicBezTo>
                <a:cubicBezTo>
                  <a:pt x="37" y="505"/>
                  <a:pt x="57" y="511"/>
                  <a:pt x="77" y="511"/>
                </a:cubicBezTo>
                <a:cubicBezTo>
                  <a:pt x="111" y="512"/>
                  <a:pt x="142" y="494"/>
                  <a:pt x="166" y="476"/>
                </a:cubicBezTo>
                <a:cubicBezTo>
                  <a:pt x="187" y="460"/>
                  <a:pt x="215" y="460"/>
                  <a:pt x="237" y="476"/>
                </a:cubicBezTo>
                <a:cubicBezTo>
                  <a:pt x="261" y="494"/>
                  <a:pt x="289" y="512"/>
                  <a:pt x="320" y="512"/>
                </a:cubicBezTo>
                <a:cubicBezTo>
                  <a:pt x="351" y="512"/>
                  <a:pt x="379" y="494"/>
                  <a:pt x="404" y="47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" name="e2-title"/>
          <p:cNvSpPr txBox="1"/>
          <p:nvPr/>
        </p:nvSpPr>
        <p:spPr>
          <a:xfrm>
            <a:off x="3547110" y="3581400"/>
            <a:ext cx="1219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舰艇装备</a:t>
            </a:r>
            <a:endParaRPr lang="en-US" sz="1500" noProof="1"/>
          </a:p>
        </p:txBody>
      </p:sp>
      <p:sp>
        <p:nvSpPr>
          <p:cNvPr id="23" name="e2-body"/>
          <p:cNvSpPr txBox="1"/>
          <p:nvPr/>
        </p:nvSpPr>
        <p:spPr>
          <a:xfrm>
            <a:off x="2962910" y="4140200"/>
            <a:ext cx="17145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新一代智能化信息基础设施</a:t>
            </a:r>
            <a:endParaRPr lang="en-US" sz="1200" noProof="1"/>
          </a:p>
        </p:txBody>
      </p:sp>
      <p:sp>
        <p:nvSpPr>
          <p:cNvPr id="24" name="e3-card"/>
          <p:cNvSpPr/>
          <p:nvPr/>
        </p:nvSpPr>
        <p:spPr>
          <a:xfrm>
            <a:off x="5060950" y="3403600"/>
            <a:ext cx="20701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25" name="e3-icon-bg"/>
          <p:cNvSpPr/>
          <p:nvPr/>
        </p:nvSpPr>
        <p:spPr>
          <a:xfrm>
            <a:off x="5264150" y="3581400"/>
            <a:ext cx="457200" cy="457200"/>
          </a:xfrm>
          <a:prstGeom prst="ellipse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26" name="e3-icon"/>
          <p:cNvSpPr/>
          <p:nvPr/>
        </p:nvSpPr>
        <p:spPr>
          <a:xfrm>
            <a:off x="5378450" y="3695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20" y="200"/>
                </a:moveTo>
                <a:cubicBezTo>
                  <a:pt x="551" y="200"/>
                  <a:pt x="576" y="225"/>
                  <a:pt x="576" y="256"/>
                </a:cubicBezTo>
                <a:cubicBezTo>
                  <a:pt x="576" y="287"/>
                  <a:pt x="551" y="312"/>
                  <a:pt x="520" y="312"/>
                </a:cubicBezTo>
                <a:lnTo>
                  <a:pt x="393" y="312"/>
                </a:lnTo>
                <a:lnTo>
                  <a:pt x="234" y="486"/>
                </a:lnTo>
                <a:cubicBezTo>
                  <a:pt x="227" y="492"/>
                  <a:pt x="219" y="496"/>
                  <a:pt x="210" y="496"/>
                </a:cubicBezTo>
                <a:lnTo>
                  <a:pt x="166" y="496"/>
                </a:lnTo>
                <a:cubicBezTo>
                  <a:pt x="155" y="496"/>
                  <a:pt x="148" y="485"/>
                  <a:pt x="151" y="475"/>
                </a:cubicBezTo>
                <a:lnTo>
                  <a:pt x="205" y="312"/>
                </a:lnTo>
                <a:lnTo>
                  <a:pt x="106" y="312"/>
                </a:lnTo>
                <a:lnTo>
                  <a:pt x="53" y="378"/>
                </a:lnTo>
                <a:cubicBezTo>
                  <a:pt x="50" y="382"/>
                  <a:pt x="45" y="384"/>
                  <a:pt x="40" y="384"/>
                </a:cubicBezTo>
                <a:lnTo>
                  <a:pt x="21" y="384"/>
                </a:lnTo>
                <a:cubicBezTo>
                  <a:pt x="10" y="384"/>
                  <a:pt x="3" y="374"/>
                  <a:pt x="5" y="364"/>
                </a:cubicBezTo>
                <a:lnTo>
                  <a:pt x="32" y="256"/>
                </a:lnTo>
                <a:lnTo>
                  <a:pt x="5" y="148"/>
                </a:lnTo>
                <a:cubicBezTo>
                  <a:pt x="2" y="138"/>
                  <a:pt x="10" y="128"/>
                  <a:pt x="21" y="128"/>
                </a:cubicBezTo>
                <a:lnTo>
                  <a:pt x="40" y="128"/>
                </a:lnTo>
                <a:cubicBezTo>
                  <a:pt x="45" y="128"/>
                  <a:pt x="50" y="130"/>
                  <a:pt x="53" y="134"/>
                </a:cubicBezTo>
                <a:lnTo>
                  <a:pt x="106" y="200"/>
                </a:lnTo>
                <a:lnTo>
                  <a:pt x="205" y="200"/>
                </a:lnTo>
                <a:lnTo>
                  <a:pt x="151" y="37"/>
                </a:lnTo>
                <a:cubicBezTo>
                  <a:pt x="148" y="27"/>
                  <a:pt x="155" y="16"/>
                  <a:pt x="166" y="16"/>
                </a:cubicBezTo>
                <a:lnTo>
                  <a:pt x="210" y="16"/>
                </a:lnTo>
                <a:cubicBezTo>
                  <a:pt x="219" y="16"/>
                  <a:pt x="227" y="20"/>
                  <a:pt x="233" y="26"/>
                </a:cubicBezTo>
                <a:lnTo>
                  <a:pt x="393" y="200"/>
                </a:lnTo>
                <a:lnTo>
                  <a:pt x="520" y="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" name="e3-title"/>
          <p:cNvSpPr txBox="1"/>
          <p:nvPr/>
        </p:nvSpPr>
        <p:spPr>
          <a:xfrm>
            <a:off x="5822950" y="3581400"/>
            <a:ext cx="1219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航空装备</a:t>
            </a:r>
            <a:endParaRPr lang="en-US" sz="1500" noProof="1"/>
          </a:p>
        </p:txBody>
      </p:sp>
      <p:sp>
        <p:nvSpPr>
          <p:cNvPr id="28" name="e3-body"/>
          <p:cNvSpPr txBox="1"/>
          <p:nvPr/>
        </p:nvSpPr>
        <p:spPr>
          <a:xfrm>
            <a:off x="5238750" y="4140200"/>
            <a:ext cx="17145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ASAAC通用CPU与GPGPU模块</a:t>
            </a:r>
            <a:endParaRPr lang="en-US" sz="1200" noProof="1"/>
          </a:p>
        </p:txBody>
      </p:sp>
      <p:sp>
        <p:nvSpPr>
          <p:cNvPr id="29" name="e4-card"/>
          <p:cNvSpPr/>
          <p:nvPr/>
        </p:nvSpPr>
        <p:spPr>
          <a:xfrm>
            <a:off x="7338060" y="3403600"/>
            <a:ext cx="20701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30" name="e4-icon-bg"/>
          <p:cNvSpPr/>
          <p:nvPr/>
        </p:nvSpPr>
        <p:spPr>
          <a:xfrm>
            <a:off x="7541260" y="3581400"/>
            <a:ext cx="457200" cy="457200"/>
          </a:xfrm>
          <a:prstGeom prst="ellipse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31" name="e4-icon"/>
          <p:cNvSpPr/>
          <p:nvPr/>
        </p:nvSpPr>
        <p:spPr>
          <a:xfrm>
            <a:off x="7655560" y="3695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40" y="32"/>
                </a:moveTo>
                <a:cubicBezTo>
                  <a:pt x="214" y="32"/>
                  <a:pt x="192" y="54"/>
                  <a:pt x="192" y="80"/>
                </a:cubicBezTo>
                <a:lnTo>
                  <a:pt x="192" y="144"/>
                </a:lnTo>
                <a:cubicBezTo>
                  <a:pt x="192" y="171"/>
                  <a:pt x="214" y="192"/>
                  <a:pt x="240" y="192"/>
                </a:cubicBezTo>
                <a:lnTo>
                  <a:pt x="256" y="192"/>
                </a:lnTo>
                <a:lnTo>
                  <a:pt x="256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128" y="288"/>
                </a:lnTo>
                <a:lnTo>
                  <a:pt x="128" y="320"/>
                </a:lnTo>
                <a:lnTo>
                  <a:pt x="112" y="320"/>
                </a:lnTo>
                <a:cubicBezTo>
                  <a:pt x="86" y="320"/>
                  <a:pt x="64" y="342"/>
                  <a:pt x="64" y="368"/>
                </a:cubicBezTo>
                <a:lnTo>
                  <a:pt x="64" y="432"/>
                </a:lnTo>
                <a:cubicBezTo>
                  <a:pt x="64" y="459"/>
                  <a:pt x="86" y="480"/>
                  <a:pt x="112" y="480"/>
                </a:cubicBezTo>
                <a:lnTo>
                  <a:pt x="208" y="480"/>
                </a:lnTo>
                <a:cubicBezTo>
                  <a:pt x="235" y="480"/>
                  <a:pt x="256" y="459"/>
                  <a:pt x="256" y="432"/>
                </a:cubicBezTo>
                <a:lnTo>
                  <a:pt x="256" y="368"/>
                </a:lnTo>
                <a:cubicBezTo>
                  <a:pt x="256" y="342"/>
                  <a:pt x="235" y="320"/>
                  <a:pt x="208" y="320"/>
                </a:cubicBezTo>
                <a:lnTo>
                  <a:pt x="192" y="320"/>
                </a:lnTo>
                <a:lnTo>
                  <a:pt x="192" y="288"/>
                </a:lnTo>
                <a:lnTo>
                  <a:pt x="384" y="288"/>
                </a:lnTo>
                <a:lnTo>
                  <a:pt x="384" y="320"/>
                </a:lnTo>
                <a:lnTo>
                  <a:pt x="368" y="320"/>
                </a:lnTo>
                <a:cubicBezTo>
                  <a:pt x="342" y="320"/>
                  <a:pt x="320" y="342"/>
                  <a:pt x="320" y="368"/>
                </a:cubicBezTo>
                <a:lnTo>
                  <a:pt x="320" y="432"/>
                </a:lnTo>
                <a:cubicBezTo>
                  <a:pt x="320" y="459"/>
                  <a:pt x="342" y="480"/>
                  <a:pt x="368" y="480"/>
                </a:cubicBezTo>
                <a:lnTo>
                  <a:pt x="464" y="480"/>
                </a:lnTo>
                <a:cubicBezTo>
                  <a:pt x="491" y="480"/>
                  <a:pt x="512" y="459"/>
                  <a:pt x="512" y="432"/>
                </a:cubicBezTo>
                <a:lnTo>
                  <a:pt x="512" y="368"/>
                </a:lnTo>
                <a:cubicBezTo>
                  <a:pt x="512" y="342"/>
                  <a:pt x="491" y="320"/>
                  <a:pt x="464" y="320"/>
                </a:cubicBezTo>
                <a:lnTo>
                  <a:pt x="448" y="320"/>
                </a:lnTo>
                <a:lnTo>
                  <a:pt x="448" y="288"/>
                </a:lnTo>
                <a:lnTo>
                  <a:pt x="544" y="288"/>
                </a:lnTo>
                <a:cubicBezTo>
                  <a:pt x="562" y="288"/>
                  <a:pt x="576" y="274"/>
                  <a:pt x="576" y="256"/>
                </a:cubicBezTo>
                <a:cubicBezTo>
                  <a:pt x="576" y="238"/>
                  <a:pt x="562" y="224"/>
                  <a:pt x="544" y="224"/>
                </a:cubicBezTo>
                <a:lnTo>
                  <a:pt x="320" y="224"/>
                </a:lnTo>
                <a:lnTo>
                  <a:pt x="320" y="192"/>
                </a:lnTo>
                <a:lnTo>
                  <a:pt x="336" y="192"/>
                </a:lnTo>
                <a:cubicBezTo>
                  <a:pt x="363" y="192"/>
                  <a:pt x="384" y="171"/>
                  <a:pt x="384" y="144"/>
                </a:cubicBezTo>
                <a:lnTo>
                  <a:pt x="384" y="80"/>
                </a:lnTo>
                <a:cubicBezTo>
                  <a:pt x="384" y="54"/>
                  <a:pt x="363" y="32"/>
                  <a:pt x="336" y="32"/>
                </a:cubicBezTo>
                <a:lnTo>
                  <a:pt x="240" y="32"/>
                </a:lnTo>
                <a:close/>
                <a:moveTo>
                  <a:pt x="248" y="88"/>
                </a:moveTo>
                <a:lnTo>
                  <a:pt x="328" y="88"/>
                </a:lnTo>
                <a:lnTo>
                  <a:pt x="328" y="136"/>
                </a:lnTo>
                <a:lnTo>
                  <a:pt x="248" y="136"/>
                </a:lnTo>
                <a:lnTo>
                  <a:pt x="248" y="88"/>
                </a:lnTo>
                <a:close/>
                <a:moveTo>
                  <a:pt x="448" y="376"/>
                </a:moveTo>
                <a:lnTo>
                  <a:pt x="456" y="376"/>
                </a:lnTo>
                <a:lnTo>
                  <a:pt x="456" y="424"/>
                </a:lnTo>
                <a:lnTo>
                  <a:pt x="376" y="424"/>
                </a:lnTo>
                <a:lnTo>
                  <a:pt x="376" y="376"/>
                </a:lnTo>
                <a:lnTo>
                  <a:pt x="448" y="376"/>
                </a:lnTo>
                <a:close/>
                <a:moveTo>
                  <a:pt x="192" y="376"/>
                </a:moveTo>
                <a:lnTo>
                  <a:pt x="200" y="376"/>
                </a:lnTo>
                <a:lnTo>
                  <a:pt x="200" y="424"/>
                </a:lnTo>
                <a:lnTo>
                  <a:pt x="120" y="424"/>
                </a:lnTo>
                <a:lnTo>
                  <a:pt x="120" y="376"/>
                </a:lnTo>
                <a:lnTo>
                  <a:pt x="192" y="37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2" name="e4-title"/>
          <p:cNvSpPr txBox="1"/>
          <p:nvPr/>
        </p:nvSpPr>
        <p:spPr>
          <a:xfrm>
            <a:off x="8100060" y="3581400"/>
            <a:ext cx="1219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网信装备</a:t>
            </a:r>
            <a:endParaRPr lang="en-US" sz="1500" noProof="1"/>
          </a:p>
        </p:txBody>
      </p:sp>
      <p:sp>
        <p:nvSpPr>
          <p:cNvPr id="33" name="e4-body"/>
          <p:cNvSpPr txBox="1"/>
          <p:nvPr/>
        </p:nvSpPr>
        <p:spPr>
          <a:xfrm>
            <a:off x="7515860" y="4140200"/>
            <a:ext cx="17145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面向城市作战的边端智算平台</a:t>
            </a:r>
            <a:endParaRPr lang="en-US" sz="1200" noProof="1"/>
          </a:p>
        </p:txBody>
      </p:sp>
      <p:sp>
        <p:nvSpPr>
          <p:cNvPr id="34" name="e5-card"/>
          <p:cNvSpPr/>
          <p:nvPr/>
        </p:nvSpPr>
        <p:spPr>
          <a:xfrm>
            <a:off x="9613900" y="3403600"/>
            <a:ext cx="20701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B4B8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35" name="e5-icon-bg"/>
          <p:cNvSpPr/>
          <p:nvPr/>
        </p:nvSpPr>
        <p:spPr>
          <a:xfrm>
            <a:off x="9817100" y="3581400"/>
            <a:ext cx="457200" cy="457200"/>
          </a:xfrm>
          <a:prstGeom prst="ellipse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36" name="e5-icon"/>
          <p:cNvSpPr/>
          <p:nvPr/>
        </p:nvSpPr>
        <p:spPr>
          <a:xfrm>
            <a:off x="9931400" y="3695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99" y="7"/>
                </a:moveTo>
                <a:cubicBezTo>
                  <a:pt x="208" y="-2"/>
                  <a:pt x="224" y="-2"/>
                  <a:pt x="233" y="7"/>
                </a:cubicBezTo>
                <a:lnTo>
                  <a:pt x="322" y="96"/>
                </a:lnTo>
                <a:lnTo>
                  <a:pt x="377" y="41"/>
                </a:lnTo>
                <a:cubicBezTo>
                  <a:pt x="390" y="29"/>
                  <a:pt x="410" y="29"/>
                  <a:pt x="423" y="41"/>
                </a:cubicBezTo>
                <a:lnTo>
                  <a:pt x="471" y="89"/>
                </a:lnTo>
                <a:cubicBezTo>
                  <a:pt x="483" y="102"/>
                  <a:pt x="483" y="122"/>
                  <a:pt x="471" y="135"/>
                </a:cubicBezTo>
                <a:lnTo>
                  <a:pt x="416" y="190"/>
                </a:lnTo>
                <a:lnTo>
                  <a:pt x="505" y="279"/>
                </a:lnTo>
                <a:cubicBezTo>
                  <a:pt x="514" y="289"/>
                  <a:pt x="514" y="304"/>
                  <a:pt x="505" y="313"/>
                </a:cubicBezTo>
                <a:lnTo>
                  <a:pt x="409" y="409"/>
                </a:lnTo>
                <a:cubicBezTo>
                  <a:pt x="400" y="418"/>
                  <a:pt x="384" y="418"/>
                  <a:pt x="375" y="409"/>
                </a:cubicBezTo>
                <a:lnTo>
                  <a:pt x="286" y="320"/>
                </a:lnTo>
                <a:lnTo>
                  <a:pt x="270" y="335"/>
                </a:lnTo>
                <a:cubicBezTo>
                  <a:pt x="282" y="360"/>
                  <a:pt x="288" y="387"/>
                  <a:pt x="288" y="416"/>
                </a:cubicBezTo>
                <a:cubicBezTo>
                  <a:pt x="288" y="448"/>
                  <a:pt x="280" y="478"/>
                  <a:pt x="267" y="504"/>
                </a:cubicBezTo>
                <a:cubicBezTo>
                  <a:pt x="262" y="513"/>
                  <a:pt x="250" y="514"/>
                  <a:pt x="243" y="507"/>
                </a:cubicBezTo>
                <a:lnTo>
                  <a:pt x="147" y="411"/>
                </a:lnTo>
                <a:lnTo>
                  <a:pt x="87" y="471"/>
                </a:lnTo>
                <a:cubicBezTo>
                  <a:pt x="74" y="483"/>
                  <a:pt x="54" y="483"/>
                  <a:pt x="41" y="471"/>
                </a:cubicBezTo>
                <a:cubicBezTo>
                  <a:pt x="29" y="458"/>
                  <a:pt x="29" y="438"/>
                  <a:pt x="41" y="425"/>
                </a:cubicBezTo>
                <a:lnTo>
                  <a:pt x="101" y="365"/>
                </a:lnTo>
                <a:lnTo>
                  <a:pt x="5" y="269"/>
                </a:lnTo>
                <a:cubicBezTo>
                  <a:pt x="-2" y="262"/>
                  <a:pt x="-1" y="250"/>
                  <a:pt x="8" y="245"/>
                </a:cubicBezTo>
                <a:cubicBezTo>
                  <a:pt x="35" y="232"/>
                  <a:pt x="64" y="224"/>
                  <a:pt x="96" y="224"/>
                </a:cubicBezTo>
                <a:cubicBezTo>
                  <a:pt x="125" y="224"/>
                  <a:pt x="152" y="230"/>
                  <a:pt x="177" y="242"/>
                </a:cubicBezTo>
                <a:lnTo>
                  <a:pt x="192" y="226"/>
                </a:lnTo>
                <a:lnTo>
                  <a:pt x="103" y="137"/>
                </a:lnTo>
                <a:cubicBezTo>
                  <a:pt x="94" y="128"/>
                  <a:pt x="94" y="112"/>
                  <a:pt x="103" y="103"/>
                </a:cubicBezTo>
                <a:lnTo>
                  <a:pt x="199" y="7"/>
                </a:lnTo>
                <a:close/>
                <a:moveTo>
                  <a:pt x="216" y="58"/>
                </a:moveTo>
                <a:lnTo>
                  <a:pt x="154" y="120"/>
                </a:lnTo>
                <a:lnTo>
                  <a:pt x="226" y="192"/>
                </a:lnTo>
                <a:lnTo>
                  <a:pt x="288" y="130"/>
                </a:lnTo>
                <a:lnTo>
                  <a:pt x="216" y="58"/>
                </a:lnTo>
                <a:close/>
                <a:moveTo>
                  <a:pt x="392" y="358"/>
                </a:moveTo>
                <a:lnTo>
                  <a:pt x="454" y="296"/>
                </a:lnTo>
                <a:lnTo>
                  <a:pt x="382" y="224"/>
                </a:lnTo>
                <a:lnTo>
                  <a:pt x="320" y="286"/>
                </a:lnTo>
                <a:lnTo>
                  <a:pt x="392" y="35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" name="e5-title"/>
          <p:cNvSpPr txBox="1"/>
          <p:nvPr/>
        </p:nvSpPr>
        <p:spPr>
          <a:xfrm>
            <a:off x="10375900" y="3581400"/>
            <a:ext cx="1219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卫星装备</a:t>
            </a:r>
            <a:endParaRPr lang="en-US" sz="1500" noProof="1"/>
          </a:p>
        </p:txBody>
      </p:sp>
      <p:sp>
        <p:nvSpPr>
          <p:cNvPr id="38" name="e5-body"/>
          <p:cNvSpPr txBox="1"/>
          <p:nvPr/>
        </p:nvSpPr>
        <p:spPr>
          <a:xfrm>
            <a:off x="9791700" y="4140200"/>
            <a:ext cx="17145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星载AI载荷算力不低于256TOPS</a:t>
            </a:r>
            <a:endParaRPr lang="en-US" sz="1200" noProof="1"/>
          </a:p>
        </p:txBody>
      </p:sp>
      <p:sp>
        <p:nvSpPr>
          <p:cNvPr id="39" name="std-bar"/>
          <p:cNvSpPr/>
          <p:nvPr/>
        </p:nvSpPr>
        <p:spPr>
          <a:xfrm>
            <a:off x="508000" y="5334000"/>
            <a:ext cx="11176000" cy="7112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B3000C"/>
              </a:gs>
              <a:gs pos="100000">
                <a:srgbClr val="E50011"/>
              </a:gs>
            </a:gsLst>
            <a:lin ang="0" scaled="1"/>
          </a:gradFill>
          <a:ln>
            <a:noFill/>
          </a:ln>
          <a:effectLst>
            <a:outerShdw blurRad="101600" dist="38100" dir="5400000" algn="bl" rotWithShape="0">
              <a:srgbClr val="000000">
                <a:alpha val="12157"/>
              </a:srgbClr>
            </a:outerShdw>
          </a:effectLst>
        </p:spPr>
      </p:sp>
      <p:sp>
        <p:nvSpPr>
          <p:cNvPr id="40" name="std-icon"/>
          <p:cNvSpPr/>
          <p:nvPr/>
        </p:nvSpPr>
        <p:spPr>
          <a:xfrm>
            <a:off x="812800" y="5524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112"/>
                </a:moveTo>
                <a:cubicBezTo>
                  <a:pt x="0" y="71"/>
                  <a:pt x="32" y="36"/>
                  <a:pt x="72" y="32"/>
                </a:cubicBezTo>
                <a:lnTo>
                  <a:pt x="72" y="32"/>
                </a:lnTo>
                <a:lnTo>
                  <a:pt x="352" y="32"/>
                </a:lnTo>
                <a:cubicBezTo>
                  <a:pt x="405" y="32"/>
                  <a:pt x="448" y="75"/>
                  <a:pt x="448" y="128"/>
                </a:cubicBezTo>
                <a:lnTo>
                  <a:pt x="448" y="304"/>
                </a:lnTo>
                <a:lnTo>
                  <a:pt x="272" y="304"/>
                </a:lnTo>
                <a:cubicBezTo>
                  <a:pt x="232" y="304"/>
                  <a:pt x="200" y="336"/>
                  <a:pt x="200" y="376"/>
                </a:cubicBezTo>
                <a:lnTo>
                  <a:pt x="200" y="436"/>
                </a:lnTo>
                <a:cubicBezTo>
                  <a:pt x="200" y="460"/>
                  <a:pt x="180" y="480"/>
                  <a:pt x="156" y="480"/>
                </a:cubicBezTo>
                <a:cubicBezTo>
                  <a:pt x="132" y="480"/>
                  <a:pt x="112" y="460"/>
                  <a:pt x="112" y="436"/>
                </a:cubicBezTo>
                <a:lnTo>
                  <a:pt x="112" y="208"/>
                </a:lnTo>
                <a:lnTo>
                  <a:pt x="48" y="208"/>
                </a:lnTo>
                <a:cubicBezTo>
                  <a:pt x="22" y="208"/>
                  <a:pt x="0" y="187"/>
                  <a:pt x="0" y="160"/>
                </a:cubicBezTo>
                <a:lnTo>
                  <a:pt x="0" y="112"/>
                </a:lnTo>
                <a:close/>
                <a:moveTo>
                  <a:pt x="80" y="80"/>
                </a:moveTo>
                <a:cubicBezTo>
                  <a:pt x="62" y="80"/>
                  <a:pt x="48" y="94"/>
                  <a:pt x="48" y="112"/>
                </a:cubicBezTo>
                <a:lnTo>
                  <a:pt x="48" y="160"/>
                </a:lnTo>
                <a:lnTo>
                  <a:pt x="112" y="160"/>
                </a:lnTo>
                <a:lnTo>
                  <a:pt x="112" y="112"/>
                </a:lnTo>
                <a:cubicBezTo>
                  <a:pt x="112" y="94"/>
                  <a:pt x="98" y="80"/>
                  <a:pt x="80" y="80"/>
                </a:cubicBezTo>
                <a:close/>
              </a:path>
              <a:path w="576" h="512">
                <a:moveTo>
                  <a:pt x="237" y="480"/>
                </a:moveTo>
                <a:cubicBezTo>
                  <a:pt x="244" y="467"/>
                  <a:pt x="248" y="452"/>
                  <a:pt x="248" y="436"/>
                </a:cubicBezTo>
                <a:lnTo>
                  <a:pt x="248" y="376"/>
                </a:lnTo>
                <a:cubicBezTo>
                  <a:pt x="248" y="363"/>
                  <a:pt x="259" y="352"/>
                  <a:pt x="272" y="352"/>
                </a:cubicBezTo>
                <a:lnTo>
                  <a:pt x="520" y="352"/>
                </a:lnTo>
                <a:cubicBezTo>
                  <a:pt x="533" y="352"/>
                  <a:pt x="544" y="363"/>
                  <a:pt x="544" y="376"/>
                </a:cubicBezTo>
                <a:lnTo>
                  <a:pt x="544" y="400"/>
                </a:lnTo>
                <a:cubicBezTo>
                  <a:pt x="544" y="444"/>
                  <a:pt x="508" y="480"/>
                  <a:pt x="464" y="480"/>
                </a:cubicBezTo>
                <a:lnTo>
                  <a:pt x="237" y="4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1" name="std-title"/>
          <p:cNvSpPr txBox="1"/>
          <p:nvPr/>
        </p:nvSpPr>
        <p:spPr>
          <a:xfrm>
            <a:off x="1320800" y="54356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基础支撑：军用计算标准</a:t>
            </a:r>
            <a:endParaRPr lang="en-US" sz="1600" noProof="1"/>
          </a:p>
        </p:txBody>
      </p:sp>
      <p:sp>
        <p:nvSpPr>
          <p:cNvPr id="42" name="std-body"/>
          <p:cNvSpPr txBox="1"/>
          <p:nvPr/>
        </p:nvSpPr>
        <p:spPr>
          <a:xfrm>
            <a:off x="4064000" y="5435600"/>
            <a:ext cx="7416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以GJB322A等标准体系为基础开展标准制定，构建覆盖设计、研制、验证、部署、运维全流程的标准化技术体系</a:t>
            </a:r>
            <a:endParaRPr lang="en-US" sz="1250" noProof="1"/>
          </a:p>
        </p:txBody>
      </p:sp>
      <p:pic>
        <p:nvPicPr>
          <p:cNvPr id="43" name="footer-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9264650" y="6574790"/>
            <a:ext cx="935990" cy="170180"/>
          </a:xfrm>
          <a:prstGeom prst="rect">
            <a:avLst/>
          </a:prstGeom>
          <a:ln>
            <a:noFill/>
          </a:ln>
        </p:spPr>
      </p:pic>
      <p:sp>
        <p:nvSpPr>
          <p:cNvPr id="44" name="footer-text"/>
          <p:cNvSpPr txBox="1"/>
          <p:nvPr/>
        </p:nvSpPr>
        <p:spPr>
          <a:xfrm>
            <a:off x="10219690" y="6551930"/>
            <a:ext cx="1974850" cy="185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长沙湘计海盾科技有限公司</a:t>
            </a:r>
            <a:endParaRPr lang="en-US" sz="1200" noProof="1"/>
          </a:p>
        </p:txBody>
      </p:sp>
      <p:sp>
        <p:nvSpPr>
          <p:cNvPr id="45" name="head-line"/>
          <p:cNvSpPr/>
          <p:nvPr/>
        </p:nvSpPr>
        <p:spPr>
          <a:xfrm>
            <a:off x="711200" y="1016000"/>
            <a:ext cx="10807700" cy="12700"/>
          </a:xfrm>
          <a:custGeom>
            <a:avLst/>
            <a:gdLst/>
            <a:ahLst/>
            <a:cxnLst/>
            <a:rect l="l" t="t" r="r" b="b"/>
            <a:pathLst>
              <a:path w="851" h="1">
                <a:moveTo>
                  <a:pt x="0" y="1"/>
                </a:moveTo>
                <a:lnTo>
                  <a:pt x="851" y="1"/>
                </a:lnTo>
              </a:path>
            </a:pathLst>
          </a:custGeom>
          <a:noFill/>
          <a:ln w="12700" cap="rnd">
            <a:solidFill>
              <a:srgbClr val="333333"/>
            </a:solidFill>
            <a:round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1270" y="7620"/>
            <a:ext cx="12192000" cy="685673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9626600" y="-284480"/>
            <a:ext cx="2668270" cy="1647190"/>
          </a:xfrm>
          <a:prstGeom prst="rect">
            <a:avLst/>
          </a:prstGeom>
          <a:ln>
            <a:noFill/>
          </a:ln>
        </p:spPr>
      </p:pic>
      <p:sp>
        <p:nvSpPr>
          <p:cNvPr id="4" name="red-square"/>
          <p:cNvSpPr/>
          <p:nvPr/>
        </p:nvSpPr>
        <p:spPr>
          <a:xfrm>
            <a:off x="-3810" y="632460"/>
            <a:ext cx="403860" cy="276860"/>
          </a:xfrm>
          <a:prstGeom prst="rect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717550" y="361950"/>
            <a:ext cx="9210040" cy="461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项目组建立历程</a:t>
            </a:r>
            <a:endParaRPr lang="en-US" sz="3000" noProof="1"/>
          </a:p>
        </p:txBody>
      </p:sp>
      <p:sp>
        <p:nvSpPr>
          <p:cNvPr id="7" name="tl-line"/>
          <p:cNvSpPr/>
          <p:nvPr/>
        </p:nvSpPr>
        <p:spPr>
          <a:xfrm>
            <a:off x="1016000" y="3225800"/>
            <a:ext cx="10160000" cy="38100"/>
          </a:xfrm>
          <a:prstGeom prst="rect">
            <a:avLst/>
          </a:prstGeom>
          <a:solidFill>
            <a:srgbClr val="E60013"/>
          </a:solidFill>
          <a:ln>
            <a:noFill/>
          </a:ln>
        </p:spPr>
      </p:sp>
      <p:sp>
        <p:nvSpPr>
          <p:cNvPr id="8" name="n1-dot"/>
          <p:cNvSpPr/>
          <p:nvPr/>
        </p:nvSpPr>
        <p:spPr>
          <a:xfrm>
            <a:off x="1562100" y="3149600"/>
            <a:ext cx="190500" cy="1905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</p:sp>
      <p:sp>
        <p:nvSpPr>
          <p:cNvPr id="9" name="n1-conn"/>
          <p:cNvSpPr/>
          <p:nvPr/>
        </p:nvSpPr>
        <p:spPr>
          <a:xfrm>
            <a:off x="1644650" y="2641600"/>
            <a:ext cx="25400" cy="508000"/>
          </a:xfrm>
          <a:prstGeom prst="rect">
            <a:avLst/>
          </a:prstGeom>
          <a:solidFill>
            <a:srgbClr val="F0A3AA"/>
          </a:solidFill>
          <a:ln>
            <a:noFill/>
          </a:ln>
        </p:spPr>
      </p:sp>
      <p:sp>
        <p:nvSpPr>
          <p:cNvPr id="10" name="n1-date"/>
          <p:cNvSpPr txBox="1"/>
          <p:nvPr/>
        </p:nvSpPr>
        <p:spPr>
          <a:xfrm>
            <a:off x="762000" y="16256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 noProof="1">
                <a:solidFill>
                  <a:srgbClr val="E60013"/>
                </a:solidFill>
                <a:latin typeface="Arial" panose="020B0604020202020204"/>
                <a:ea typeface="Arial" panose="020B0604020202020204"/>
              </a:rPr>
              <a:t>2026.05</a:t>
            </a:r>
            <a:endParaRPr lang="en-US" sz="1700" noProof="1"/>
          </a:p>
        </p:txBody>
      </p:sp>
      <p:sp>
        <p:nvSpPr>
          <p:cNvPr id="11" name="n1-desc"/>
          <p:cNvSpPr txBox="1"/>
          <p:nvPr/>
        </p:nvSpPr>
        <p:spPr>
          <a:xfrm>
            <a:off x="762000" y="1981200"/>
            <a:ext cx="1778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</a:rPr>
              <a:t>决定成立AI项目组</a:t>
            </a:r>
            <a:endParaRPr lang="en-US" sz="1250" noProof="1"/>
          </a:p>
        </p:txBody>
      </p:sp>
      <p:sp>
        <p:nvSpPr>
          <p:cNvPr id="12" name="n2-dot"/>
          <p:cNvSpPr/>
          <p:nvPr/>
        </p:nvSpPr>
        <p:spPr>
          <a:xfrm>
            <a:off x="3467100" y="3149600"/>
            <a:ext cx="190500" cy="1905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</p:sp>
      <p:sp>
        <p:nvSpPr>
          <p:cNvPr id="13" name="n2-conn"/>
          <p:cNvSpPr/>
          <p:nvPr/>
        </p:nvSpPr>
        <p:spPr>
          <a:xfrm>
            <a:off x="3549650" y="3340100"/>
            <a:ext cx="25400" cy="406400"/>
          </a:xfrm>
          <a:prstGeom prst="rect">
            <a:avLst/>
          </a:prstGeom>
          <a:solidFill>
            <a:srgbClr val="F0A3AA"/>
          </a:solidFill>
          <a:ln>
            <a:noFill/>
          </a:ln>
        </p:spPr>
      </p:sp>
      <p:sp>
        <p:nvSpPr>
          <p:cNvPr id="14" name="n2-date"/>
          <p:cNvSpPr txBox="1"/>
          <p:nvPr/>
        </p:nvSpPr>
        <p:spPr>
          <a:xfrm>
            <a:off x="2667000" y="37465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 noProof="1">
                <a:solidFill>
                  <a:srgbClr val="E60013"/>
                </a:solidFill>
                <a:latin typeface="Arial" panose="020B0604020202020204"/>
                <a:ea typeface="Arial" panose="020B0604020202020204"/>
              </a:rPr>
              <a:t>2026.06</a:t>
            </a:r>
            <a:endParaRPr lang="en-US" sz="1700" noProof="1"/>
          </a:p>
        </p:txBody>
      </p:sp>
      <p:sp>
        <p:nvSpPr>
          <p:cNvPr id="15" name="n2-desc"/>
          <p:cNvSpPr txBox="1"/>
          <p:nvPr/>
        </p:nvSpPr>
        <p:spPr>
          <a:xfrm>
            <a:off x="2667000" y="4102100"/>
            <a:ext cx="1778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</a:rPr>
              <a:t>完成项目组人员确定</a:t>
            </a:r>
            <a:endParaRPr lang="en-US" sz="1250" noProof="1"/>
          </a:p>
        </p:txBody>
      </p:sp>
      <p:sp>
        <p:nvSpPr>
          <p:cNvPr id="16" name="n3-dot"/>
          <p:cNvSpPr/>
          <p:nvPr/>
        </p:nvSpPr>
        <p:spPr>
          <a:xfrm>
            <a:off x="5372100" y="3149600"/>
            <a:ext cx="190500" cy="1905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</p:sp>
      <p:sp>
        <p:nvSpPr>
          <p:cNvPr id="17" name="n3-conn"/>
          <p:cNvSpPr/>
          <p:nvPr/>
        </p:nvSpPr>
        <p:spPr>
          <a:xfrm>
            <a:off x="5454650" y="2641600"/>
            <a:ext cx="25400" cy="508000"/>
          </a:xfrm>
          <a:prstGeom prst="rect">
            <a:avLst/>
          </a:prstGeom>
          <a:solidFill>
            <a:srgbClr val="F0A3AA"/>
          </a:solidFill>
          <a:ln>
            <a:noFill/>
          </a:ln>
        </p:spPr>
      </p:sp>
      <p:sp>
        <p:nvSpPr>
          <p:cNvPr id="18" name="n3-date"/>
          <p:cNvSpPr txBox="1"/>
          <p:nvPr/>
        </p:nvSpPr>
        <p:spPr>
          <a:xfrm>
            <a:off x="4572000" y="16256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 noProof="1">
                <a:solidFill>
                  <a:srgbClr val="E60013"/>
                </a:solidFill>
                <a:latin typeface="Arial" panose="020B0604020202020204"/>
                <a:ea typeface="Arial" panose="020B0604020202020204"/>
              </a:rPr>
              <a:t>2026.07</a:t>
            </a:r>
            <a:endParaRPr lang="en-US" sz="1700" noProof="1"/>
          </a:p>
        </p:txBody>
      </p:sp>
      <p:sp>
        <p:nvSpPr>
          <p:cNvPr id="19" name="n3-desc"/>
          <p:cNvSpPr txBox="1"/>
          <p:nvPr/>
        </p:nvSpPr>
        <p:spPr>
          <a:xfrm>
            <a:off x="4572000" y="1981200"/>
            <a:ext cx="1778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</a:rPr>
              <a:t>办公室装修方案与硬件方案确定</a:t>
            </a:r>
            <a:endParaRPr lang="en-US" sz="1250" noProof="1"/>
          </a:p>
        </p:txBody>
      </p:sp>
      <p:sp>
        <p:nvSpPr>
          <p:cNvPr id="20" name="n4-dot"/>
          <p:cNvSpPr/>
          <p:nvPr/>
        </p:nvSpPr>
        <p:spPr>
          <a:xfrm>
            <a:off x="7277100" y="3149600"/>
            <a:ext cx="190500" cy="1905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</p:sp>
      <p:sp>
        <p:nvSpPr>
          <p:cNvPr id="21" name="n4-conn"/>
          <p:cNvSpPr/>
          <p:nvPr/>
        </p:nvSpPr>
        <p:spPr>
          <a:xfrm>
            <a:off x="7359650" y="3340100"/>
            <a:ext cx="25400" cy="406400"/>
          </a:xfrm>
          <a:prstGeom prst="rect">
            <a:avLst/>
          </a:prstGeom>
          <a:solidFill>
            <a:srgbClr val="F0A3AA"/>
          </a:solidFill>
          <a:ln>
            <a:noFill/>
          </a:ln>
        </p:spPr>
      </p:sp>
      <p:sp>
        <p:nvSpPr>
          <p:cNvPr id="22" name="n4-date"/>
          <p:cNvSpPr txBox="1"/>
          <p:nvPr/>
        </p:nvSpPr>
        <p:spPr>
          <a:xfrm>
            <a:off x="6477000" y="37465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 noProof="1">
                <a:solidFill>
                  <a:srgbClr val="E60013"/>
                </a:solidFill>
                <a:latin typeface="Arial" panose="020B0604020202020204"/>
                <a:ea typeface="Arial" panose="020B0604020202020204"/>
              </a:rPr>
              <a:t>2026.08</a:t>
            </a:r>
            <a:endParaRPr lang="en-US" sz="1700" noProof="1"/>
          </a:p>
        </p:txBody>
      </p:sp>
      <p:sp>
        <p:nvSpPr>
          <p:cNvPr id="23" name="n4-desc"/>
          <p:cNvSpPr txBox="1"/>
          <p:nvPr/>
        </p:nvSpPr>
        <p:spPr>
          <a:xfrm>
            <a:off x="6477000" y="4102100"/>
            <a:ext cx="1778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</a:rPr>
              <a:t>确定软件架构方案</a:t>
            </a:r>
            <a:endParaRPr lang="en-US" sz="1250" noProof="1"/>
          </a:p>
        </p:txBody>
      </p:sp>
      <p:sp>
        <p:nvSpPr>
          <p:cNvPr id="24" name="n5-dot"/>
          <p:cNvSpPr/>
          <p:nvPr/>
        </p:nvSpPr>
        <p:spPr>
          <a:xfrm>
            <a:off x="9182100" y="3149600"/>
            <a:ext cx="190500" cy="1905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</p:sp>
      <p:sp>
        <p:nvSpPr>
          <p:cNvPr id="25" name="n5-conn"/>
          <p:cNvSpPr/>
          <p:nvPr/>
        </p:nvSpPr>
        <p:spPr>
          <a:xfrm>
            <a:off x="9264650" y="2641600"/>
            <a:ext cx="25400" cy="508000"/>
          </a:xfrm>
          <a:prstGeom prst="rect">
            <a:avLst/>
          </a:prstGeom>
          <a:solidFill>
            <a:srgbClr val="F0A3AA"/>
          </a:solidFill>
          <a:ln>
            <a:noFill/>
          </a:ln>
        </p:spPr>
      </p:sp>
      <p:sp>
        <p:nvSpPr>
          <p:cNvPr id="26" name="n5-date"/>
          <p:cNvSpPr txBox="1"/>
          <p:nvPr/>
        </p:nvSpPr>
        <p:spPr>
          <a:xfrm>
            <a:off x="8382000" y="16256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 noProof="1">
                <a:solidFill>
                  <a:srgbClr val="E60013"/>
                </a:solidFill>
                <a:latin typeface="Arial" panose="020B0604020202020204"/>
                <a:ea typeface="Arial" panose="020B0604020202020204"/>
              </a:rPr>
              <a:t>2026.09</a:t>
            </a:r>
            <a:endParaRPr lang="en-US" sz="1700" noProof="1"/>
          </a:p>
        </p:txBody>
      </p:sp>
      <p:sp>
        <p:nvSpPr>
          <p:cNvPr id="27" name="n5-desc"/>
          <p:cNvSpPr txBox="1"/>
          <p:nvPr/>
        </p:nvSpPr>
        <p:spPr>
          <a:xfrm>
            <a:off x="8382000" y="1981200"/>
            <a:ext cx="1778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</a:rPr>
              <a:t>办公场地完成装修、硬件到位</a:t>
            </a:r>
            <a:endParaRPr lang="en-US" sz="1250" noProof="1"/>
          </a:p>
        </p:txBody>
      </p:sp>
      <p:sp>
        <p:nvSpPr>
          <p:cNvPr id="28" name="n6-dot-ring"/>
          <p:cNvSpPr/>
          <p:nvPr/>
        </p:nvSpPr>
        <p:spPr>
          <a:xfrm>
            <a:off x="10998200" y="3060700"/>
            <a:ext cx="368300" cy="368300"/>
          </a:xfrm>
          <a:prstGeom prst="ellipse">
            <a:avLst/>
          </a:prstGeom>
          <a:solidFill>
            <a:srgbClr val="E60013">
              <a:alpha val="20000"/>
            </a:srgbClr>
          </a:solidFill>
          <a:ln>
            <a:noFill/>
          </a:ln>
        </p:spPr>
      </p:sp>
      <p:sp>
        <p:nvSpPr>
          <p:cNvPr id="29" name="n6-dot"/>
          <p:cNvSpPr/>
          <p:nvPr/>
        </p:nvSpPr>
        <p:spPr>
          <a:xfrm>
            <a:off x="11087100" y="3149600"/>
            <a:ext cx="190500" cy="1905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</p:sp>
      <p:sp>
        <p:nvSpPr>
          <p:cNvPr id="30" name="n6-conn"/>
          <p:cNvSpPr/>
          <p:nvPr/>
        </p:nvSpPr>
        <p:spPr>
          <a:xfrm>
            <a:off x="11169650" y="3429000"/>
            <a:ext cx="25400" cy="317500"/>
          </a:xfrm>
          <a:prstGeom prst="rect">
            <a:avLst/>
          </a:prstGeom>
          <a:solidFill>
            <a:srgbClr val="F0A3AA"/>
          </a:solidFill>
          <a:ln>
            <a:noFill/>
          </a:ln>
        </p:spPr>
      </p:sp>
      <p:sp>
        <p:nvSpPr>
          <p:cNvPr id="31" name="n6-date"/>
          <p:cNvSpPr txBox="1"/>
          <p:nvPr/>
        </p:nvSpPr>
        <p:spPr>
          <a:xfrm>
            <a:off x="10287000" y="37465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 noProof="1">
                <a:solidFill>
                  <a:srgbClr val="E60013"/>
                </a:solidFill>
                <a:latin typeface="微软雅黑" panose="020B0503020204020204" charset="-122"/>
                <a:ea typeface="微软雅黑" panose="020B0503020204020204" charset="-122"/>
              </a:rPr>
              <a:t>至今</a:t>
            </a:r>
            <a:endParaRPr lang="en-US" sz="1700" noProof="1"/>
          </a:p>
        </p:txBody>
      </p:sp>
      <p:sp>
        <p:nvSpPr>
          <p:cNvPr id="32" name="n6-desc"/>
          <p:cNvSpPr txBox="1"/>
          <p:nvPr/>
        </p:nvSpPr>
        <p:spPr>
          <a:xfrm>
            <a:off x="10160000" y="41021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</a:rPr>
              <a:t>部署软硬件环境、底层LLM部署调优、软件选型</a:t>
            </a:r>
            <a:endParaRPr lang="en-US" sz="1250" noProof="1"/>
          </a:p>
        </p:txBody>
      </p:sp>
      <p:sp>
        <p:nvSpPr>
          <p:cNvPr id="33" name="ph1-card"/>
          <p:cNvSpPr/>
          <p:nvPr/>
        </p:nvSpPr>
        <p:spPr>
          <a:xfrm>
            <a:off x="717550" y="4953000"/>
            <a:ext cx="5270500" cy="147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9DB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pic>
        <p:nvPicPr>
          <p:cNvPr id="34" name="ph1-im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819150" y="5054600"/>
            <a:ext cx="1270000" cy="1270000"/>
          </a:xfrm>
          <a:prstGeom prst="roundRect">
            <a:avLst>
              <a:gd name="adj" fmla="val 8000"/>
            </a:avLst>
          </a:prstGeom>
          <a:ln>
            <a:noFill/>
          </a:ln>
        </p:spPr>
      </p:pic>
      <p:sp>
        <p:nvSpPr>
          <p:cNvPr id="35" name="ph1-tag"/>
          <p:cNvSpPr/>
          <p:nvPr/>
        </p:nvSpPr>
        <p:spPr>
          <a:xfrm>
            <a:off x="2266950" y="5130800"/>
            <a:ext cx="812800" cy="279400"/>
          </a:xfrm>
          <a:prstGeom prst="roundRect">
            <a:avLst>
              <a:gd name="adj" fmla="val 50000"/>
            </a:avLst>
          </a:prstGeom>
          <a:solidFill>
            <a:srgbClr val="E60013"/>
          </a:solidFill>
          <a:ln>
            <a:noFill/>
          </a:ln>
        </p:spPr>
      </p:sp>
      <p:sp>
        <p:nvSpPr>
          <p:cNvPr id="36" name="ph1-tag-text"/>
          <p:cNvSpPr txBox="1"/>
          <p:nvPr/>
        </p:nvSpPr>
        <p:spPr>
          <a:xfrm>
            <a:off x="2266950" y="5130800"/>
            <a:ext cx="81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2026.09</a:t>
            </a:r>
            <a:endParaRPr lang="en-US" sz="1100" noProof="1"/>
          </a:p>
        </p:txBody>
      </p:sp>
      <p:sp>
        <p:nvSpPr>
          <p:cNvPr id="37" name="ph1-title"/>
          <p:cNvSpPr txBox="1"/>
          <p:nvPr/>
        </p:nvSpPr>
        <p:spPr>
          <a:xfrm>
            <a:off x="2266950" y="54864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</a:rPr>
              <a:t>AI服务器上架安装</a:t>
            </a:r>
            <a:endParaRPr lang="en-US" sz="1400" noProof="1"/>
          </a:p>
        </p:txBody>
      </p:sp>
      <p:sp>
        <p:nvSpPr>
          <p:cNvPr id="38" name="ph1-desc"/>
          <p:cNvSpPr txBox="1"/>
          <p:nvPr/>
        </p:nvSpPr>
        <p:spPr>
          <a:xfrm>
            <a:off x="2266950" y="57912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擎天GH7280V6-7490服务器、4张沐曦C500算力卡与桥接板完成安装</a:t>
            </a:r>
            <a:endParaRPr lang="en-US" sz="1100" noProof="1"/>
          </a:p>
        </p:txBody>
      </p:sp>
      <p:sp>
        <p:nvSpPr>
          <p:cNvPr id="39" name="ph2-card"/>
          <p:cNvSpPr/>
          <p:nvPr/>
        </p:nvSpPr>
        <p:spPr>
          <a:xfrm>
            <a:off x="6203950" y="4953000"/>
            <a:ext cx="5270500" cy="147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9DB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pic>
        <p:nvPicPr>
          <p:cNvPr id="40" name="ph2-im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6305550" y="5054600"/>
            <a:ext cx="1270000" cy="1270000"/>
          </a:xfrm>
          <a:prstGeom prst="roundRect">
            <a:avLst>
              <a:gd name="adj" fmla="val 8000"/>
            </a:avLst>
          </a:prstGeom>
          <a:ln>
            <a:noFill/>
          </a:ln>
        </p:spPr>
      </p:pic>
      <p:sp>
        <p:nvSpPr>
          <p:cNvPr id="41" name="ph2-tag"/>
          <p:cNvSpPr/>
          <p:nvPr/>
        </p:nvSpPr>
        <p:spPr>
          <a:xfrm>
            <a:off x="7753350" y="5130800"/>
            <a:ext cx="812800" cy="279400"/>
          </a:xfrm>
          <a:prstGeom prst="roundRect">
            <a:avLst>
              <a:gd name="adj" fmla="val 50000"/>
            </a:avLst>
          </a:prstGeom>
          <a:solidFill>
            <a:srgbClr val="E60013"/>
          </a:solidFill>
          <a:ln>
            <a:noFill/>
          </a:ln>
        </p:spPr>
      </p:sp>
      <p:sp>
        <p:nvSpPr>
          <p:cNvPr id="42" name="ph2-tag-text"/>
          <p:cNvSpPr txBox="1"/>
          <p:nvPr/>
        </p:nvSpPr>
        <p:spPr>
          <a:xfrm>
            <a:off x="7753350" y="5130800"/>
            <a:ext cx="81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2026.09</a:t>
            </a:r>
            <a:endParaRPr lang="en-US" sz="1100" noProof="1"/>
          </a:p>
        </p:txBody>
      </p:sp>
      <p:sp>
        <p:nvSpPr>
          <p:cNvPr id="43" name="ph2-title"/>
          <p:cNvSpPr txBox="1"/>
          <p:nvPr/>
        </p:nvSpPr>
        <p:spPr>
          <a:xfrm>
            <a:off x="7753350" y="54864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</a:rPr>
              <a:t>办公场地装修完成</a:t>
            </a:r>
            <a:endParaRPr lang="en-US" sz="1400" noProof="1"/>
          </a:p>
        </p:txBody>
      </p:sp>
      <p:sp>
        <p:nvSpPr>
          <p:cNvPr id="44" name="ph2-desc"/>
          <p:cNvSpPr txBox="1"/>
          <p:nvPr/>
        </p:nvSpPr>
        <p:spPr>
          <a:xfrm>
            <a:off x="7753350" y="57912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电路改造、办公桌椅、会议电视屏、网络等全部就绪并投入使用</a:t>
            </a:r>
            <a:endParaRPr lang="en-US" sz="1100" noProof="1"/>
          </a:p>
        </p:txBody>
      </p:sp>
      <p:pic>
        <p:nvPicPr>
          <p:cNvPr id="45" name="footer-logo"/>
          <p:cNvPicPr/>
          <p:nvPr/>
        </p:nvPicPr>
        <p:blipFill>
          <a:blip r:embed="rId5"/>
          <a:stretch>
            <a:fillRect/>
          </a:stretch>
        </p:blipFill>
        <p:spPr>
          <a:xfrm>
            <a:off x="9264650" y="6574790"/>
            <a:ext cx="935990" cy="170180"/>
          </a:xfrm>
          <a:prstGeom prst="rect">
            <a:avLst/>
          </a:prstGeom>
          <a:ln>
            <a:noFill/>
          </a:ln>
        </p:spPr>
      </p:pic>
      <p:sp>
        <p:nvSpPr>
          <p:cNvPr id="46" name="footer-text"/>
          <p:cNvSpPr txBox="1"/>
          <p:nvPr/>
        </p:nvSpPr>
        <p:spPr>
          <a:xfrm>
            <a:off x="10219690" y="6551930"/>
            <a:ext cx="1974850" cy="185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长沙湘计海盾科技有限公司</a:t>
            </a:r>
            <a:endParaRPr lang="en-US" sz="1200" noProof="1"/>
          </a:p>
        </p:txBody>
      </p:sp>
      <p:sp>
        <p:nvSpPr>
          <p:cNvPr id="47" name="head-line"/>
          <p:cNvSpPr/>
          <p:nvPr/>
        </p:nvSpPr>
        <p:spPr>
          <a:xfrm>
            <a:off x="711200" y="1016000"/>
            <a:ext cx="10807700" cy="12700"/>
          </a:xfrm>
          <a:custGeom>
            <a:avLst/>
            <a:gdLst/>
            <a:ahLst/>
            <a:cxnLst/>
            <a:rect l="l" t="t" r="r" b="b"/>
            <a:pathLst>
              <a:path w="851" h="1">
                <a:moveTo>
                  <a:pt x="0" y="1"/>
                </a:moveTo>
                <a:lnTo>
                  <a:pt x="851" y="1"/>
                </a:lnTo>
              </a:path>
            </a:pathLst>
          </a:custGeom>
          <a:noFill/>
          <a:ln w="12700" cap="rnd">
            <a:solidFill>
              <a:srgbClr val="333333"/>
            </a:solidFill>
            <a:round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1270" y="7620"/>
            <a:ext cx="12192000" cy="685673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9626600" y="-284480"/>
            <a:ext cx="2668270" cy="1647190"/>
          </a:xfrm>
          <a:prstGeom prst="rect">
            <a:avLst/>
          </a:prstGeom>
          <a:ln>
            <a:noFill/>
          </a:ln>
        </p:spPr>
      </p:pic>
      <p:sp>
        <p:nvSpPr>
          <p:cNvPr id="4" name="red-square"/>
          <p:cNvSpPr/>
          <p:nvPr/>
        </p:nvSpPr>
        <p:spPr>
          <a:xfrm>
            <a:off x="-3810" y="632460"/>
            <a:ext cx="403860" cy="276860"/>
          </a:xfrm>
          <a:prstGeom prst="rect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717550" y="361950"/>
            <a:ext cx="6350000" cy="461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硬件配置清单</a:t>
            </a:r>
            <a:endParaRPr lang="en-US" sz="3000" noProof="1"/>
          </a:p>
        </p:txBody>
      </p:sp>
      <p:sp>
        <p:nvSpPr>
          <p:cNvPr id="7" name="title-tag"/>
          <p:cNvSpPr/>
          <p:nvPr/>
        </p:nvSpPr>
        <p:spPr>
          <a:xfrm>
            <a:off x="7112000" y="431800"/>
            <a:ext cx="1905000" cy="330200"/>
          </a:xfrm>
          <a:prstGeom prst="roundRect">
            <a:avLst>
              <a:gd name="adj" fmla="val 50000"/>
            </a:avLst>
          </a:prstGeom>
          <a:solidFill>
            <a:srgbClr val="E60013"/>
          </a:solidFill>
          <a:ln>
            <a:noFill/>
          </a:ln>
        </p:spPr>
      </p:sp>
      <p:sp>
        <p:nvSpPr>
          <p:cNvPr id="8" name="title-tag-text"/>
          <p:cNvSpPr txBox="1"/>
          <p:nvPr/>
        </p:nvSpPr>
        <p:spPr>
          <a:xfrm>
            <a:off x="7112000" y="4318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已到位并投入使用</a:t>
            </a:r>
            <a:endParaRPr lang="en-US" sz="1200" noProof="1"/>
          </a:p>
        </p:txBody>
      </p:sp>
      <p:sp>
        <p:nvSpPr>
          <p:cNvPr id="9" name="calc1-bg"/>
          <p:cNvSpPr/>
          <p:nvPr/>
        </p:nvSpPr>
        <p:spPr>
          <a:xfrm>
            <a:off x="593090" y="1016000"/>
            <a:ext cx="2565400" cy="965200"/>
          </a:xfrm>
          <a:prstGeom prst="roundRect">
            <a:avLst>
              <a:gd name="adj" fmla="val 8000"/>
            </a:avLst>
          </a:prstGeom>
          <a:solidFill>
            <a:srgbClr val="FDF6F7"/>
          </a:solidFill>
          <a:ln>
            <a:noFill/>
          </a:ln>
        </p:spPr>
      </p:sp>
      <p:sp>
        <p:nvSpPr>
          <p:cNvPr id="10" name="calc1-title"/>
          <p:cNvSpPr txBox="1"/>
          <p:nvPr/>
        </p:nvSpPr>
        <p:spPr>
          <a:xfrm>
            <a:off x="745490" y="1117600"/>
            <a:ext cx="2260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① 单token算力消耗</a:t>
            </a:r>
            <a:endParaRPr lang="en-US" sz="1250" noProof="1"/>
          </a:p>
        </p:txBody>
      </p:sp>
      <p:sp>
        <p:nvSpPr>
          <p:cNvPr id="11" name="calc1-body"/>
          <p:cNvSpPr txBox="1"/>
          <p:nvPr/>
        </p:nvSpPr>
        <p:spPr>
          <a:xfrm>
            <a:off x="745490" y="1397000"/>
            <a:ext cx="2260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noProof="1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≈ 2 × 模型参数量；70B FP16 → 140 GFLOPs</a:t>
            </a:r>
            <a:endParaRPr lang="en-US" sz="1050" noProof="1"/>
          </a:p>
        </p:txBody>
      </p:sp>
      <p:sp>
        <p:nvSpPr>
          <p:cNvPr id="12" name="calc2-bg"/>
          <p:cNvSpPr/>
          <p:nvPr/>
        </p:nvSpPr>
        <p:spPr>
          <a:xfrm>
            <a:off x="3323590" y="1016000"/>
            <a:ext cx="2565400" cy="965200"/>
          </a:xfrm>
          <a:prstGeom prst="roundRect">
            <a:avLst>
              <a:gd name="adj" fmla="val 8000"/>
            </a:avLst>
          </a:prstGeom>
          <a:solidFill>
            <a:srgbClr val="FDF6F7"/>
          </a:solidFill>
          <a:ln>
            <a:noFill/>
          </a:ln>
        </p:spPr>
      </p:sp>
      <p:sp>
        <p:nvSpPr>
          <p:cNvPr id="13" name="calc2-title"/>
          <p:cNvSpPr txBox="1"/>
          <p:nvPr/>
        </p:nvSpPr>
        <p:spPr>
          <a:xfrm>
            <a:off x="3475990" y="1117600"/>
            <a:ext cx="2260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② 单用户算力需求</a:t>
            </a:r>
            <a:endParaRPr lang="en-US" sz="1250" noProof="1"/>
          </a:p>
        </p:txBody>
      </p:sp>
      <p:sp>
        <p:nvSpPr>
          <p:cNvPr id="14" name="calc2-body"/>
          <p:cNvSpPr txBox="1"/>
          <p:nvPr/>
        </p:nvSpPr>
        <p:spPr>
          <a:xfrm>
            <a:off x="3475990" y="1397000"/>
            <a:ext cx="2260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noProof="1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30 tok/s × 140 GFLOPs × 1.5 ≈ 6.3 TFLOPS BF16</a:t>
            </a:r>
            <a:endParaRPr lang="en-US" sz="1050" noProof="1"/>
          </a:p>
        </p:txBody>
      </p:sp>
      <p:sp>
        <p:nvSpPr>
          <p:cNvPr id="15" name="calc3-bg"/>
          <p:cNvSpPr/>
          <p:nvPr/>
        </p:nvSpPr>
        <p:spPr>
          <a:xfrm>
            <a:off x="6054090" y="1016000"/>
            <a:ext cx="2565400" cy="965200"/>
          </a:xfrm>
          <a:prstGeom prst="roundRect">
            <a:avLst>
              <a:gd name="adj" fmla="val 8000"/>
            </a:avLst>
          </a:prstGeom>
          <a:solidFill>
            <a:srgbClr val="FDF6F7"/>
          </a:solidFill>
          <a:ln>
            <a:noFill/>
          </a:ln>
        </p:spPr>
      </p:sp>
      <p:sp>
        <p:nvSpPr>
          <p:cNvPr id="16" name="calc3-title"/>
          <p:cNvSpPr txBox="1"/>
          <p:nvPr/>
        </p:nvSpPr>
        <p:spPr>
          <a:xfrm>
            <a:off x="6206490" y="1117600"/>
            <a:ext cx="2260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③ 公司总算力需求</a:t>
            </a:r>
            <a:endParaRPr lang="en-US" sz="1250" noProof="1"/>
          </a:p>
        </p:txBody>
      </p:sp>
      <p:sp>
        <p:nvSpPr>
          <p:cNvPr id="17" name="calc3-body"/>
          <p:cNvSpPr txBox="1"/>
          <p:nvPr/>
        </p:nvSpPr>
        <p:spPr>
          <a:xfrm>
            <a:off x="6206490" y="1397000"/>
            <a:ext cx="2260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noProof="1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高峰30人 × 6.3 TFLOPS ≈ 189 TFLOPS BF16</a:t>
            </a:r>
            <a:endParaRPr lang="en-US" sz="1050" noProof="1"/>
          </a:p>
        </p:txBody>
      </p:sp>
      <p:sp>
        <p:nvSpPr>
          <p:cNvPr id="18" name="calc4-bg"/>
          <p:cNvSpPr/>
          <p:nvPr/>
        </p:nvSpPr>
        <p:spPr>
          <a:xfrm>
            <a:off x="8784590" y="1016000"/>
            <a:ext cx="2806700" cy="965200"/>
          </a:xfrm>
          <a:prstGeom prst="roundRect">
            <a:avLst>
              <a:gd name="adj" fmla="val 8000"/>
            </a:avLst>
          </a:prstGeom>
          <a:solidFill>
            <a:srgbClr val="E60013"/>
          </a:solidFill>
          <a:ln>
            <a:noFill/>
          </a:ln>
        </p:spPr>
      </p:sp>
      <p:sp>
        <p:nvSpPr>
          <p:cNvPr id="19" name="calc4-title"/>
          <p:cNvSpPr txBox="1"/>
          <p:nvPr/>
        </p:nvSpPr>
        <p:spPr>
          <a:xfrm>
            <a:off x="8936990" y="1117600"/>
            <a:ext cx="25019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配置结论</a:t>
            </a:r>
            <a:endParaRPr lang="en-US" sz="1250" noProof="1"/>
          </a:p>
        </p:txBody>
      </p:sp>
      <p:sp>
        <p:nvSpPr>
          <p:cNvPr id="20" name="calc4-body"/>
          <p:cNvSpPr txBox="1"/>
          <p:nvPr/>
        </p:nvSpPr>
        <p:spPr>
          <a:xfrm>
            <a:off x="8936990" y="1397000"/>
            <a:ext cx="25019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noProof="1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4张沐曦C500（256GB显存）满足70B＋缓存＋30用户并发</a:t>
            </a:r>
            <a:endParaRPr lang="en-US" sz="1050" noProof="1"/>
          </a:p>
        </p:txBody>
      </p:sp>
      <p:graphicFrame>
        <p:nvGraphicFramePr>
          <p:cNvPr id="21" name="hw-table"/>
          <p:cNvGraphicFramePr>
            <a:graphicFrameLocks noGrp="1"/>
          </p:cNvGraphicFramePr>
          <p:nvPr/>
        </p:nvGraphicFramePr>
        <p:xfrm>
          <a:off x="844867" y="2087880"/>
          <a:ext cx="10502265" cy="3736340"/>
        </p:xfrm>
        <a:graphic>
          <a:graphicData uri="http://schemas.openxmlformats.org/drawingml/2006/table">
            <a:tbl>
              <a:tblPr/>
              <a:tblGrid>
                <a:gridCol w="2713990"/>
                <a:gridCol w="5497830"/>
                <a:gridCol w="2290445"/>
              </a:tblGrid>
              <a:tr h="349885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sz="1400" b="1" spc="120" noProof="1">
                          <a:solidFill>
                            <a:srgbClr val="FFFFFF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项目</a:t>
                      </a:r>
                      <a:endParaRPr lang="zh-CN" sz="1400" b="1" spc="120" noProof="1">
                        <a:solidFill>
                          <a:srgbClr val="FFFFFF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E60013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sz="1400" b="1" spc="120" noProof="1">
                          <a:solidFill>
                            <a:srgbClr val="FFFFFF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配置</a:t>
                      </a:r>
                      <a:r>
                        <a:rPr lang="en-US" altLang="zh-CN" sz="1400" b="1" spc="120" noProof="1">
                          <a:solidFill>
                            <a:srgbClr val="FFFFFF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 / </a:t>
                      </a:r>
                      <a:r>
                        <a:rPr lang="zh-CN" altLang="en-US" sz="1400" b="1" spc="120" noProof="1">
                          <a:solidFill>
                            <a:srgbClr val="FFFFFF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规格</a:t>
                      </a:r>
                      <a:endParaRPr lang="zh-CN" altLang="en-US" sz="1400" b="1" spc="120" noProof="1">
                        <a:solidFill>
                          <a:srgbClr val="FFFFFF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E60013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sz="1400" b="1" spc="120" noProof="1">
                          <a:solidFill>
                            <a:srgbClr val="FFFFFF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数量</a:t>
                      </a:r>
                      <a:endParaRPr lang="zh-CN" sz="1400" b="1" spc="120" noProof="1">
                        <a:solidFill>
                          <a:srgbClr val="FFFFFF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E60013"/>
                    </a:solidFill>
                  </a:tcPr>
                </a:tc>
              </a:tr>
              <a:tr h="307975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b="1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①服务器主机</a:t>
                      </a:r>
                      <a:endParaRPr lang="en-US" sz="1200" b="1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DF6F7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擎天 GH7280V6-7490（详见下方配置）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1 台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307975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· CPU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海光 7490 × 2（2.7G / 64核）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—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307340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· 内存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DF6F7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32GB DDR5 4800 × 12（共 384GB）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DF6F7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—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DF6F7"/>
                    </a:solidFill>
                  </a:tcPr>
                </a:tc>
              </a:tr>
              <a:tr h="307975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· 系统盘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480GB SSD × 2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—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307975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· 数据盘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DF6F7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3.84TB SSD × 2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DF6F7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—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DF6F7"/>
                    </a:solidFill>
                  </a:tcPr>
                </a:tc>
              </a:tr>
              <a:tr h="307975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· RAID 卡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9560-8i 三星（4G）× 1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—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307975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· 网卡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DF6F7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Intel EX710DA2G1P5 10G 双光口（含光模块）× 1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DF6F7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—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DF6F7"/>
                    </a:solidFill>
                  </a:tcPr>
                </a:tc>
              </a:tr>
              <a:tr h="307975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· 服务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3 年质保（含故障硬盘不返还）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—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307340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b="1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②AI 加速卡</a:t>
                      </a:r>
                      <a:endParaRPr lang="en-US" sz="1200" b="1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DF6F7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沐曦 C500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4 张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307975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b="1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③MetaXLink 桥接板</a:t>
                      </a:r>
                      <a:endParaRPr lang="en-US" sz="1200" b="1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数据交换高速桥接板 PCIe 5.0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1 套（两块）</a:t>
                      </a:r>
                      <a:endParaRPr lang="en-US" sz="1200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307975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b="1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合  计</a:t>
                      </a:r>
                      <a:endParaRPr lang="en-US" sz="1200" b="1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7EDEE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b="1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—</a:t>
                      </a:r>
                      <a:endParaRPr lang="en-US" sz="1200" b="1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7EDEE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200" b="1" noProof="1">
                          <a:solidFill>
                            <a:srgbClr val="202020"/>
                          </a:solidFill>
                          <a:latin typeface="MiSans" panose="00000500000000000000" pitchFamily="34" charset="-122"/>
                          <a:ea typeface="MiSans" panose="00000500000000000000" pitchFamily="34" charset="-122"/>
                        </a:rPr>
                        <a:t>—</a:t>
                      </a:r>
                      <a:endParaRPr lang="en-US" sz="1200" b="1" noProof="1">
                        <a:solidFill>
                          <a:srgbClr val="202020"/>
                        </a:solidFill>
                        <a:latin typeface="MiSans" panose="00000500000000000000" pitchFamily="34" charset="-122"/>
                        <a:ea typeface="MiSans" panose="00000500000000000000" pitchFamily="34" charset="-122"/>
                      </a:endParaRPr>
                    </a:p>
                  </a:txBody>
                  <a:tcPr marL="254000" marR="254000" marT="25400" marB="25400"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7EDEE"/>
                    </a:solidFill>
                  </a:tcPr>
                </a:tc>
              </a:tr>
            </a:tbl>
          </a:graphicData>
        </a:graphic>
      </p:graphicFrame>
      <p:sp>
        <p:nvSpPr>
          <p:cNvPr id="22" name="note"/>
          <p:cNvSpPr txBox="1"/>
          <p:nvPr/>
        </p:nvSpPr>
        <p:spPr>
          <a:xfrm>
            <a:off x="593090" y="5918200"/>
            <a:ext cx="10998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noProof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</a:rPr>
              <a:t>采购需求：</a:t>
            </a:r>
            <a:r>
              <a:rPr lang="en-US" sz="1300" noProof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</a:rPr>
              <a:t>1台AI服务器（包括1台擎天 GH7280V6-7490 服务器、4张沐曦 C500 加速卡、1套桥接板）　</a:t>
            </a:r>
            <a:r>
              <a:rPr lang="en-US" sz="1300" b="1" noProof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</a:rPr>
              <a:t>采购预算：</a:t>
            </a:r>
            <a:r>
              <a:rPr lang="en-US" sz="13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75.3 万</a:t>
            </a:r>
            <a:endParaRPr lang="en-US" sz="1300" noProof="1"/>
          </a:p>
        </p:txBody>
      </p:sp>
      <p:pic>
        <p:nvPicPr>
          <p:cNvPr id="41" name="footer-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9264650" y="6574790"/>
            <a:ext cx="935990" cy="170180"/>
          </a:xfrm>
          <a:prstGeom prst="rect">
            <a:avLst/>
          </a:prstGeom>
          <a:ln>
            <a:noFill/>
          </a:ln>
        </p:spPr>
      </p:pic>
      <p:sp>
        <p:nvSpPr>
          <p:cNvPr id="42" name="footer-text"/>
          <p:cNvSpPr txBox="1"/>
          <p:nvPr/>
        </p:nvSpPr>
        <p:spPr>
          <a:xfrm>
            <a:off x="10219690" y="6551930"/>
            <a:ext cx="1974850" cy="185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长沙湘计海盾科技有限公司</a:t>
            </a:r>
            <a:endParaRPr lang="en-US" sz="1200" noProof="1"/>
          </a:p>
        </p:txBody>
      </p:sp>
      <p:sp>
        <p:nvSpPr>
          <p:cNvPr id="34" name="head-line"/>
          <p:cNvSpPr/>
          <p:nvPr/>
        </p:nvSpPr>
        <p:spPr>
          <a:xfrm>
            <a:off x="711200" y="1016000"/>
            <a:ext cx="10807700" cy="12700"/>
          </a:xfrm>
          <a:custGeom>
            <a:avLst/>
            <a:gdLst/>
            <a:ahLst/>
            <a:cxnLst/>
            <a:rect l="l" t="t" r="r" b="b"/>
            <a:pathLst>
              <a:path w="851" h="1">
                <a:moveTo>
                  <a:pt x="0" y="1"/>
                </a:moveTo>
                <a:lnTo>
                  <a:pt x="851" y="1"/>
                </a:lnTo>
              </a:path>
            </a:pathLst>
          </a:custGeom>
          <a:noFill/>
          <a:ln w="12700" cap="rnd">
            <a:solidFill>
              <a:srgbClr val="333333"/>
            </a:solidFill>
            <a:round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1270" y="7620"/>
            <a:ext cx="12192000" cy="685673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9626600" y="-284480"/>
            <a:ext cx="2668270" cy="1647190"/>
          </a:xfrm>
          <a:prstGeom prst="rect">
            <a:avLst/>
          </a:prstGeom>
          <a:ln>
            <a:noFill/>
          </a:ln>
        </p:spPr>
      </p:pic>
      <p:sp>
        <p:nvSpPr>
          <p:cNvPr id="4" name="red-square"/>
          <p:cNvSpPr/>
          <p:nvPr/>
        </p:nvSpPr>
        <p:spPr>
          <a:xfrm>
            <a:off x="-3810" y="632460"/>
            <a:ext cx="403860" cy="276860"/>
          </a:xfrm>
          <a:prstGeom prst="rect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717550" y="361950"/>
            <a:ext cx="9210040" cy="461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文档类AI视角下的架构分析</a:t>
            </a:r>
            <a:endParaRPr lang="en-US" sz="3000" noProof="1"/>
          </a:p>
        </p:txBody>
      </p:sp>
      <p:sp>
        <p:nvSpPr>
          <p:cNvPr id="7" name="img-card"/>
          <p:cNvSpPr/>
          <p:nvPr/>
        </p:nvSpPr>
        <p:spPr>
          <a:xfrm>
            <a:off x="1371600" y="1066800"/>
            <a:ext cx="9448800" cy="538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0D9DB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pic>
        <p:nvPicPr>
          <p:cNvPr id="8" name="img-arch"/>
          <p:cNvPicPr/>
          <p:nvPr/>
        </p:nvPicPr>
        <p:blipFill>
          <a:blip r:embed="rId3"/>
          <a:srcRect t="-92" b="-92"/>
          <a:stretch>
            <a:fillRect/>
          </a:stretch>
        </p:blipFill>
        <p:spPr>
          <a:xfrm>
            <a:off x="1498600" y="1168400"/>
            <a:ext cx="9194800" cy="5181600"/>
          </a:xfrm>
          <a:prstGeom prst="rect">
            <a:avLst/>
          </a:prstGeom>
          <a:ln>
            <a:noFill/>
          </a:ln>
        </p:spPr>
      </p:pic>
      <p:pic>
        <p:nvPicPr>
          <p:cNvPr id="41" name="footer-logo"/>
          <p:cNvPicPr/>
          <p:nvPr/>
        </p:nvPicPr>
        <p:blipFill>
          <a:blip r:embed="rId4"/>
          <a:stretch>
            <a:fillRect/>
          </a:stretch>
        </p:blipFill>
        <p:spPr>
          <a:xfrm>
            <a:off x="9264650" y="6574790"/>
            <a:ext cx="935990" cy="170180"/>
          </a:xfrm>
          <a:prstGeom prst="rect">
            <a:avLst/>
          </a:prstGeom>
          <a:ln>
            <a:noFill/>
          </a:ln>
        </p:spPr>
      </p:pic>
      <p:sp>
        <p:nvSpPr>
          <p:cNvPr id="42" name="footer-text"/>
          <p:cNvSpPr txBox="1"/>
          <p:nvPr/>
        </p:nvSpPr>
        <p:spPr>
          <a:xfrm>
            <a:off x="10219690" y="6551930"/>
            <a:ext cx="1974850" cy="185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长沙湘计海盾科技有限公司</a:t>
            </a:r>
            <a:endParaRPr lang="en-US" sz="1200" noProof="1"/>
          </a:p>
        </p:txBody>
      </p:sp>
      <p:sp>
        <p:nvSpPr>
          <p:cNvPr id="34" name="head-line"/>
          <p:cNvSpPr/>
          <p:nvPr/>
        </p:nvSpPr>
        <p:spPr>
          <a:xfrm>
            <a:off x="711200" y="1016000"/>
            <a:ext cx="10807700" cy="12700"/>
          </a:xfrm>
          <a:custGeom>
            <a:avLst/>
            <a:gdLst/>
            <a:ahLst/>
            <a:cxnLst/>
            <a:rect l="l" t="t" r="r" b="b"/>
            <a:pathLst>
              <a:path w="851" h="1">
                <a:moveTo>
                  <a:pt x="0" y="1"/>
                </a:moveTo>
                <a:lnTo>
                  <a:pt x="851" y="1"/>
                </a:lnTo>
              </a:path>
            </a:pathLst>
          </a:custGeom>
          <a:noFill/>
          <a:ln w="12700" cap="rnd">
            <a:solidFill>
              <a:srgbClr val="333333"/>
            </a:solidFill>
            <a:round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1270" y="7620"/>
            <a:ext cx="12192000" cy="685673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9626600" y="-284480"/>
            <a:ext cx="2668270" cy="1647190"/>
          </a:xfrm>
          <a:prstGeom prst="rect">
            <a:avLst/>
          </a:prstGeom>
          <a:ln>
            <a:noFill/>
          </a:ln>
        </p:spPr>
      </p:pic>
      <p:sp>
        <p:nvSpPr>
          <p:cNvPr id="4" name="red-square"/>
          <p:cNvSpPr/>
          <p:nvPr/>
        </p:nvSpPr>
        <p:spPr>
          <a:xfrm>
            <a:off x="-3810" y="632460"/>
            <a:ext cx="403860" cy="276860"/>
          </a:xfrm>
          <a:prstGeom prst="rect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717550" y="361950"/>
            <a:ext cx="9210040" cy="461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软件底层架构设计</a:t>
            </a:r>
            <a:endParaRPr lang="en-US" sz="3000" noProof="1"/>
          </a:p>
        </p:txBody>
      </p:sp>
      <p:sp>
        <p:nvSpPr>
          <p:cNvPr id="7" name="c1-bg"/>
          <p:cNvSpPr/>
          <p:nvPr/>
        </p:nvSpPr>
        <p:spPr>
          <a:xfrm>
            <a:off x="717550" y="1206500"/>
            <a:ext cx="7239000" cy="1651000"/>
          </a:xfrm>
          <a:prstGeom prst="roundRect">
            <a:avLst>
              <a:gd name="adj" fmla="val 8000"/>
            </a:avLst>
          </a:prstGeom>
          <a:solidFill>
            <a:srgbClr val="FDF6F7"/>
          </a:solidFill>
          <a:ln>
            <a:noFill/>
          </a:ln>
        </p:spPr>
      </p:sp>
      <p:sp>
        <p:nvSpPr>
          <p:cNvPr id="8" name="c1-icon-bg"/>
          <p:cNvSpPr/>
          <p:nvPr/>
        </p:nvSpPr>
        <p:spPr>
          <a:xfrm>
            <a:off x="920750" y="14097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60013"/>
          </a:solidFill>
          <a:ln>
            <a:noFill/>
          </a:ln>
        </p:spPr>
      </p:sp>
      <p:sp>
        <p:nvSpPr>
          <p:cNvPr id="9" name="c1-icon"/>
          <p:cNvSpPr/>
          <p:nvPr/>
        </p:nvSpPr>
        <p:spPr>
          <a:xfrm>
            <a:off x="1022350" y="1511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92" y="64"/>
                </a:moveTo>
                <a:cubicBezTo>
                  <a:pt x="192" y="46"/>
                  <a:pt x="206" y="32"/>
                  <a:pt x="224" y="32"/>
                </a:cubicBezTo>
                <a:lnTo>
                  <a:pt x="288" y="32"/>
                </a:lnTo>
                <a:cubicBezTo>
                  <a:pt x="306" y="32"/>
                  <a:pt x="320" y="46"/>
                  <a:pt x="320" y="64"/>
                </a:cubicBezTo>
                <a:lnTo>
                  <a:pt x="320" y="128"/>
                </a:lnTo>
                <a:cubicBezTo>
                  <a:pt x="320" y="146"/>
                  <a:pt x="306" y="160"/>
                  <a:pt x="288" y="160"/>
                </a:cubicBezTo>
                <a:lnTo>
                  <a:pt x="280" y="160"/>
                </a:lnTo>
                <a:lnTo>
                  <a:pt x="280" y="224"/>
                </a:lnTo>
                <a:lnTo>
                  <a:pt x="400" y="224"/>
                </a:lnTo>
                <a:cubicBezTo>
                  <a:pt x="440" y="224"/>
                  <a:pt x="472" y="256"/>
                  <a:pt x="472" y="296"/>
                </a:cubicBezTo>
                <a:lnTo>
                  <a:pt x="472" y="352"/>
                </a:lnTo>
                <a:lnTo>
                  <a:pt x="480" y="352"/>
                </a:lnTo>
                <a:cubicBezTo>
                  <a:pt x="498" y="352"/>
                  <a:pt x="512" y="366"/>
                  <a:pt x="512" y="384"/>
                </a:cubicBezTo>
                <a:lnTo>
                  <a:pt x="512" y="448"/>
                </a:lnTo>
                <a:cubicBezTo>
                  <a:pt x="512" y="466"/>
                  <a:pt x="498" y="480"/>
                  <a:pt x="480" y="480"/>
                </a:cubicBezTo>
                <a:lnTo>
                  <a:pt x="416" y="480"/>
                </a:lnTo>
                <a:cubicBezTo>
                  <a:pt x="398" y="480"/>
                  <a:pt x="384" y="466"/>
                  <a:pt x="384" y="448"/>
                </a:cubicBezTo>
                <a:lnTo>
                  <a:pt x="384" y="384"/>
                </a:lnTo>
                <a:cubicBezTo>
                  <a:pt x="384" y="366"/>
                  <a:pt x="398" y="352"/>
                  <a:pt x="416" y="352"/>
                </a:cubicBezTo>
                <a:lnTo>
                  <a:pt x="424" y="352"/>
                </a:lnTo>
                <a:lnTo>
                  <a:pt x="424" y="296"/>
                </a:lnTo>
                <a:cubicBezTo>
                  <a:pt x="424" y="283"/>
                  <a:pt x="413" y="272"/>
                  <a:pt x="400" y="272"/>
                </a:cubicBezTo>
                <a:lnTo>
                  <a:pt x="280" y="272"/>
                </a:lnTo>
                <a:lnTo>
                  <a:pt x="280" y="352"/>
                </a:lnTo>
                <a:lnTo>
                  <a:pt x="288" y="352"/>
                </a:lnTo>
                <a:cubicBezTo>
                  <a:pt x="306" y="352"/>
                  <a:pt x="320" y="366"/>
                  <a:pt x="320" y="384"/>
                </a:cubicBezTo>
                <a:lnTo>
                  <a:pt x="320" y="448"/>
                </a:lnTo>
                <a:cubicBezTo>
                  <a:pt x="320" y="466"/>
                  <a:pt x="306" y="480"/>
                  <a:pt x="288" y="480"/>
                </a:cubicBezTo>
                <a:lnTo>
                  <a:pt x="224" y="480"/>
                </a:lnTo>
                <a:cubicBezTo>
                  <a:pt x="206" y="480"/>
                  <a:pt x="192" y="466"/>
                  <a:pt x="192" y="448"/>
                </a:cubicBezTo>
                <a:lnTo>
                  <a:pt x="192" y="384"/>
                </a:lnTo>
                <a:cubicBezTo>
                  <a:pt x="192" y="366"/>
                  <a:pt x="206" y="352"/>
                  <a:pt x="224" y="352"/>
                </a:cubicBezTo>
                <a:lnTo>
                  <a:pt x="232" y="352"/>
                </a:lnTo>
                <a:lnTo>
                  <a:pt x="232" y="272"/>
                </a:lnTo>
                <a:lnTo>
                  <a:pt x="112" y="272"/>
                </a:lnTo>
                <a:cubicBezTo>
                  <a:pt x="99" y="272"/>
                  <a:pt x="88" y="283"/>
                  <a:pt x="88" y="296"/>
                </a:cubicBezTo>
                <a:lnTo>
                  <a:pt x="88" y="352"/>
                </a:lnTo>
                <a:lnTo>
                  <a:pt x="96" y="352"/>
                </a:lnTo>
                <a:cubicBezTo>
                  <a:pt x="114" y="352"/>
                  <a:pt x="128" y="366"/>
                  <a:pt x="128" y="384"/>
                </a:cubicBezTo>
                <a:lnTo>
                  <a:pt x="128" y="448"/>
                </a:lnTo>
                <a:cubicBezTo>
                  <a:pt x="128" y="466"/>
                  <a:pt x="114" y="480"/>
                  <a:pt x="96" y="480"/>
                </a:cubicBezTo>
                <a:lnTo>
                  <a:pt x="32" y="480"/>
                </a:lnTo>
                <a:cubicBezTo>
                  <a:pt x="14" y="480"/>
                  <a:pt x="0" y="466"/>
                  <a:pt x="0" y="448"/>
                </a:cubicBezTo>
                <a:lnTo>
                  <a:pt x="0" y="384"/>
                </a:lnTo>
                <a:cubicBezTo>
                  <a:pt x="0" y="366"/>
                  <a:pt x="14" y="352"/>
                  <a:pt x="32" y="352"/>
                </a:cubicBezTo>
                <a:lnTo>
                  <a:pt x="40" y="352"/>
                </a:lnTo>
                <a:lnTo>
                  <a:pt x="40" y="296"/>
                </a:lnTo>
                <a:cubicBezTo>
                  <a:pt x="40" y="256"/>
                  <a:pt x="72" y="224"/>
                  <a:pt x="112" y="224"/>
                </a:cubicBezTo>
                <a:lnTo>
                  <a:pt x="232" y="224"/>
                </a:lnTo>
                <a:lnTo>
                  <a:pt x="232" y="160"/>
                </a:lnTo>
                <a:lnTo>
                  <a:pt x="224" y="160"/>
                </a:lnTo>
                <a:cubicBezTo>
                  <a:pt x="206" y="160"/>
                  <a:pt x="192" y="146"/>
                  <a:pt x="192" y="128"/>
                </a:cubicBezTo>
                <a:lnTo>
                  <a:pt x="192" y="6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" name="c1-title"/>
          <p:cNvSpPr txBox="1"/>
          <p:nvPr/>
        </p:nvSpPr>
        <p:spPr>
          <a:xfrm>
            <a:off x="1530350" y="14605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已完成工作</a:t>
            </a:r>
            <a:endParaRPr lang="en-US" sz="1800" noProof="1"/>
          </a:p>
        </p:txBody>
      </p:sp>
      <p:sp>
        <p:nvSpPr>
          <p:cNvPr id="11" name="c1-tag"/>
          <p:cNvSpPr/>
          <p:nvPr/>
        </p:nvSpPr>
        <p:spPr>
          <a:xfrm>
            <a:off x="6889750" y="1435100"/>
            <a:ext cx="863600" cy="304800"/>
          </a:xfrm>
          <a:prstGeom prst="roundRect">
            <a:avLst>
              <a:gd name="adj" fmla="val 50000"/>
            </a:avLst>
          </a:prstGeom>
          <a:solidFill>
            <a:srgbClr val="E60013"/>
          </a:solidFill>
          <a:ln>
            <a:noFill/>
          </a:ln>
        </p:spPr>
      </p:sp>
      <p:sp>
        <p:nvSpPr>
          <p:cNvPr id="12" name="c1-tag-text"/>
          <p:cNvSpPr txBox="1"/>
          <p:nvPr/>
        </p:nvSpPr>
        <p:spPr>
          <a:xfrm>
            <a:off x="6889750" y="14351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已完成</a:t>
            </a:r>
            <a:endParaRPr lang="en-US" sz="1200" noProof="1"/>
          </a:p>
        </p:txBody>
      </p:sp>
      <p:sp>
        <p:nvSpPr>
          <p:cNvPr id="13" name="c1-body"/>
          <p:cNvSpPr txBox="1"/>
          <p:nvPr/>
        </p:nvSpPr>
        <p:spPr>
          <a:xfrm>
            <a:off x="920750" y="1981200"/>
            <a:ext cx="6832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noProof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</a:rPr>
              <a:t>①完成</a:t>
            </a:r>
            <a:r>
              <a:rPr lang="en-US" sz="1300" b="1" noProof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</a:rPr>
              <a:t>底层架构层面设计</a:t>
            </a:r>
            <a:r>
              <a:rPr lang="en-US" sz="1300" noProof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</a:rPr>
              <a:t>，明确系统整体技术框架；</a:t>
            </a:r>
            <a:endParaRPr lang="en-US" sz="1300" noProof="1"/>
          </a:p>
          <a:p>
            <a:pPr algn="l">
              <a:lnSpc>
                <a:spcPct val="150000"/>
              </a:lnSpc>
            </a:pPr>
            <a:r>
              <a:rPr lang="en-US" sz="1300" noProof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</a:rPr>
              <a:t>②与用户侧页面原型设计同步完成，指导后续软件开发与部署。</a:t>
            </a:r>
            <a:endParaRPr lang="en-US" sz="1300" noProof="1"/>
          </a:p>
        </p:txBody>
      </p:sp>
      <p:sp>
        <p:nvSpPr>
          <p:cNvPr id="14" name="f1-bg"/>
          <p:cNvSpPr/>
          <p:nvPr/>
        </p:nvSpPr>
        <p:spPr>
          <a:xfrm>
            <a:off x="717550" y="3111500"/>
            <a:ext cx="7239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D9DB"/>
            </a:solidFill>
          </a:ln>
        </p:spPr>
      </p:sp>
      <p:sp>
        <p:nvSpPr>
          <p:cNvPr id="15" name="f1-icon-bg"/>
          <p:cNvSpPr/>
          <p:nvPr/>
        </p:nvSpPr>
        <p:spPr>
          <a:xfrm>
            <a:off x="920750" y="3340100"/>
            <a:ext cx="457200" cy="4572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</p:sp>
      <p:sp>
        <p:nvSpPr>
          <p:cNvPr id="16" name="f1-icon"/>
          <p:cNvSpPr/>
          <p:nvPr/>
        </p:nvSpPr>
        <p:spPr>
          <a:xfrm>
            <a:off x="1035050" y="3454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3" y="5"/>
                </a:moveTo>
                <a:cubicBezTo>
                  <a:pt x="247" y="-2"/>
                  <a:pt x="265" y="-2"/>
                  <a:pt x="280" y="5"/>
                </a:cubicBezTo>
                <a:lnTo>
                  <a:pt x="498" y="106"/>
                </a:lnTo>
                <a:cubicBezTo>
                  <a:pt x="507" y="110"/>
                  <a:pt x="512" y="119"/>
                  <a:pt x="512" y="128"/>
                </a:cubicBezTo>
                <a:cubicBezTo>
                  <a:pt x="512" y="137"/>
                  <a:pt x="507" y="146"/>
                  <a:pt x="498" y="150"/>
                </a:cubicBezTo>
                <a:lnTo>
                  <a:pt x="280" y="251"/>
                </a:lnTo>
                <a:cubicBezTo>
                  <a:pt x="265" y="258"/>
                  <a:pt x="247" y="258"/>
                  <a:pt x="233" y="251"/>
                </a:cubicBezTo>
                <a:lnTo>
                  <a:pt x="14" y="150"/>
                </a:lnTo>
                <a:cubicBezTo>
                  <a:pt x="5" y="146"/>
                  <a:pt x="0" y="137"/>
                  <a:pt x="0" y="128"/>
                </a:cubicBezTo>
                <a:cubicBezTo>
                  <a:pt x="0" y="119"/>
                  <a:pt x="5" y="110"/>
                  <a:pt x="14" y="106"/>
                </a:cubicBezTo>
                <a:lnTo>
                  <a:pt x="233" y="5"/>
                </a:lnTo>
                <a:close/>
              </a:path>
              <a:path w="512" h="512">
                <a:moveTo>
                  <a:pt x="48" y="218"/>
                </a:moveTo>
                <a:lnTo>
                  <a:pt x="212" y="294"/>
                </a:lnTo>
                <a:cubicBezTo>
                  <a:pt x="240" y="307"/>
                  <a:pt x="272" y="307"/>
                  <a:pt x="300" y="294"/>
                </a:cubicBezTo>
                <a:lnTo>
                  <a:pt x="464" y="218"/>
                </a:lnTo>
                <a:lnTo>
                  <a:pt x="498" y="234"/>
                </a:lnTo>
                <a:cubicBezTo>
                  <a:pt x="507" y="238"/>
                  <a:pt x="512" y="247"/>
                  <a:pt x="512" y="256"/>
                </a:cubicBezTo>
                <a:cubicBezTo>
                  <a:pt x="512" y="265"/>
                  <a:pt x="507" y="274"/>
                  <a:pt x="498" y="278"/>
                </a:cubicBezTo>
                <a:lnTo>
                  <a:pt x="280" y="379"/>
                </a:lnTo>
                <a:cubicBezTo>
                  <a:pt x="265" y="386"/>
                  <a:pt x="247" y="386"/>
                  <a:pt x="233" y="379"/>
                </a:cubicBezTo>
                <a:lnTo>
                  <a:pt x="14" y="278"/>
                </a:lnTo>
                <a:cubicBezTo>
                  <a:pt x="5" y="274"/>
                  <a:pt x="0" y="265"/>
                  <a:pt x="0" y="256"/>
                </a:cubicBezTo>
                <a:cubicBezTo>
                  <a:pt x="0" y="247"/>
                  <a:pt x="5" y="238"/>
                  <a:pt x="14" y="234"/>
                </a:cubicBezTo>
                <a:lnTo>
                  <a:pt x="48" y="218"/>
                </a:lnTo>
                <a:close/>
              </a:path>
              <a:path w="512" h="512">
                <a:moveTo>
                  <a:pt x="14" y="362"/>
                </a:moveTo>
                <a:lnTo>
                  <a:pt x="48" y="346"/>
                </a:lnTo>
                <a:lnTo>
                  <a:pt x="212" y="422"/>
                </a:lnTo>
                <a:cubicBezTo>
                  <a:pt x="240" y="435"/>
                  <a:pt x="272" y="435"/>
                  <a:pt x="300" y="422"/>
                </a:cubicBezTo>
                <a:lnTo>
                  <a:pt x="464" y="346"/>
                </a:lnTo>
                <a:lnTo>
                  <a:pt x="498" y="362"/>
                </a:lnTo>
                <a:cubicBezTo>
                  <a:pt x="507" y="366"/>
                  <a:pt x="512" y="375"/>
                  <a:pt x="512" y="384"/>
                </a:cubicBezTo>
                <a:cubicBezTo>
                  <a:pt x="512" y="393"/>
                  <a:pt x="507" y="402"/>
                  <a:pt x="498" y="406"/>
                </a:cubicBezTo>
                <a:lnTo>
                  <a:pt x="279" y="507"/>
                </a:lnTo>
                <a:cubicBezTo>
                  <a:pt x="265" y="514"/>
                  <a:pt x="247" y="514"/>
                  <a:pt x="232" y="507"/>
                </a:cubicBezTo>
                <a:lnTo>
                  <a:pt x="14" y="406"/>
                </a:lnTo>
                <a:cubicBezTo>
                  <a:pt x="5" y="402"/>
                  <a:pt x="0" y="393"/>
                  <a:pt x="0" y="384"/>
                </a:cubicBezTo>
                <a:cubicBezTo>
                  <a:pt x="0" y="375"/>
                  <a:pt x="5" y="366"/>
                  <a:pt x="14" y="36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" name="f1-title"/>
          <p:cNvSpPr txBox="1"/>
          <p:nvPr/>
        </p:nvSpPr>
        <p:spPr>
          <a:xfrm>
            <a:off x="1555750" y="3238500"/>
            <a:ext cx="6197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</a:rPr>
              <a:t>系统分层设计</a:t>
            </a:r>
            <a:endParaRPr lang="en-US" sz="1400" noProof="1"/>
          </a:p>
        </p:txBody>
      </p:sp>
      <p:sp>
        <p:nvSpPr>
          <p:cNvPr id="18" name="f1-desc"/>
          <p:cNvSpPr txBox="1"/>
          <p:nvPr/>
        </p:nvSpPr>
        <p:spPr>
          <a:xfrm>
            <a:off x="1555750" y="3543300"/>
            <a:ext cx="6197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明确基础设施、模型服务、应用服务等各层职责与边界</a:t>
            </a:r>
            <a:endParaRPr lang="en-US" sz="1200" noProof="1"/>
          </a:p>
        </p:txBody>
      </p:sp>
      <p:sp>
        <p:nvSpPr>
          <p:cNvPr id="19" name="f2-bg"/>
          <p:cNvSpPr/>
          <p:nvPr/>
        </p:nvSpPr>
        <p:spPr>
          <a:xfrm>
            <a:off x="717550" y="4203700"/>
            <a:ext cx="7239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D9DB"/>
            </a:solidFill>
          </a:ln>
        </p:spPr>
      </p:sp>
      <p:sp>
        <p:nvSpPr>
          <p:cNvPr id="20" name="f2-icon-bg"/>
          <p:cNvSpPr/>
          <p:nvPr/>
        </p:nvSpPr>
        <p:spPr>
          <a:xfrm>
            <a:off x="920750" y="4432300"/>
            <a:ext cx="457200" cy="4572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</p:sp>
      <p:sp>
        <p:nvSpPr>
          <p:cNvPr id="21" name="f2-icon"/>
          <p:cNvSpPr/>
          <p:nvPr/>
        </p:nvSpPr>
        <p:spPr>
          <a:xfrm>
            <a:off x="1035050" y="4546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84" y="-1"/>
                </a:moveTo>
                <a:cubicBezTo>
                  <a:pt x="267" y="-11"/>
                  <a:pt x="245" y="-11"/>
                  <a:pt x="228" y="-1"/>
                </a:cubicBezTo>
                <a:lnTo>
                  <a:pt x="144" y="47"/>
                </a:lnTo>
                <a:cubicBezTo>
                  <a:pt x="127" y="57"/>
                  <a:pt x="116" y="76"/>
                  <a:pt x="116" y="96"/>
                </a:cubicBezTo>
                <a:lnTo>
                  <a:pt x="116" y="198"/>
                </a:lnTo>
                <a:lnTo>
                  <a:pt x="28" y="249"/>
                </a:lnTo>
                <a:cubicBezTo>
                  <a:pt x="10" y="259"/>
                  <a:pt x="0" y="277"/>
                  <a:pt x="0" y="297"/>
                </a:cubicBezTo>
                <a:lnTo>
                  <a:pt x="0" y="395"/>
                </a:lnTo>
                <a:cubicBezTo>
                  <a:pt x="0" y="415"/>
                  <a:pt x="10" y="433"/>
                  <a:pt x="28" y="443"/>
                </a:cubicBezTo>
                <a:lnTo>
                  <a:pt x="112" y="492"/>
                </a:lnTo>
                <a:cubicBezTo>
                  <a:pt x="129" y="502"/>
                  <a:pt x="151" y="502"/>
                  <a:pt x="168" y="492"/>
                </a:cubicBezTo>
                <a:lnTo>
                  <a:pt x="256" y="441"/>
                </a:lnTo>
                <a:lnTo>
                  <a:pt x="344" y="492"/>
                </a:lnTo>
                <a:cubicBezTo>
                  <a:pt x="362" y="502"/>
                  <a:pt x="383" y="502"/>
                  <a:pt x="400" y="492"/>
                </a:cubicBezTo>
                <a:lnTo>
                  <a:pt x="485" y="443"/>
                </a:lnTo>
                <a:cubicBezTo>
                  <a:pt x="502" y="433"/>
                  <a:pt x="513" y="415"/>
                  <a:pt x="513" y="395"/>
                </a:cubicBezTo>
                <a:lnTo>
                  <a:pt x="513" y="297"/>
                </a:lnTo>
                <a:cubicBezTo>
                  <a:pt x="513" y="277"/>
                  <a:pt x="502" y="259"/>
                  <a:pt x="485" y="249"/>
                </a:cubicBezTo>
                <a:lnTo>
                  <a:pt x="396" y="198"/>
                </a:lnTo>
                <a:lnTo>
                  <a:pt x="396" y="96"/>
                </a:lnTo>
                <a:cubicBezTo>
                  <a:pt x="396" y="76"/>
                  <a:pt x="386" y="57"/>
                  <a:pt x="368" y="47"/>
                </a:cubicBezTo>
                <a:lnTo>
                  <a:pt x="284" y="-1"/>
                </a:lnTo>
                <a:close/>
                <a:moveTo>
                  <a:pt x="232" y="293"/>
                </a:moveTo>
                <a:lnTo>
                  <a:pt x="232" y="399"/>
                </a:lnTo>
                <a:lnTo>
                  <a:pt x="144" y="450"/>
                </a:lnTo>
                <a:cubicBezTo>
                  <a:pt x="143" y="451"/>
                  <a:pt x="141" y="451"/>
                  <a:pt x="140" y="451"/>
                </a:cubicBezTo>
                <a:lnTo>
                  <a:pt x="140" y="346"/>
                </a:lnTo>
                <a:lnTo>
                  <a:pt x="232" y="293"/>
                </a:lnTo>
                <a:close/>
                <a:moveTo>
                  <a:pt x="463" y="293"/>
                </a:moveTo>
                <a:cubicBezTo>
                  <a:pt x="464" y="294"/>
                  <a:pt x="465" y="296"/>
                  <a:pt x="465" y="297"/>
                </a:cubicBezTo>
                <a:lnTo>
                  <a:pt x="465" y="395"/>
                </a:lnTo>
                <a:cubicBezTo>
                  <a:pt x="465" y="397"/>
                  <a:pt x="463" y="400"/>
                  <a:pt x="461" y="401"/>
                </a:cubicBezTo>
                <a:lnTo>
                  <a:pt x="376" y="450"/>
                </a:lnTo>
                <a:cubicBezTo>
                  <a:pt x="375" y="451"/>
                  <a:pt x="374" y="451"/>
                  <a:pt x="372" y="451"/>
                </a:cubicBezTo>
                <a:lnTo>
                  <a:pt x="372" y="346"/>
                </a:lnTo>
                <a:lnTo>
                  <a:pt x="463" y="293"/>
                </a:lnTo>
                <a:close/>
                <a:moveTo>
                  <a:pt x="348" y="96"/>
                </a:moveTo>
                <a:lnTo>
                  <a:pt x="348" y="198"/>
                </a:lnTo>
                <a:lnTo>
                  <a:pt x="256" y="251"/>
                </a:lnTo>
                <a:lnTo>
                  <a:pt x="256" y="145"/>
                </a:lnTo>
                <a:lnTo>
                  <a:pt x="347" y="92"/>
                </a:lnTo>
                <a:cubicBezTo>
                  <a:pt x="348" y="93"/>
                  <a:pt x="348" y="95"/>
                  <a:pt x="348" y="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" name="f2-title"/>
          <p:cNvSpPr txBox="1"/>
          <p:nvPr/>
        </p:nvSpPr>
        <p:spPr>
          <a:xfrm>
            <a:off x="1555750" y="4330700"/>
            <a:ext cx="6197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</a:rPr>
              <a:t>核心模块划分</a:t>
            </a:r>
            <a:endParaRPr lang="en-US" sz="1400" noProof="1"/>
          </a:p>
        </p:txBody>
      </p:sp>
      <p:sp>
        <p:nvSpPr>
          <p:cNvPr id="23" name="f2-desc"/>
          <p:cNvSpPr txBox="1"/>
          <p:nvPr/>
        </p:nvSpPr>
        <p:spPr>
          <a:xfrm>
            <a:off x="1555750" y="4635500"/>
            <a:ext cx="6197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按业务功能拆分大模型、知识库、信息监控等核心模块</a:t>
            </a:r>
            <a:endParaRPr lang="en-US" sz="1200" noProof="1"/>
          </a:p>
        </p:txBody>
      </p:sp>
      <p:sp>
        <p:nvSpPr>
          <p:cNvPr id="24" name="f3-bg"/>
          <p:cNvSpPr/>
          <p:nvPr/>
        </p:nvSpPr>
        <p:spPr>
          <a:xfrm>
            <a:off x="717550" y="5295900"/>
            <a:ext cx="7239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D9DB"/>
            </a:solidFill>
          </a:ln>
        </p:spPr>
      </p:sp>
      <p:sp>
        <p:nvSpPr>
          <p:cNvPr id="25" name="f3-icon-bg"/>
          <p:cNvSpPr/>
          <p:nvPr/>
        </p:nvSpPr>
        <p:spPr>
          <a:xfrm>
            <a:off x="920750" y="5524500"/>
            <a:ext cx="457200" cy="4572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</p:sp>
      <p:sp>
        <p:nvSpPr>
          <p:cNvPr id="26" name="f3-icon"/>
          <p:cNvSpPr/>
          <p:nvPr/>
        </p:nvSpPr>
        <p:spPr>
          <a:xfrm>
            <a:off x="1035050" y="5638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84" y="192"/>
                </a:moveTo>
                <a:cubicBezTo>
                  <a:pt x="437" y="192"/>
                  <a:pt x="480" y="149"/>
                  <a:pt x="480" y="96"/>
                </a:cubicBezTo>
                <a:cubicBezTo>
                  <a:pt x="480" y="43"/>
                  <a:pt x="437" y="0"/>
                  <a:pt x="384" y="0"/>
                </a:cubicBezTo>
                <a:cubicBezTo>
                  <a:pt x="331" y="0"/>
                  <a:pt x="288" y="43"/>
                  <a:pt x="288" y="96"/>
                </a:cubicBezTo>
                <a:cubicBezTo>
                  <a:pt x="288" y="101"/>
                  <a:pt x="289" y="107"/>
                  <a:pt x="289" y="112"/>
                </a:cubicBezTo>
                <a:lnTo>
                  <a:pt x="160" y="184"/>
                </a:lnTo>
                <a:cubicBezTo>
                  <a:pt x="143" y="169"/>
                  <a:pt x="120" y="160"/>
                  <a:pt x="96" y="160"/>
                </a:cubicBezTo>
                <a:cubicBezTo>
                  <a:pt x="43" y="160"/>
                  <a:pt x="0" y="203"/>
                  <a:pt x="0" y="256"/>
                </a:cubicBezTo>
                <a:cubicBezTo>
                  <a:pt x="0" y="309"/>
                  <a:pt x="43" y="352"/>
                  <a:pt x="96" y="352"/>
                </a:cubicBezTo>
                <a:cubicBezTo>
                  <a:pt x="120" y="352"/>
                  <a:pt x="143" y="343"/>
                  <a:pt x="160" y="328"/>
                </a:cubicBezTo>
                <a:lnTo>
                  <a:pt x="289" y="400"/>
                </a:lnTo>
                <a:cubicBezTo>
                  <a:pt x="288" y="405"/>
                  <a:pt x="288" y="411"/>
                  <a:pt x="288" y="416"/>
                </a:cubicBezTo>
                <a:cubicBezTo>
                  <a:pt x="288" y="469"/>
                  <a:pt x="331" y="512"/>
                  <a:pt x="384" y="512"/>
                </a:cubicBezTo>
                <a:cubicBezTo>
                  <a:pt x="437" y="512"/>
                  <a:pt x="480" y="469"/>
                  <a:pt x="480" y="416"/>
                </a:cubicBezTo>
                <a:cubicBezTo>
                  <a:pt x="480" y="363"/>
                  <a:pt x="437" y="320"/>
                  <a:pt x="384" y="320"/>
                </a:cubicBezTo>
                <a:cubicBezTo>
                  <a:pt x="360" y="320"/>
                  <a:pt x="337" y="329"/>
                  <a:pt x="320" y="344"/>
                </a:cubicBezTo>
                <a:lnTo>
                  <a:pt x="191" y="272"/>
                </a:lnTo>
                <a:cubicBezTo>
                  <a:pt x="192" y="267"/>
                  <a:pt x="192" y="262"/>
                  <a:pt x="192" y="256"/>
                </a:cubicBezTo>
                <a:cubicBezTo>
                  <a:pt x="192" y="251"/>
                  <a:pt x="192" y="245"/>
                  <a:pt x="191" y="240"/>
                </a:cubicBezTo>
                <a:lnTo>
                  <a:pt x="320" y="168"/>
                </a:lnTo>
                <a:cubicBezTo>
                  <a:pt x="337" y="183"/>
                  <a:pt x="360" y="192"/>
                  <a:pt x="384" y="19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" name="f3-title"/>
          <p:cNvSpPr txBox="1"/>
          <p:nvPr/>
        </p:nvSpPr>
        <p:spPr>
          <a:xfrm>
            <a:off x="1555750" y="5422900"/>
            <a:ext cx="6197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</a:rPr>
              <a:t>数据流向梳理</a:t>
            </a:r>
            <a:endParaRPr lang="en-US" sz="1400" noProof="1"/>
          </a:p>
        </p:txBody>
      </p:sp>
      <p:sp>
        <p:nvSpPr>
          <p:cNvPr id="28" name="f3-desc"/>
          <p:cNvSpPr txBox="1"/>
          <p:nvPr/>
        </p:nvSpPr>
        <p:spPr>
          <a:xfrm>
            <a:off x="1555750" y="5727700"/>
            <a:ext cx="6197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明确模块间的数据流转关系与接口调用方式</a:t>
            </a:r>
            <a:endParaRPr lang="en-US" sz="1200" noProof="1"/>
          </a:p>
        </p:txBody>
      </p:sp>
      <p:sp>
        <p:nvSpPr>
          <p:cNvPr id="29" name="img-card"/>
          <p:cNvSpPr/>
          <p:nvPr/>
        </p:nvSpPr>
        <p:spPr>
          <a:xfrm>
            <a:off x="8255000" y="1206500"/>
            <a:ext cx="3213100" cy="5143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0D9DB"/>
            </a:solidFill>
          </a:ln>
          <a:effectLst>
            <a:outerShdw blurRad="101600" dist="38100" dir="5400000" algn="bl" rotWithShape="0">
              <a:srgbClr val="000000">
                <a:alpha val="7843"/>
              </a:srgbClr>
            </a:outerShdw>
          </a:effectLst>
        </p:spPr>
      </p:sp>
      <p:pic>
        <p:nvPicPr>
          <p:cNvPr id="30" name="img-arch"/>
          <p:cNvPicPr/>
          <p:nvPr/>
        </p:nvPicPr>
        <p:blipFill>
          <a:blip r:embed="rId3"/>
          <a:srcRect l="-8535" r="-8535"/>
          <a:stretch>
            <a:fillRect/>
          </a:stretch>
        </p:blipFill>
        <p:spPr>
          <a:xfrm>
            <a:off x="8382000" y="1358900"/>
            <a:ext cx="2959100" cy="4445000"/>
          </a:xfrm>
          <a:prstGeom prst="rect">
            <a:avLst/>
          </a:prstGeom>
          <a:ln>
            <a:noFill/>
          </a:ln>
        </p:spPr>
      </p:pic>
      <p:sp>
        <p:nvSpPr>
          <p:cNvPr id="31" name="img-caption-line"/>
          <p:cNvSpPr/>
          <p:nvPr/>
        </p:nvSpPr>
        <p:spPr>
          <a:xfrm>
            <a:off x="8407400" y="5918200"/>
            <a:ext cx="2654300" cy="12700"/>
          </a:xfrm>
          <a:prstGeom prst="rect">
            <a:avLst/>
          </a:prstGeom>
          <a:solidFill>
            <a:srgbClr val="F0D9DB"/>
          </a:solidFill>
          <a:ln>
            <a:noFill/>
          </a:ln>
        </p:spPr>
      </p:sp>
      <p:sp>
        <p:nvSpPr>
          <p:cNvPr id="32" name="img-caption"/>
          <p:cNvSpPr txBox="1"/>
          <p:nvPr/>
        </p:nvSpPr>
        <p:spPr>
          <a:xfrm>
            <a:off x="8407400" y="5994400"/>
            <a:ext cx="26543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999999"/>
                </a:solidFill>
                <a:latin typeface="微软雅黑" panose="020B0503020204020204" charset="-122"/>
                <a:ea typeface="微软雅黑" panose="020B0503020204020204" charset="-122"/>
              </a:rPr>
              <a:t>软件底层架构设计图</a:t>
            </a:r>
            <a:endParaRPr lang="en-US" sz="1200" noProof="1"/>
          </a:p>
        </p:txBody>
      </p:sp>
      <p:pic>
        <p:nvPicPr>
          <p:cNvPr id="41" name="footer-logo"/>
          <p:cNvPicPr/>
          <p:nvPr/>
        </p:nvPicPr>
        <p:blipFill>
          <a:blip r:embed="rId4"/>
          <a:stretch>
            <a:fillRect/>
          </a:stretch>
        </p:blipFill>
        <p:spPr>
          <a:xfrm>
            <a:off x="9264650" y="6574790"/>
            <a:ext cx="935990" cy="170180"/>
          </a:xfrm>
          <a:prstGeom prst="rect">
            <a:avLst/>
          </a:prstGeom>
          <a:ln>
            <a:noFill/>
          </a:ln>
        </p:spPr>
      </p:pic>
      <p:sp>
        <p:nvSpPr>
          <p:cNvPr id="42" name="footer-text"/>
          <p:cNvSpPr txBox="1"/>
          <p:nvPr/>
        </p:nvSpPr>
        <p:spPr>
          <a:xfrm>
            <a:off x="10219690" y="6551930"/>
            <a:ext cx="1974850" cy="185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长沙湘计海盾科技有限公司</a:t>
            </a:r>
            <a:endParaRPr lang="en-US" sz="1200" noProof="1"/>
          </a:p>
        </p:txBody>
      </p:sp>
      <p:sp>
        <p:nvSpPr>
          <p:cNvPr id="34" name="head-line"/>
          <p:cNvSpPr/>
          <p:nvPr/>
        </p:nvSpPr>
        <p:spPr>
          <a:xfrm>
            <a:off x="711200" y="1016000"/>
            <a:ext cx="10807700" cy="12700"/>
          </a:xfrm>
          <a:custGeom>
            <a:avLst/>
            <a:gdLst/>
            <a:ahLst/>
            <a:cxnLst/>
            <a:rect l="l" t="t" r="r" b="b"/>
            <a:pathLst>
              <a:path w="851" h="1">
                <a:moveTo>
                  <a:pt x="0" y="1"/>
                </a:moveTo>
                <a:lnTo>
                  <a:pt x="851" y="1"/>
                </a:lnTo>
              </a:path>
            </a:pathLst>
          </a:custGeom>
          <a:noFill/>
          <a:ln w="12700" cap="rnd">
            <a:solidFill>
              <a:srgbClr val="333333"/>
            </a:solidFill>
            <a:round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1270" y="7620"/>
            <a:ext cx="12192000" cy="685673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9626600" y="-284480"/>
            <a:ext cx="2668270" cy="1647190"/>
          </a:xfrm>
          <a:prstGeom prst="rect">
            <a:avLst/>
          </a:prstGeom>
          <a:ln>
            <a:noFill/>
          </a:ln>
        </p:spPr>
      </p:pic>
      <p:sp>
        <p:nvSpPr>
          <p:cNvPr id="4" name="red-square"/>
          <p:cNvSpPr/>
          <p:nvPr/>
        </p:nvSpPr>
        <p:spPr>
          <a:xfrm>
            <a:off x="-3810" y="632460"/>
            <a:ext cx="403860" cy="276860"/>
          </a:xfrm>
          <a:prstGeom prst="rect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717550" y="361950"/>
            <a:ext cx="9210040" cy="461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软件底层架构设计</a:t>
            </a:r>
            <a:endParaRPr lang="en-US" sz="3000" noProof="1"/>
          </a:p>
        </p:txBody>
      </p:sp>
      <p:pic>
        <p:nvPicPr>
          <p:cNvPr id="41" name="footer-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9264650" y="6574790"/>
            <a:ext cx="935990" cy="170180"/>
          </a:xfrm>
          <a:prstGeom prst="rect">
            <a:avLst/>
          </a:prstGeom>
          <a:ln>
            <a:noFill/>
          </a:ln>
        </p:spPr>
      </p:pic>
      <p:sp>
        <p:nvSpPr>
          <p:cNvPr id="42" name="footer-text"/>
          <p:cNvSpPr txBox="1"/>
          <p:nvPr/>
        </p:nvSpPr>
        <p:spPr>
          <a:xfrm>
            <a:off x="10219690" y="6551930"/>
            <a:ext cx="1974850" cy="185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长沙湘计海盾科技有限公司</a:t>
            </a:r>
            <a:endParaRPr lang="en-US" sz="1200" noProof="1"/>
          </a:p>
        </p:txBody>
      </p:sp>
      <p:sp>
        <p:nvSpPr>
          <p:cNvPr id="34" name="head-line"/>
          <p:cNvSpPr/>
          <p:nvPr/>
        </p:nvSpPr>
        <p:spPr>
          <a:xfrm>
            <a:off x="711200" y="1016000"/>
            <a:ext cx="10807700" cy="12700"/>
          </a:xfrm>
          <a:custGeom>
            <a:avLst/>
            <a:gdLst/>
            <a:ahLst/>
            <a:cxnLst/>
            <a:rect l="l" t="t" r="r" b="b"/>
            <a:pathLst>
              <a:path w="851" h="1">
                <a:moveTo>
                  <a:pt x="0" y="1"/>
                </a:moveTo>
                <a:lnTo>
                  <a:pt x="851" y="1"/>
                </a:lnTo>
              </a:path>
            </a:pathLst>
          </a:custGeom>
          <a:noFill/>
          <a:ln w="12700" cap="rnd">
            <a:solidFill>
              <a:srgbClr val="333333"/>
            </a:solidFill>
            <a:round/>
          </a:ln>
        </p:spPr>
      </p:sp>
      <p:sp>
        <p:nvSpPr>
          <p:cNvPr id="35" name="node-app"/>
          <p:cNvSpPr/>
          <p:nvPr/>
        </p:nvSpPr>
        <p:spPr>
          <a:xfrm>
            <a:off x="762000" y="2857500"/>
            <a:ext cx="1905000" cy="1016000"/>
          </a:xfrm>
          <a:prstGeom prst="roundRect">
            <a:avLst>
              <a:gd name="adj" fmla="val 10000"/>
            </a:avLst>
          </a:prstGeom>
          <a:solidFill>
            <a:srgbClr val="EDEFF2"/>
          </a:solidFill>
          <a:ln w="12700">
            <a:solidFill>
              <a:srgbClr val="8C98A8"/>
            </a:solidFill>
          </a:ln>
        </p:spPr>
      </p:sp>
      <p:sp>
        <p:nvSpPr>
          <p:cNvPr id="36" name="node-app-text"/>
          <p:cNvSpPr txBox="1"/>
          <p:nvPr/>
        </p:nvSpPr>
        <p:spPr>
          <a:xfrm>
            <a:off x="762000" y="2857500"/>
            <a:ext cx="1905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二楼应用服务器</a:t>
            </a:r>
            <a:endParaRPr lang="en-US" sz="1300" noProof="1"/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lang="en-US" sz="1100" b="1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OA / PLM / ERP / LTC / NQMS / 可视化（6 台）</a:t>
            </a:r>
            <a:endParaRPr lang="en-US" sz="1300" noProof="1"/>
          </a:p>
        </p:txBody>
      </p:sp>
      <p:sp>
        <p:nvSpPr>
          <p:cNvPr id="37" name="node-storage"/>
          <p:cNvSpPr/>
          <p:nvPr/>
        </p:nvSpPr>
        <p:spPr>
          <a:xfrm>
            <a:off x="3365500" y="2857500"/>
            <a:ext cx="1905000" cy="1016000"/>
          </a:xfrm>
          <a:prstGeom prst="roundRect">
            <a:avLst>
              <a:gd name="adj" fmla="val 10000"/>
            </a:avLst>
          </a:prstGeom>
          <a:solidFill>
            <a:srgbClr val="C3050F"/>
          </a:solidFill>
          <a:ln>
            <a:noFill/>
          </a:ln>
        </p:spPr>
      </p:sp>
      <p:sp>
        <p:nvSpPr>
          <p:cNvPr id="38" name="node-storage-text"/>
          <p:cNvSpPr txBox="1"/>
          <p:nvPr/>
        </p:nvSpPr>
        <p:spPr>
          <a:xfrm>
            <a:off x="3365500" y="2857500"/>
            <a:ext cx="1905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数据存储服务器</a:t>
            </a:r>
            <a:endParaRPr lang="en-US" sz="1400" noProof="1"/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lang="en-US" sz="11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（物理 · 专用）</a:t>
            </a:r>
            <a:endParaRPr lang="en-US" sz="1400" noProof="1"/>
          </a:p>
        </p:txBody>
      </p:sp>
      <p:sp>
        <p:nvSpPr>
          <p:cNvPr id="39" name="node-backup"/>
          <p:cNvSpPr/>
          <p:nvPr/>
        </p:nvSpPr>
        <p:spPr>
          <a:xfrm>
            <a:off x="3365500" y="4508500"/>
            <a:ext cx="1905000" cy="812800"/>
          </a:xfrm>
          <a:prstGeom prst="roundRect">
            <a:avLst>
              <a:gd name="adj" fmla="val 10000"/>
            </a:avLst>
          </a:prstGeom>
          <a:solidFill>
            <a:srgbClr val="EDEFF2"/>
          </a:solidFill>
          <a:ln w="12700">
            <a:solidFill>
              <a:srgbClr val="8C98A8"/>
            </a:solidFill>
          </a:ln>
        </p:spPr>
      </p:sp>
      <p:sp>
        <p:nvSpPr>
          <p:cNvPr id="40" name="node-backup-text"/>
          <p:cNvSpPr txBox="1"/>
          <p:nvPr/>
        </p:nvSpPr>
        <p:spPr>
          <a:xfrm>
            <a:off x="3365500" y="45085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数据备份服务器</a:t>
            </a:r>
            <a:endParaRPr lang="en-US" sz="1300" noProof="1"/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lang="en-US" sz="1100" b="1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定时备份 / 异地容灾</a:t>
            </a:r>
            <a:endParaRPr lang="en-US" sz="1300" noProof="1"/>
          </a:p>
        </p:txBody>
      </p:sp>
      <p:sp>
        <p:nvSpPr>
          <p:cNvPr id="43" name="node-core"/>
          <p:cNvSpPr/>
          <p:nvPr/>
        </p:nvSpPr>
        <p:spPr>
          <a:xfrm>
            <a:off x="5969000" y="2857500"/>
            <a:ext cx="1905000" cy="1016000"/>
          </a:xfrm>
          <a:prstGeom prst="roundRect">
            <a:avLst>
              <a:gd name="adj" fmla="val 10000"/>
            </a:avLst>
          </a:prstGeom>
          <a:solidFill>
            <a:srgbClr val="E7211A"/>
          </a:solidFill>
          <a:ln>
            <a:noFill/>
          </a:ln>
        </p:spPr>
      </p:sp>
      <p:sp>
        <p:nvSpPr>
          <p:cNvPr id="44" name="node-core-text"/>
          <p:cNvSpPr txBox="1"/>
          <p:nvPr/>
        </p:nvSpPr>
        <p:spPr>
          <a:xfrm>
            <a:off x="5969000" y="2857500"/>
            <a:ext cx="1905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一楼核心交换机</a:t>
            </a:r>
            <a:endParaRPr lang="en-US" sz="1400" noProof="1"/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lang="en-US" sz="11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网络核心 / 总控</a:t>
            </a:r>
            <a:endParaRPr lang="en-US" sz="1400" noProof="1"/>
          </a:p>
        </p:txBody>
      </p:sp>
      <p:sp>
        <p:nvSpPr>
          <p:cNvPr id="45" name="node-ai"/>
          <p:cNvSpPr/>
          <p:nvPr/>
        </p:nvSpPr>
        <p:spPr>
          <a:xfrm>
            <a:off x="8572500" y="1333500"/>
            <a:ext cx="1905000" cy="812800"/>
          </a:xfrm>
          <a:prstGeom prst="roundRect">
            <a:avLst>
              <a:gd name="adj" fmla="val 10000"/>
            </a:avLst>
          </a:prstGeom>
          <a:solidFill>
            <a:srgbClr val="E7211A"/>
          </a:solidFill>
          <a:ln>
            <a:noFill/>
          </a:ln>
        </p:spPr>
      </p:sp>
      <p:sp>
        <p:nvSpPr>
          <p:cNvPr id="46" name="node-ai-text"/>
          <p:cNvSpPr txBox="1"/>
          <p:nvPr/>
        </p:nvSpPr>
        <p:spPr>
          <a:xfrm>
            <a:off x="8572500" y="13335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算力服务器</a:t>
            </a:r>
            <a:endParaRPr lang="en-US" sz="1400" noProof="1"/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lang="en-US" sz="11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新增</a:t>
            </a:r>
            <a:endParaRPr lang="en-US" sz="1400" noProof="1"/>
          </a:p>
        </p:txBody>
      </p:sp>
      <p:sp>
        <p:nvSpPr>
          <p:cNvPr id="47" name="node-mcp"/>
          <p:cNvSpPr/>
          <p:nvPr/>
        </p:nvSpPr>
        <p:spPr>
          <a:xfrm>
            <a:off x="8572500" y="2959100"/>
            <a:ext cx="1905000" cy="812800"/>
          </a:xfrm>
          <a:prstGeom prst="roundRect">
            <a:avLst>
              <a:gd name="adj" fmla="val 10000"/>
            </a:avLst>
          </a:prstGeom>
          <a:solidFill>
            <a:srgbClr val="E60012"/>
          </a:solidFill>
          <a:ln>
            <a:noFill/>
          </a:ln>
        </p:spPr>
      </p:sp>
      <p:sp>
        <p:nvSpPr>
          <p:cNvPr id="48" name="node-mcp-text"/>
          <p:cNvSpPr txBox="1"/>
          <p:nvPr/>
        </p:nvSpPr>
        <p:spPr>
          <a:xfrm>
            <a:off x="8572500" y="29591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MCP 服务</a:t>
            </a:r>
            <a:endParaRPr lang="en-US" sz="1400" noProof="1"/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lang="en-US" sz="11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异构数据库适配</a:t>
            </a:r>
            <a:endParaRPr lang="en-US" sz="1400" noProof="1"/>
          </a:p>
        </p:txBody>
      </p:sp>
      <p:sp>
        <p:nvSpPr>
          <p:cNvPr id="49" name="node-datasrv"/>
          <p:cNvSpPr/>
          <p:nvPr/>
        </p:nvSpPr>
        <p:spPr>
          <a:xfrm>
            <a:off x="8572500" y="4584700"/>
            <a:ext cx="1905000" cy="812800"/>
          </a:xfrm>
          <a:prstGeom prst="roundRect">
            <a:avLst>
              <a:gd name="adj" fmla="val 10000"/>
            </a:avLst>
          </a:prstGeom>
          <a:solidFill>
            <a:srgbClr val="E7211A"/>
          </a:solidFill>
          <a:ln>
            <a:noFill/>
          </a:ln>
        </p:spPr>
      </p:sp>
      <p:sp>
        <p:nvSpPr>
          <p:cNvPr id="50" name="node-datasrv-text"/>
          <p:cNvSpPr txBox="1"/>
          <p:nvPr/>
        </p:nvSpPr>
        <p:spPr>
          <a:xfrm>
            <a:off x="8572500" y="45847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数据服务器</a:t>
            </a:r>
            <a:endParaRPr lang="en-US" sz="1400" noProof="1"/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lang="en-US" sz="11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新增</a:t>
            </a:r>
            <a:endParaRPr lang="en-US" sz="1400" noProof="1"/>
          </a:p>
        </p:txBody>
      </p:sp>
      <p:sp>
        <p:nvSpPr>
          <p:cNvPr id="51" name="node-etl"/>
          <p:cNvSpPr/>
          <p:nvPr/>
        </p:nvSpPr>
        <p:spPr>
          <a:xfrm>
            <a:off x="5969000" y="4584700"/>
            <a:ext cx="1905000" cy="812800"/>
          </a:xfrm>
          <a:prstGeom prst="roundRect">
            <a:avLst>
              <a:gd name="adj" fmla="val 10000"/>
            </a:avLst>
          </a:prstGeom>
          <a:solidFill>
            <a:srgbClr val="C9A869"/>
          </a:solidFill>
          <a:ln>
            <a:noFill/>
          </a:ln>
        </p:spPr>
      </p:sp>
      <p:sp>
        <p:nvSpPr>
          <p:cNvPr id="52" name="node-etl-text"/>
          <p:cNvSpPr txBox="1"/>
          <p:nvPr/>
        </p:nvSpPr>
        <p:spPr>
          <a:xfrm>
            <a:off x="5969000" y="45847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ETL 数据加工</a:t>
            </a:r>
            <a:endParaRPr lang="en-US" sz="1400" noProof="1"/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lang="en-US" sz="11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虚线旁路接入</a:t>
            </a:r>
            <a:endParaRPr lang="en-US" sz="1400" noProof="1"/>
          </a:p>
        </p:txBody>
      </p:sp>
      <p:sp>
        <p:nvSpPr>
          <p:cNvPr id="53" name="node-portal"/>
          <p:cNvSpPr/>
          <p:nvPr/>
        </p:nvSpPr>
        <p:spPr>
          <a:xfrm>
            <a:off x="11176000" y="2959100"/>
            <a:ext cx="762000" cy="812800"/>
          </a:xfrm>
          <a:prstGeom prst="roundRect">
            <a:avLst>
              <a:gd name="adj" fmla="val 10000"/>
            </a:avLst>
          </a:prstGeom>
          <a:solidFill>
            <a:srgbClr val="F83529"/>
          </a:solidFill>
          <a:ln>
            <a:noFill/>
          </a:ln>
        </p:spPr>
      </p:sp>
      <p:sp>
        <p:nvSpPr>
          <p:cNvPr id="54" name="node-portal-text"/>
          <p:cNvSpPr txBox="1"/>
          <p:nvPr/>
        </p:nvSpPr>
        <p:spPr>
          <a:xfrm>
            <a:off x="11099800" y="2959100"/>
            <a:ext cx="9144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2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统一门户</a:t>
            </a:r>
            <a:endParaRPr lang="en-US" sz="1200" noProof="1"/>
          </a:p>
          <a:p>
            <a:pPr algn="ctr">
              <a:lnSpc>
                <a:spcPct val="125000"/>
              </a:lnSpc>
              <a:spcBef>
                <a:spcPts val="300"/>
              </a:spcBef>
            </a:pPr>
            <a:r>
              <a:rPr lang="en-US" sz="10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全员用户</a:t>
            </a:r>
            <a:endParaRPr lang="en-US" sz="1200" noProof="1"/>
          </a:p>
        </p:txBody>
      </p:sp>
      <p:sp>
        <p:nvSpPr>
          <p:cNvPr id="55" name="arrow-app-storage"/>
          <p:cNvSpPr/>
          <p:nvPr/>
        </p:nvSpPr>
        <p:spPr>
          <a:xfrm>
            <a:off x="2667000" y="3359150"/>
            <a:ext cx="698500" cy="12700"/>
          </a:xfrm>
          <a:custGeom>
            <a:avLst/>
            <a:gdLst/>
            <a:ahLst/>
            <a:cxnLst/>
            <a:rect l="l" t="t" r="r" b="b"/>
            <a:pathLst>
              <a:path w="55" h="1">
                <a:moveTo>
                  <a:pt x="0" y="1"/>
                </a:moveTo>
                <a:lnTo>
                  <a:pt x="55" y="1"/>
                </a:lnTo>
              </a:path>
            </a:pathLst>
          </a:custGeom>
          <a:noFill/>
          <a:ln w="25400" cap="rnd">
            <a:solidFill>
              <a:srgbClr val="8C98A8"/>
            </a:solidFill>
            <a:round/>
            <a:tailEnd type="arrow"/>
          </a:ln>
        </p:spPr>
      </p:sp>
      <p:sp>
        <p:nvSpPr>
          <p:cNvPr id="56" name="label-app-storage"/>
          <p:cNvSpPr txBox="1"/>
          <p:nvPr/>
        </p:nvSpPr>
        <p:spPr>
          <a:xfrm>
            <a:off x="2489200" y="3048000"/>
            <a:ext cx="1066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业务数据写入</a:t>
            </a:r>
            <a:endParaRPr lang="en-US" sz="1000" noProof="1"/>
          </a:p>
        </p:txBody>
      </p:sp>
      <p:sp>
        <p:nvSpPr>
          <p:cNvPr id="57" name="arrow-storage-backup"/>
          <p:cNvSpPr/>
          <p:nvPr/>
        </p:nvSpPr>
        <p:spPr>
          <a:xfrm>
            <a:off x="4311650" y="3873500"/>
            <a:ext cx="12700" cy="635000"/>
          </a:xfrm>
          <a:custGeom>
            <a:avLst/>
            <a:gdLst/>
            <a:ahLst/>
            <a:cxnLst/>
            <a:rect l="l" t="t" r="r" b="b"/>
            <a:pathLst>
              <a:path w="1" h="50">
                <a:moveTo>
                  <a:pt x="1" y="0"/>
                </a:moveTo>
                <a:lnTo>
                  <a:pt x="1" y="50"/>
                </a:lnTo>
              </a:path>
            </a:pathLst>
          </a:custGeom>
          <a:noFill/>
          <a:ln w="25400" cap="rnd">
            <a:solidFill>
              <a:srgbClr val="8C98A8"/>
            </a:solidFill>
            <a:round/>
            <a:tailEnd type="arrow"/>
          </a:ln>
        </p:spPr>
      </p:sp>
      <p:sp>
        <p:nvSpPr>
          <p:cNvPr id="58" name="label-storage-backup"/>
          <p:cNvSpPr txBox="1"/>
          <p:nvPr/>
        </p:nvSpPr>
        <p:spPr>
          <a:xfrm>
            <a:off x="4470400" y="40386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定时备份 / 异地容灾</a:t>
            </a:r>
            <a:endParaRPr lang="en-US" sz="1000" noProof="1"/>
          </a:p>
        </p:txBody>
      </p:sp>
      <p:sp>
        <p:nvSpPr>
          <p:cNvPr id="59" name="arrow-storage-core"/>
          <p:cNvSpPr/>
          <p:nvPr/>
        </p:nvSpPr>
        <p:spPr>
          <a:xfrm>
            <a:off x="5270500" y="3359150"/>
            <a:ext cx="698500" cy="12700"/>
          </a:xfrm>
          <a:custGeom>
            <a:avLst/>
            <a:gdLst/>
            <a:ahLst/>
            <a:cxnLst/>
            <a:rect l="l" t="t" r="r" b="b"/>
            <a:pathLst>
              <a:path w="55" h="1">
                <a:moveTo>
                  <a:pt x="0" y="1"/>
                </a:moveTo>
                <a:lnTo>
                  <a:pt x="55" y="1"/>
                </a:lnTo>
              </a:path>
            </a:pathLst>
          </a:custGeom>
          <a:noFill/>
          <a:ln w="25400" cap="rnd">
            <a:solidFill>
              <a:srgbClr val="E7211A"/>
            </a:solidFill>
            <a:round/>
            <a:tailEnd type="arrow"/>
          </a:ln>
        </p:spPr>
      </p:sp>
      <p:sp>
        <p:nvSpPr>
          <p:cNvPr id="60" name="label-storage-core"/>
          <p:cNvSpPr txBox="1"/>
          <p:nvPr/>
        </p:nvSpPr>
        <p:spPr>
          <a:xfrm>
            <a:off x="5054600" y="30480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C3050F"/>
                </a:solidFill>
                <a:latin typeface="微软雅黑" panose="020B0503020204020204" charset="-122"/>
                <a:ea typeface="微软雅黑" panose="020B0503020204020204" charset="-122"/>
              </a:rPr>
              <a:t>新增核心光纤</a:t>
            </a:r>
            <a:endParaRPr lang="en-US" sz="1000" noProof="1"/>
          </a:p>
        </p:txBody>
      </p:sp>
      <p:sp>
        <p:nvSpPr>
          <p:cNvPr id="61" name="arrow-core-ai"/>
          <p:cNvSpPr/>
          <p:nvPr/>
        </p:nvSpPr>
        <p:spPr>
          <a:xfrm>
            <a:off x="7302500" y="2146300"/>
            <a:ext cx="1270000" cy="711200"/>
          </a:xfrm>
          <a:custGeom>
            <a:avLst/>
            <a:gdLst/>
            <a:ahLst/>
            <a:cxnLst/>
            <a:rect l="l" t="t" r="r" b="b"/>
            <a:pathLst>
              <a:path w="100" h="56">
                <a:moveTo>
                  <a:pt x="0" y="56"/>
                </a:moveTo>
                <a:lnTo>
                  <a:pt x="100" y="0"/>
                </a:lnTo>
              </a:path>
            </a:pathLst>
          </a:custGeom>
          <a:noFill/>
          <a:ln w="25400" cap="rnd">
            <a:solidFill>
              <a:srgbClr val="E7211A"/>
            </a:solidFill>
            <a:round/>
            <a:tailEnd type="arrow"/>
          </a:ln>
        </p:spPr>
      </p:sp>
      <p:sp>
        <p:nvSpPr>
          <p:cNvPr id="62" name="arrow-ai-mcp"/>
          <p:cNvSpPr/>
          <p:nvPr/>
        </p:nvSpPr>
        <p:spPr>
          <a:xfrm>
            <a:off x="9518650" y="2146300"/>
            <a:ext cx="12700" cy="812800"/>
          </a:xfrm>
          <a:custGeom>
            <a:avLst/>
            <a:gdLst/>
            <a:ahLst/>
            <a:cxnLst/>
            <a:rect l="l" t="t" r="r" b="b"/>
            <a:pathLst>
              <a:path w="1" h="64">
                <a:moveTo>
                  <a:pt x="1" y="0"/>
                </a:moveTo>
                <a:lnTo>
                  <a:pt x="1" y="64"/>
                </a:lnTo>
              </a:path>
            </a:pathLst>
          </a:custGeom>
          <a:noFill/>
          <a:ln w="25400" cap="rnd">
            <a:solidFill>
              <a:srgbClr val="E7211A"/>
            </a:solidFill>
            <a:round/>
            <a:tailEnd type="arrow"/>
          </a:ln>
        </p:spPr>
      </p:sp>
      <p:sp>
        <p:nvSpPr>
          <p:cNvPr id="63" name="arrow-mcp-datasrv"/>
          <p:cNvSpPr/>
          <p:nvPr/>
        </p:nvSpPr>
        <p:spPr>
          <a:xfrm>
            <a:off x="9518650" y="3771900"/>
            <a:ext cx="12700" cy="812800"/>
          </a:xfrm>
          <a:custGeom>
            <a:avLst/>
            <a:gdLst/>
            <a:ahLst/>
            <a:cxnLst/>
            <a:rect l="l" t="t" r="r" b="b"/>
            <a:pathLst>
              <a:path w="1" h="64">
                <a:moveTo>
                  <a:pt x="1" y="0"/>
                </a:moveTo>
                <a:lnTo>
                  <a:pt x="1" y="64"/>
                </a:lnTo>
              </a:path>
            </a:pathLst>
          </a:custGeom>
          <a:noFill/>
          <a:ln w="25400" cap="rnd">
            <a:solidFill>
              <a:srgbClr val="E7211A"/>
            </a:solidFill>
            <a:round/>
            <a:tailEnd type="arrow"/>
          </a:ln>
        </p:spPr>
      </p:sp>
      <p:sp>
        <p:nvSpPr>
          <p:cNvPr id="64" name="arrow-mcp-portal"/>
          <p:cNvSpPr/>
          <p:nvPr/>
        </p:nvSpPr>
        <p:spPr>
          <a:xfrm>
            <a:off x="10477500" y="3359150"/>
            <a:ext cx="698500" cy="12700"/>
          </a:xfrm>
          <a:custGeom>
            <a:avLst/>
            <a:gdLst/>
            <a:ahLst/>
            <a:cxnLst/>
            <a:rect l="l" t="t" r="r" b="b"/>
            <a:pathLst>
              <a:path w="55" h="1">
                <a:moveTo>
                  <a:pt x="0" y="1"/>
                </a:moveTo>
                <a:lnTo>
                  <a:pt x="55" y="1"/>
                </a:lnTo>
              </a:path>
            </a:pathLst>
          </a:custGeom>
          <a:noFill/>
          <a:ln w="25400" cap="rnd">
            <a:solidFill>
              <a:srgbClr val="F83529"/>
            </a:solidFill>
            <a:round/>
            <a:tailEnd type="arrow"/>
          </a:ln>
        </p:spPr>
      </p:sp>
      <p:sp>
        <p:nvSpPr>
          <p:cNvPr id="65" name="arrow-etl-datasrv"/>
          <p:cNvSpPr/>
          <p:nvPr/>
        </p:nvSpPr>
        <p:spPr>
          <a:xfrm>
            <a:off x="7874000" y="4991100"/>
            <a:ext cx="698500" cy="12700"/>
          </a:xfrm>
          <a:custGeom>
            <a:avLst/>
            <a:gdLst/>
            <a:ahLst/>
            <a:cxnLst/>
            <a:rect l="l" t="t" r="r" b="b"/>
            <a:pathLst>
              <a:path w="55" h="1">
                <a:moveTo>
                  <a:pt x="0" y="1"/>
                </a:moveTo>
                <a:lnTo>
                  <a:pt x="55" y="1"/>
                </a:lnTo>
              </a:path>
            </a:pathLst>
          </a:custGeom>
          <a:noFill/>
          <a:ln w="25400" cap="rnd">
            <a:solidFill>
              <a:srgbClr val="C9A869"/>
            </a:solidFill>
            <a:prstDash val="dash"/>
            <a:round/>
            <a:tailEnd type="arrow"/>
          </a:ln>
        </p:spPr>
      </p:sp>
      <p:sp>
        <p:nvSpPr>
          <p:cNvPr id="66" name="arrow-etl-ai"/>
          <p:cNvSpPr/>
          <p:nvPr/>
        </p:nvSpPr>
        <p:spPr>
          <a:xfrm>
            <a:off x="7874000" y="1739900"/>
            <a:ext cx="952500" cy="3251200"/>
          </a:xfrm>
          <a:custGeom>
            <a:avLst/>
            <a:gdLst/>
            <a:ahLst/>
            <a:cxnLst/>
            <a:rect l="l" t="t" r="r" b="b"/>
            <a:pathLst>
              <a:path w="75" h="256">
                <a:moveTo>
                  <a:pt x="0" y="256"/>
                </a:moveTo>
                <a:lnTo>
                  <a:pt x="35" y="256"/>
                </a:lnTo>
                <a:lnTo>
                  <a:pt x="35" y="0"/>
                </a:lnTo>
                <a:lnTo>
                  <a:pt x="75" y="0"/>
                </a:lnTo>
              </a:path>
            </a:pathLst>
          </a:custGeom>
          <a:noFill/>
          <a:ln w="25400">
            <a:solidFill>
              <a:srgbClr val="C9A869"/>
            </a:solidFill>
            <a:prstDash val="dash"/>
            <a:tailEnd type="arrow"/>
          </a:ln>
        </p:spPr>
      </p:sp>
      <p:sp>
        <p:nvSpPr>
          <p:cNvPr id="67" name="area-1f"/>
          <p:cNvSpPr/>
          <p:nvPr/>
        </p:nvSpPr>
        <p:spPr>
          <a:xfrm>
            <a:off x="5778500" y="1219200"/>
            <a:ext cx="6350000" cy="4318000"/>
          </a:xfrm>
          <a:prstGeom prst="rect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68" name="area-1f-label"/>
          <p:cNvSpPr txBox="1"/>
          <p:nvPr/>
        </p:nvSpPr>
        <p:spPr>
          <a:xfrm>
            <a:off x="5867400" y="12700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999999"/>
                </a:solidFill>
                <a:latin typeface="微软雅黑" panose="020B0503020204020204" charset="-122"/>
                <a:ea typeface="微软雅黑" panose="020B0503020204020204" charset="-122"/>
              </a:rPr>
              <a:t>一楼机房 · 总控中心</a:t>
            </a:r>
            <a:endParaRPr lang="en-US" sz="1000" noProof="1"/>
          </a:p>
        </p:txBody>
      </p:sp>
      <p:sp>
        <p:nvSpPr>
          <p:cNvPr id="69" name="area-2f"/>
          <p:cNvSpPr/>
          <p:nvPr/>
        </p:nvSpPr>
        <p:spPr>
          <a:xfrm>
            <a:off x="609600" y="2743200"/>
            <a:ext cx="4749800" cy="2692400"/>
          </a:xfrm>
          <a:prstGeom prst="rect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70" name="area-2f-label"/>
          <p:cNvSpPr txBox="1"/>
          <p:nvPr/>
        </p:nvSpPr>
        <p:spPr>
          <a:xfrm>
            <a:off x="698500" y="27940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999999"/>
                </a:solidFill>
                <a:latin typeface="微软雅黑" panose="020B0503020204020204" charset="-122"/>
                <a:ea typeface="微软雅黑" panose="020B0503020204020204" charset="-122"/>
              </a:rPr>
              <a:t>二楼机房 · 业务系统物理服务器区</a:t>
            </a:r>
            <a:endParaRPr lang="en-US" sz="1000" noProof="1"/>
          </a:p>
        </p:txBody>
      </p:sp>
      <p:sp>
        <p:nvSpPr>
          <p:cNvPr id="71" name="mes-note"/>
          <p:cNvSpPr txBox="1"/>
          <p:nvPr/>
        </p:nvSpPr>
        <p:spPr>
          <a:xfrm>
            <a:off x="762000" y="57404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200" b="1" noProof="1">
                <a:solidFill>
                  <a:srgbClr val="C3050F"/>
                </a:solidFill>
                <a:latin typeface="微软雅黑" panose="020B0503020204020204" charset="-122"/>
                <a:ea typeface="微软雅黑" panose="020B0503020204020204" charset="-122"/>
              </a:rPr>
              <a:t>⚠ MES 物理隔离：</a:t>
            </a:r>
            <a:r>
              <a:rPr lang="en-US" sz="1200" noProof="1">
                <a:solidFill>
                  <a:srgbClr val="C3050F"/>
                </a:solidFill>
                <a:latin typeface="微软雅黑" panose="020B0503020204020204" charset="-122"/>
                <a:ea typeface="微软雅黑" panose="020B0503020204020204" charset="-122"/>
              </a:rPr>
              <a:t>MES 系统与主网络完全断开（红色虚线边界），唯一数据出口为 U盘 / 中转机，由业务部门手动导入导出（离线中转），不接入 MCP。</a:t>
            </a:r>
            <a:endParaRPr lang="en-US" sz="120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2"/>
          <a:stretch>
            <a:fillRect/>
          </a:stretch>
        </p:blipFill>
        <p:spPr>
          <a:xfrm>
            <a:off x="1270" y="7620"/>
            <a:ext cx="12192000" cy="685673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9626600" y="-284480"/>
            <a:ext cx="2668270" cy="1647190"/>
          </a:xfrm>
          <a:prstGeom prst="rect">
            <a:avLst/>
          </a:prstGeom>
          <a:ln>
            <a:noFill/>
          </a:ln>
        </p:spPr>
      </p:pic>
      <p:sp>
        <p:nvSpPr>
          <p:cNvPr id="4" name="red-square"/>
          <p:cNvSpPr/>
          <p:nvPr/>
        </p:nvSpPr>
        <p:spPr>
          <a:xfrm>
            <a:off x="-3810" y="632460"/>
            <a:ext cx="403860" cy="276860"/>
          </a:xfrm>
          <a:prstGeom prst="rect">
            <a:avLst/>
          </a:prstGeom>
          <a:solidFill>
            <a:srgbClr val="E50011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717550" y="361950"/>
            <a:ext cx="9210040" cy="461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E50011"/>
                </a:solidFill>
                <a:latin typeface="微软雅黑" panose="020B0503020204020204" charset="-122"/>
                <a:ea typeface="微软雅黑" panose="020B0503020204020204" charset="-122"/>
              </a:rPr>
              <a:t>软件底层架构设计</a:t>
            </a:r>
            <a:endParaRPr lang="en-US" sz="3000" noProof="1"/>
          </a:p>
        </p:txBody>
      </p:sp>
      <p:pic>
        <p:nvPicPr>
          <p:cNvPr id="41" name="footer-logo"/>
          <p:cNvPicPr/>
          <p:nvPr/>
        </p:nvPicPr>
        <p:blipFill>
          <a:blip r:embed="rId4"/>
          <a:stretch>
            <a:fillRect/>
          </a:stretch>
        </p:blipFill>
        <p:spPr>
          <a:xfrm>
            <a:off x="9264650" y="6574790"/>
            <a:ext cx="935990" cy="170180"/>
          </a:xfrm>
          <a:prstGeom prst="rect">
            <a:avLst/>
          </a:prstGeom>
          <a:ln>
            <a:noFill/>
          </a:ln>
        </p:spPr>
      </p:pic>
      <p:sp>
        <p:nvSpPr>
          <p:cNvPr id="42" name="footer-text"/>
          <p:cNvSpPr txBox="1"/>
          <p:nvPr/>
        </p:nvSpPr>
        <p:spPr>
          <a:xfrm>
            <a:off x="10219690" y="6551930"/>
            <a:ext cx="1974850" cy="185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长沙湘计海盾科技有限公司</a:t>
            </a:r>
            <a:endParaRPr lang="en-US" sz="1200" noProof="1"/>
          </a:p>
        </p:txBody>
      </p:sp>
      <p:sp>
        <p:nvSpPr>
          <p:cNvPr id="34" name="head-line"/>
          <p:cNvSpPr/>
          <p:nvPr/>
        </p:nvSpPr>
        <p:spPr>
          <a:xfrm>
            <a:off x="711200" y="1016000"/>
            <a:ext cx="10807700" cy="12700"/>
          </a:xfrm>
          <a:custGeom>
            <a:avLst/>
            <a:gdLst/>
            <a:ahLst/>
            <a:cxnLst/>
            <a:rect l="l" t="t" r="r" b="b"/>
            <a:pathLst>
              <a:path w="851" h="1">
                <a:moveTo>
                  <a:pt x="0" y="1"/>
                </a:moveTo>
                <a:lnTo>
                  <a:pt x="851" y="1"/>
                </a:lnTo>
              </a:path>
            </a:pathLst>
          </a:custGeom>
          <a:noFill/>
          <a:ln w="12700" cap="rnd">
            <a:solidFill>
              <a:srgbClr val="333333"/>
            </a:solidFill>
            <a:round/>
          </a:ln>
        </p:spPr>
      </p:sp>
      <p:graphicFrame>
        <p:nvGraphicFramePr>
          <p:cNvPr id="5" name="sys-table"/>
          <p:cNvGraphicFramePr>
            <a:graphicFrameLocks noGrp="1"/>
          </p:cNvGraphicFramePr>
          <p:nvPr/>
        </p:nvGraphicFramePr>
        <p:xfrm>
          <a:off x="635000" y="1320800"/>
          <a:ext cx="6350000" cy="4191000"/>
        </p:xfrm>
        <a:graphic>
          <a:graphicData uri="http://schemas.openxmlformats.org/drawingml/2006/table">
            <a:tbl>
              <a:tblPr/>
              <a:tblGrid>
                <a:gridCol w="889000"/>
                <a:gridCol w="1905000"/>
                <a:gridCol w="1905000"/>
                <a:gridCol w="1651000"/>
              </a:tblGrid>
              <a:tr h="523875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400" b="1" noProof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en-US" sz="1400" b="1" noProof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gradFill rotWithShape="1"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400" b="1" noProof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系统</a:t>
                      </a:r>
                      <a:endParaRPr lang="en-US" sz="1400" b="1" noProof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gradFill rotWithShape="1"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400" b="1" noProof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数据库类型</a:t>
                      </a:r>
                      <a:endParaRPr lang="en-US" sz="1400" b="1" noProof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gradFill rotWithShape="1"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400" b="1" noProof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接入方式</a:t>
                      </a:r>
                      <a:endParaRPr lang="en-US" sz="1400" b="1" noProof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gradFill rotWithShape="1"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0" scaled="1"/>
                    </a:gradFill>
                  </a:tcPr>
                </a:tc>
              </a:tr>
              <a:tr h="523875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OA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Oracle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MCP 数据库接入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3875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PLM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Oracle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MCP 数据库接入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3875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ERP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SQL Server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MCP 数据库接入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3875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LTC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达梦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MCP 数据库接入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3875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NQMS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达梦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MCP 数据库接入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3875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可视化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MySQL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MCP 数据库接入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3875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MES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物理隔离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手动导入导出</a:t>
                      </a:r>
                      <a:endParaRPr lang="en-US" sz="1300" noProof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pie-title"/>
          <p:cNvSpPr txBox="1"/>
          <p:nvPr/>
        </p:nvSpPr>
        <p:spPr>
          <a:xfrm>
            <a:off x="7493000" y="1270000"/>
            <a:ext cx="393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E7211A"/>
                </a:solidFill>
                <a:latin typeface="微软雅黑" panose="020B0503020204020204" charset="-122"/>
                <a:ea typeface="微软雅黑" panose="020B0503020204020204" charset="-122"/>
              </a:rPr>
              <a:t>数据库分布统计（按系统数）</a:t>
            </a:r>
            <a:endParaRPr lang="en-US" sz="1500" noProof="1"/>
          </a:p>
        </p:txBody>
      </p:sp>
      <p:graphicFrame>
        <p:nvGraphicFramePr>
          <p:cNvPr id="8" name="db-pie"/>
          <p:cNvGraphicFramePr/>
          <p:nvPr/>
        </p:nvGraphicFramePr>
        <p:xfrm>
          <a:off x="7366000" y="1625600"/>
          <a:ext cx="419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dm-note"/>
          <p:cNvSpPr/>
          <p:nvPr/>
        </p:nvSpPr>
        <p:spPr>
          <a:xfrm>
            <a:off x="7366000" y="4978400"/>
            <a:ext cx="4191000" cy="116840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>
            <a:noFill/>
          </a:ln>
        </p:spPr>
      </p:sp>
      <p:sp>
        <p:nvSpPr>
          <p:cNvPr id="10" name="dm-note-text"/>
          <p:cNvSpPr txBox="1"/>
          <p:nvPr/>
        </p:nvSpPr>
        <p:spPr>
          <a:xfrm>
            <a:off x="7569200" y="5080000"/>
            <a:ext cx="37846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250" b="1" noProof="1">
                <a:solidFill>
                  <a:srgbClr val="C3050F"/>
                </a:solidFill>
                <a:latin typeface="微软雅黑" panose="020B0503020204020204" charset="-122"/>
                <a:ea typeface="微软雅黑" panose="020B0503020204020204" charset="-122"/>
              </a:rPr>
              <a:t>达梦数据库</a:t>
            </a:r>
            <a:r>
              <a:rPr lang="en-US" sz="1250" noProof="1">
                <a:solidFill>
                  <a:srgbClr val="C3050F"/>
                </a:solidFill>
                <a:latin typeface="微软雅黑" panose="020B0503020204020204" charset="-122"/>
                <a:ea typeface="微软雅黑" panose="020B0503020204020204" charset="-122"/>
              </a:rPr>
              <a:t>承载 </a:t>
            </a:r>
            <a:r>
              <a:rPr lang="en-US" sz="1250" b="1" noProof="1">
                <a:solidFill>
                  <a:srgbClr val="C3050F"/>
                </a:solidFill>
                <a:latin typeface="微软雅黑" panose="020B0503020204020204" charset="-122"/>
                <a:ea typeface="微软雅黑" panose="020B0503020204020204" charset="-122"/>
              </a:rPr>
              <a:t>2 个系统</a:t>
            </a:r>
            <a:r>
              <a:rPr lang="en-US" sz="1250" noProof="1">
                <a:solidFill>
                  <a:srgbClr val="C3050F"/>
                </a:solidFill>
                <a:latin typeface="微软雅黑" panose="020B0503020204020204" charset="-122"/>
                <a:ea typeface="微软雅黑" panose="020B0503020204020204" charset="-122"/>
              </a:rPr>
              <a:t>（LTC、NQMS），是公司信息系统国产化（信创）的主要承载，后续 MCP 适配达梦时建议作为重点考虑。</a:t>
            </a:r>
            <a:endParaRPr lang="en-US" sz="125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10" y="-12065"/>
            <a:ext cx="12211050" cy="68719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5875" y="1515110"/>
            <a:ext cx="12181840" cy="16312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0000" dirty="0" smtClean="0">
                <a:solidFill>
                  <a:schemeClr val="bg1"/>
                </a:solidFill>
                <a:latin typeface="思源黑体" panose="020B0600000000000000" charset="-122"/>
                <a:ea typeface="思源黑体" panose="020B0600000000000000" charset="-122"/>
              </a:rPr>
              <a:t>请领导讲话！</a:t>
            </a:r>
            <a:endParaRPr lang="zh-CN" altLang="en-US" sz="10000" dirty="0">
              <a:solidFill>
                <a:schemeClr val="bg1"/>
              </a:solidFill>
              <a:latin typeface="思源黑体" panose="020B0600000000000000" charset="-122"/>
              <a:ea typeface="思源黑体" panose="020B0600000000000000" charset="-122"/>
            </a:endParaRPr>
          </a:p>
        </p:txBody>
      </p:sp>
      <p:pic>
        <p:nvPicPr>
          <p:cNvPr id="3" name="图片 2" descr="联合标识（反白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040" y="5715"/>
            <a:ext cx="1941830" cy="10217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083213" y="4087555"/>
            <a:ext cx="2219108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dist">
              <a:buNone/>
            </a:pPr>
            <a:r>
              <a:rPr kumimoji="1" lang="en-US" altLang="zh-CN" sz="32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kumimoji="1" lang="zh-CN" altLang="en-US" sz="32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kumimoji="1" lang="en-US" altLang="zh-CN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kumimoji="1"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endParaRPr kumimoji="1" lang="zh-CN" altLang="en-US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3*l_h_i*1_1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229.24964566929128,&quot;left&quot;:287.9,&quot;top&quot;:160.7503543307087,&quot;width&quot;:389.5}"/>
</p:tagLst>
</file>

<file path=ppt/tags/tag3.xml><?xml version="1.0" encoding="utf-8"?>
<p:tagLst xmlns:p="http://schemas.openxmlformats.org/presentationml/2006/main">
  <p:tag name="KSO_WM_BEAUTIFY_FLAG" val="#wm#"/>
  <p:tag name="KSO_WM_UNIT_TYPE" val="l_h_i"/>
  <p:tag name="KSO_WM_UNIT_INDEX" val="1_1_2"/>
  <p:tag name="KSO_WM_UNIT_ID" val="diagram19882022_3*l_h_i*1_1_2"/>
  <p:tag name="KSO_WM_TEMPLATE_INDEX" val="19882022"/>
  <p:tag name="KSO_WM_TAG_VERSION" val="2.0"/>
  <p:tag name="KSO_WM_DIAGRAM_GROUP_CODE" val="l1-1"/>
  <p:tag name="KSO_WM_DIAGRAM_VIRTUALLY_FRAME" val="{&quot;height&quot;:229.24964566929128,&quot;left&quot;:287.9,&quot;top&quot;:160.7503543307087,&quot;width&quot;:389.5}"/>
</p:tagLst>
</file>

<file path=ppt/tags/tag4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3*l_h_f*1_1_1"/>
  <p:tag name="KSO_WM_TEMPLATE_INDEX" val="19882022"/>
  <p:tag name="KSO_WM_TAG_VERSION" val="2.0"/>
  <p:tag name="KSO_WM_DIAGRAM_GROUP_CODE" val="l1-1"/>
  <p:tag name="KSO_WM_DIAGRAM_VIRTUALLY_FRAME" val="{&quot;height&quot;:229.24964566929128,&quot;left&quot;:287.9,&quot;top&quot;:160.7503543307087,&quot;width&quot;:389.5}"/>
</p:tagLst>
</file>

<file path=ppt/tags/tag5.xml><?xml version="1.0" encoding="utf-8"?>
<p:tagLst xmlns:p="http://schemas.openxmlformats.org/presentationml/2006/main">
  <p:tag name="KSO_WM_DIAGRAM_VIRTUALLY_FRAME" val="{&quot;height&quot;:229.24964566929128,&quot;left&quot;:287.9,&quot;top&quot;:160.7503543307087,&quot;width&quot;:389.5}"/>
</p:tagLst>
</file>

<file path=ppt/tags/tag6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3*l_h_i*1_2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229.24964566929128,&quot;left&quot;:287.9,&quot;top&quot;:160.7503543307087,&quot;width&quot;:389.5}"/>
</p:tagLst>
</file>

<file path=ppt/tags/tag7.xml><?xml version="1.0" encoding="utf-8"?>
<p:tagLst xmlns:p="http://schemas.openxmlformats.org/presentationml/2006/main">
  <p:tag name="KSO_WM_BEAUTIFY_FLAG" val="#wm#"/>
  <p:tag name="KSO_WM_UNIT_TYPE" val="l_h_i"/>
  <p:tag name="KSO_WM_UNIT_INDEX" val="1_2_2"/>
  <p:tag name="KSO_WM_UNIT_ID" val="diagram19882022_3*l_h_i*1_2_2"/>
  <p:tag name="KSO_WM_TEMPLATE_INDEX" val="19882022"/>
  <p:tag name="KSO_WM_TAG_VERSION" val="2.0"/>
  <p:tag name="KSO_WM_DIAGRAM_GROUP_CODE" val="l1-1"/>
  <p:tag name="KSO_WM_DIAGRAM_VIRTUALLY_FRAME" val="{&quot;height&quot;:229.24964566929128,&quot;left&quot;:287.9,&quot;top&quot;:160.7503543307087,&quot;width&quot;:389.5}"/>
</p:tagLst>
</file>

<file path=ppt/tags/tag8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3*l_h_f*1_2_1"/>
  <p:tag name="KSO_WM_TEMPLATE_INDEX" val="19882022"/>
  <p:tag name="KSO_WM_TAG_VERSION" val="2.0"/>
  <p:tag name="KSO_WM_DIAGRAM_GROUP_CODE" val="l1-1"/>
  <p:tag name="KSO_WM_DIAGRAM_VIRTUALLY_FRAME" val="{&quot;height&quot;:229.24964566929128,&quot;left&quot;:287.9,&quot;top&quot;:160.7503543307087,&quot;width&quot;:389.5}"/>
</p:tagLst>
</file>

<file path=ppt/tags/tag9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3*l_h_i*1_3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229.24964566929128,&quot;left&quot;:287.9,&quot;top&quot;:160.7503543307087,&quot;width&quot;:389.5}"/>
</p:tagLst>
</file>

<file path=ppt/tags/tag10.xml><?xml version="1.0" encoding="utf-8"?>
<p:tagLst xmlns:p="http://schemas.openxmlformats.org/presentationml/2006/main">
  <p:tag name="KSO_WM_BEAUTIFY_FLAG" val="#wm#"/>
  <p:tag name="KSO_WM_UNIT_TYPE" val="l_h_i"/>
  <p:tag name="KSO_WM_UNIT_INDEX" val="1_3_2"/>
  <p:tag name="KSO_WM_UNIT_ID" val="diagram19882022_3*l_h_i*1_3_2"/>
  <p:tag name="KSO_WM_TEMPLATE_INDEX" val="19882022"/>
  <p:tag name="KSO_WM_TAG_VERSION" val="2.0"/>
  <p:tag name="KSO_WM_DIAGRAM_GROUP_CODE" val="l1-1"/>
  <p:tag name="KSO_WM_DIAGRAM_VIRTUALLY_FRAME" val="{&quot;height&quot;:229.24964566929128,&quot;left&quot;:287.9,&quot;top&quot;:160.7503543307087,&quot;width&quot;:389.5}"/>
</p:tagLst>
</file>

<file path=ppt/tags/tag11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3*l_h_f*1_3_1"/>
  <p:tag name="KSO_WM_TEMPLATE_INDEX" val="19882022"/>
  <p:tag name="KSO_WM_TAG_VERSION" val="2.0"/>
  <p:tag name="KSO_WM_DIAGRAM_GROUP_CODE" val="l1-1"/>
  <p:tag name="KSO_WM_DIAGRAM_VIRTUALLY_FRAME" val="{&quot;height&quot;:229.24964566929128,&quot;left&quot;:287.9,&quot;top&quot;:160.7503543307087,&quot;width&quot;:389.5}"/>
</p:tagLst>
</file>

<file path=ppt/tags/tag12.xml><?xml version="1.0" encoding="utf-8"?>
<p:tagLst xmlns:p="http://schemas.openxmlformats.org/presentationml/2006/main">
  <p:tag name="KSO_WM_DIAGRAM_VIRTUALLY_FRAME" val="{&quot;height&quot;:229.24964566929128,&quot;left&quot;:287.9,&quot;top&quot;:160.7503543307087,&quot;width&quot;:389.5}"/>
</p:tagLst>
</file>

<file path=ppt/tags/tag13.xml><?xml version="1.0" encoding="utf-8"?>
<p:tagLst xmlns:p="http://schemas.openxmlformats.org/presentationml/2006/main">
  <p:tag name="KSO_WM_BEAUTIFY_FLAG" val="#wm#"/>
  <p:tag name="KSO_WM_UNIT_TYPE" val="l_h_i"/>
  <p:tag name="KSO_WM_UNIT_INDEX" val="1_4_1"/>
  <p:tag name="KSO_WM_UNIT_ID" val="diagram19882022_3*l_h_i*1_4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229.24964566929128,&quot;left&quot;:287.9,&quot;top&quot;:160.7503543307087,&quot;width&quot;:389.5}"/>
</p:tagLst>
</file>

<file path=ppt/tags/tag14.xml><?xml version="1.0" encoding="utf-8"?>
<p:tagLst xmlns:p="http://schemas.openxmlformats.org/presentationml/2006/main">
  <p:tag name="KSO_WM_BEAUTIFY_FLAG" val="#wm#"/>
  <p:tag name="KSO_WM_UNIT_TYPE" val="l_h_i"/>
  <p:tag name="KSO_WM_UNIT_INDEX" val="1_4_2"/>
  <p:tag name="KSO_WM_UNIT_ID" val="diagram19882022_3*l_h_i*1_4_2"/>
  <p:tag name="KSO_WM_TEMPLATE_INDEX" val="19882022"/>
  <p:tag name="KSO_WM_TAG_VERSION" val="2.0"/>
  <p:tag name="KSO_WM_DIAGRAM_GROUP_CODE" val="l1-1"/>
  <p:tag name="KSO_WM_DIAGRAM_VIRTUALLY_FRAME" val="{&quot;height&quot;:229.24964566929128,&quot;left&quot;:287.9,&quot;top&quot;:160.7503543307087,&quot;width&quot;:389.5}"/>
</p:tagLst>
</file>

<file path=ppt/tags/tag15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3*l_h_f*1_4_1"/>
  <p:tag name="KSO_WM_TEMPLATE_INDEX" val="19882022"/>
  <p:tag name="KSO_WM_TAG_VERSION" val="2.0"/>
  <p:tag name="KSO_WM_DIAGRAM_GROUP_CODE" val="l1-1"/>
  <p:tag name="KSO_WM_DIAGRAM_VIRTUALLY_FRAME" val="{&quot;height&quot;:229.24964566929128,&quot;left&quot;:287.9,&quot;top&quot;:160.7503543307087,&quot;width&quot;:389.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5427</Words>
  <Application>WPS 演示</Application>
  <PresentationFormat>宽屏</PresentationFormat>
  <Paragraphs>796</Paragraphs>
  <Slides>19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40" baseType="lpstr">
      <vt:lpstr>Arial</vt:lpstr>
      <vt:lpstr>宋体</vt:lpstr>
      <vt:lpstr>Wingdings</vt:lpstr>
      <vt:lpstr>思源黑体 CN ExtraLight</vt:lpstr>
      <vt:lpstr>黑体</vt:lpstr>
      <vt:lpstr>等线 Light</vt:lpstr>
      <vt:lpstr>MiSans</vt:lpstr>
      <vt:lpstr>MiSans</vt:lpstr>
      <vt:lpstr>思源黑体</vt:lpstr>
      <vt:lpstr>Arial Bold</vt:lpstr>
      <vt:lpstr>微软雅黑</vt:lpstr>
      <vt:lpstr>等线</vt:lpstr>
      <vt:lpstr>Calibri</vt:lpstr>
      <vt:lpstr>Arial Unicode MS</vt:lpstr>
      <vt:lpstr>KSOF4CFA6896</vt:lpstr>
      <vt:lpstr>Segoe Print</vt:lpstr>
      <vt:lpstr>思源黑体 CN ExtraLight</vt:lpstr>
      <vt:lpstr>Noto Sans SC</vt:lpstr>
      <vt:lpstr>Arial</vt:lpstr>
      <vt:lpstr>思源黑体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gw</dc:creator>
  <cp:lastModifiedBy>vita</cp:lastModifiedBy>
  <cp:revision>51</cp:revision>
  <dcterms:created xsi:type="dcterms:W3CDTF">2024-01-21T12:49:00Z</dcterms:created>
  <dcterms:modified xsi:type="dcterms:W3CDTF">2026-10-12T05:55:53Z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2052-12.1.0.28802</vt:lpwstr>
  </property>
  <property fmtid="{D5CDD505-2E9C-101B-9397-08002B2CF9AE}" pid="3" name="ICV">
    <vt:lpwstr>4A9A07E0544C4ED9AD7D4D5ACFF4D60F_13</vt:lpwstr>
  </property>
</Properties>
</file>